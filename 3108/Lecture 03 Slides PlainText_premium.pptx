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Theories in Health Promotion - The Health Belief Model and The Social Ecological Model</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Course:  </a:t>
            </a:r>
            <a:r>
              <a:rPr sz="1800" b="0">
                <a:solidFill>
                  <a:srgbClr val="373D42"/>
                </a:solidFill>
                <a:latin typeface="Segoe UI"/>
              </a:rPr>
              <a:t>Health Promotion and Disease Prevention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Lecture 3:  </a:t>
            </a:r>
            <a:r>
              <a:rPr sz="1800" b="0">
                <a:solidFill>
                  <a:srgbClr val="373D42"/>
                </a:solidFill>
                <a:latin typeface="Segoe UI"/>
              </a:rPr>
              <a:t>Theories in Health Promotion - The Health Belief Model and The Social Ecological Model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Instructor:  </a:t>
            </a:r>
            <a:r>
              <a:rPr sz="1800" b="0">
                <a:solidFill>
                  <a:srgbClr val="373D42"/>
                </a:solidFill>
                <a:latin typeface="Segoe UI"/>
              </a:rPr>
              <a:t>Prof. [Your Name]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a:t>
            </a:r>
            <a:r>
              <a:rPr sz="1800" b="0">
                <a:solidFill>
                  <a:srgbClr val="373D42"/>
                </a:solidFill>
                <a:latin typeface="Segoe UI"/>
              </a:rPr>
              <a:t>Theory without practice is sterile. Practice without theory is blind.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WELCOME AND LECTURE OBJECTIVES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Why Do We Need Theory?</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In Lectures 1 and 2, we explored the philosophy and critical sociology of health.</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Today, we transition from critique to action.</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Objectives for today:</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1. Understand what a theory is and why it is the foundation of all health promotion.</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2. Master the Health Belief Model (HBM) for individual behavior change.</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3. Master the Social Ecological Model (SEM) for multi-level systemic change.</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4. Learn how to apply, combine, and critique these theories in real-world program design.</a:t>
            </a:r>
          </a:p>
          <a:p>
            <a:pPr marL="347472" indent="-347472">
              <a:lnSpc>
                <a:spcPct val="114000"/>
              </a:lnSpc>
              <a:spcAft>
                <a:spcPts val="1014"/>
              </a:spcAft>
              <a:buNone/>
            </a:pPr>
            <a:r>
              <a:rPr sz="1750" b="0">
                <a:solidFill>
                  <a:srgbClr val="373D42"/>
                </a:solidFill>
                <a:latin typeface="Segoe UI"/>
              </a:rPr>
              <a:t>🌱  </a:t>
            </a:r>
            <a:r>
              <a:rPr sz="1750" b="1">
                <a:solidFill>
                  <a:srgbClr val="952210"/>
                </a:solidFill>
                <a:latin typeface="Segoe UI"/>
              </a:rPr>
              <a:t>Exam Focus:  </a:t>
            </a:r>
            <a:r>
              <a:rPr sz="1750" b="0">
                <a:solidFill>
                  <a:srgbClr val="373D42"/>
                </a:solidFill>
                <a:latin typeface="Segoe UI"/>
              </a:rPr>
              <a:t>You will be given a case study of a failed health intervention and asked to use HBM and SEM to diagnose why it failed and how to redesign it.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IS A THEORY?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Defining the Blueprint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theory is a systematic way of explaining behavior, events, or relationships.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consists of Concepts (abstract ideas, like "health") and Constructs (specific, measurable components, like "perceived susceptibility").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Why use theory?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1. It provides a roadmap for understanding why a health problem exists.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2. It identifies the specific targets for an intervention.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3. It helps evaluate whether the program actually worked by measuring changes in the theoretical constructs.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Never design a health program based on a "gut feeling." Always ground it in theory.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TWO CATEGORIES OF HEALTH THEORIES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4/34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Explanatory vs. Change Theories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1. Explanatory Theories (The "Why"):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Help us understand the reasons behind a health behavior or problem.</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They identify the factors that influence behavior (e.g., beliefs, social norms, environment).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a:t>
            </a:r>
            <a:r>
              <a:rPr sz="1800" b="0">
                <a:solidFill>
                  <a:srgbClr val="373D42"/>
                </a:solidFill>
                <a:latin typeface="Segoe UI"/>
              </a:rPr>
              <a:t>The Health Belief Model (HBM).</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2. Change Theories (The "How"):</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Guide the actual development and implementation of the intervention.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They outline the steps needed to create change.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a:t>
            </a:r>
            <a:r>
              <a:rPr sz="1800" b="0">
                <a:solidFill>
                  <a:srgbClr val="373D42"/>
                </a:solidFill>
                <a:latin typeface="Segoe UI"/>
              </a:rPr>
              <a:t>PRECEDE-PROCEED (which we will cover in Lecture 4).</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Note:  </a:t>
            </a:r>
            <a:r>
              <a:rPr sz="1800" b="0">
                <a:solidFill>
                  <a:srgbClr val="373D42"/>
                </a:solidFill>
                <a:latin typeface="Segoe UI"/>
              </a:rPr>
              <a:t>Today we focus heavily on Explanatory Theories to understand our target audience.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INTRODUCTION TO THE HEALTH BELIEF MODEL (HBM)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5/34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Psychology of Individual Choice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HBM is one of the oldest and most widely used theories in public health.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is a psychological model that attempts to explain and predict health behaviors.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Core Assumption:  </a:t>
            </a:r>
            <a:r>
              <a:rPr sz="1800" b="0">
                <a:solidFill>
                  <a:srgbClr val="373D42"/>
                </a:solidFill>
                <a:latin typeface="Segoe UI"/>
              </a:rPr>
              <a:t>People are rational decision-makers. They will take action to prevent or control an illness if they believe they are susceptible to a serious threat, and that the benefits of taking action outweigh the barriers.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Focus:  </a:t>
            </a:r>
            <a:r>
              <a:rPr sz="1800" b="0">
                <a:solidFill>
                  <a:srgbClr val="373D42"/>
                </a:solidFill>
                <a:latin typeface="Segoe UI"/>
              </a:rPr>
              <a:t>Strictly on the individual level (Intrapersonal).</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ORIGINS OF THE HBM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6/34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Tuberculosis Crisis of the 1950s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Developed by social psychologists Godfrey Hochbaum, Stephen Kegels, and Irwin Rosen at the U.S. Public Health Service.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Problem:  </a:t>
            </a:r>
            <a:r>
              <a:rPr sz="1800" b="0">
                <a:solidFill>
                  <a:srgbClr val="373D42"/>
                </a:solidFill>
                <a:latin typeface="Segoe UI"/>
              </a:rPr>
              <a:t>The government offered free, mobile tuberculosis (TB) screening X-rays, but the public was not showing up.</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Question:  </a:t>
            </a:r>
            <a:r>
              <a:rPr sz="1800" b="0">
                <a:solidFill>
                  <a:srgbClr val="373D42"/>
                </a:solidFill>
                <a:latin typeface="Segoe UI"/>
              </a:rPr>
              <a:t>Why do people not participate in health screenings when they are free and accessible?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Result:  </a:t>
            </a:r>
            <a:r>
              <a:rPr sz="1800" b="0">
                <a:solidFill>
                  <a:srgbClr val="373D42"/>
                </a:solidFill>
                <a:latin typeface="Segoe UI"/>
              </a:rPr>
              <a:t>They developed the HBM to explain that physical access is not enough; psychological beliefs dictate action.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HBM CONSTRUCT 1 - PERCEIVED SUSCEPTIBILITY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7/34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Do I Believe I Am at Risk?</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Definition:  </a:t>
            </a:r>
            <a:r>
              <a:rPr sz="1800" b="0">
                <a:solidFill>
                  <a:srgbClr val="373D42"/>
                </a:solidFill>
                <a:latin typeface="Segoe UI"/>
              </a:rPr>
              <a:t>A person's subjective assessment of their risk of developing a health problem.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Key Question:  </a:t>
            </a:r>
            <a:r>
              <a:rPr sz="1800" b="0">
                <a:solidFill>
                  <a:srgbClr val="373D42"/>
                </a:solidFill>
                <a:latin typeface="Segoe UI"/>
              </a:rPr>
              <a:t>"Can this happen to me?"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Application:  </a:t>
            </a:r>
            <a:r>
              <a:rPr sz="1800" b="0">
                <a:solidFill>
                  <a:srgbClr val="373D42"/>
                </a:solidFill>
                <a:latin typeface="Segoe UI"/>
              </a:rPr>
              <a:t>If a young person believes lung cancer only happens to old people, their perceived susceptibility is low, and they will ignore anti-smoking campaigns.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Intervention Strategy:  </a:t>
            </a:r>
            <a:r>
              <a:rPr sz="1800" b="0">
                <a:solidFill>
                  <a:srgbClr val="373D42"/>
                </a:solidFill>
                <a:latin typeface="Segoe UI"/>
              </a:rPr>
              <a:t>Help individuals accurately assess their personal risk based on their specific behaviors, genetics, and environment. Avoid generic scare tactics.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HBM CONSTRUCT 2 - PERCEIVED SEVERITY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8/34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Do I Believe the Consequences are Serious?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Definition:  </a:t>
            </a:r>
            <a:r>
              <a:rPr sz="1800" b="0">
                <a:solidFill>
                  <a:srgbClr val="373D42"/>
                </a:solidFill>
                <a:latin typeface="Segoe UI"/>
              </a:rPr>
              <a:t>A person's feelings about the seriousness of contracting an illness, or leaving it untreated.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Includes:  </a:t>
            </a:r>
            <a:r>
              <a:rPr sz="1800" b="0">
                <a:solidFill>
                  <a:srgbClr val="373D42"/>
                </a:solidFill>
                <a:latin typeface="Segoe UI"/>
              </a:rPr>
              <a:t>Medical consequences (pain, death, disability) and Social consequences (impact on family, job loss, financial ruin).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Key Question:  </a:t>
            </a:r>
            <a:r>
              <a:rPr sz="1800" b="0">
                <a:solidFill>
                  <a:srgbClr val="373D42"/>
                </a:solidFill>
                <a:latin typeface="Segoe UI"/>
              </a:rPr>
              <a:t>"If I get this, how bad will it be?"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Application:  </a:t>
            </a:r>
            <a:r>
              <a:rPr sz="1800" b="0">
                <a:solidFill>
                  <a:srgbClr val="373D42"/>
                </a:solidFill>
                <a:latin typeface="Segoe UI"/>
              </a:rPr>
              <a:t>A teenager might not fear the medical severity of a sexually transmitted infection, but might highly fear the social severity of peer stigma or infertility.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COMBINING CONSTRUCTS - PERCEIVED THREAT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9/34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Catalyst for Action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Perceived Threat is the combination of Perceived Susceptibility and Perceived Severity.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If either susceptibility or severity is low, the overall threat is low, and the person will not take action.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a:t>
            </a:r>
            <a:r>
              <a:rPr sz="1800" b="0">
                <a:solidFill>
                  <a:srgbClr val="373D42"/>
                </a:solidFill>
                <a:latin typeface="Segoe UI"/>
              </a:rPr>
              <a:t>The flu. Many people perceive the flu as highly susceptible (everyone gets it) but low severity (it just makes you tired for a few days). Therefore, perceived threat is low, and vaccine uptake drops.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 Focus:  </a:t>
            </a:r>
            <a:r>
              <a:rPr sz="1800" b="0">
                <a:solidFill>
                  <a:srgbClr val="373D42"/>
                </a:solidFill>
                <a:latin typeface="Segoe UI"/>
              </a:rPr>
              <a:t>To increase the perceived threat, you must increase both the perceived likelihood of the event AND the perceived seriousness of its consequences.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HBM CONSTRUCT 3 - PERCEIVED BENEFITS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10/34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Will the Action Actually Help?</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Definition:  </a:t>
            </a:r>
            <a:r>
              <a:rPr sz="1800" b="0">
                <a:solidFill>
                  <a:srgbClr val="373D42"/>
                </a:solidFill>
                <a:latin typeface="Segoe UI"/>
              </a:rPr>
              <a:t>The person's belief in the efficacy of the advised action to reduce the perceived threat.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Key Question:  </a:t>
            </a:r>
            <a:r>
              <a:rPr sz="1800" b="0">
                <a:solidFill>
                  <a:srgbClr val="373D42"/>
                </a:solidFill>
                <a:latin typeface="Segoe UI"/>
              </a:rPr>
              <a:t>"If I do what you are asking, will it actually protect me?"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Application:  </a:t>
            </a:r>
            <a:r>
              <a:rPr sz="1800" b="0">
                <a:solidFill>
                  <a:srgbClr val="373D42"/>
                </a:solidFill>
                <a:latin typeface="Segoe UI"/>
              </a:rPr>
              <a:t>If a community believes that wearing a mask does not stop a virus (low perceived benefit), they will not wear it, regardless of how terrifying the virus is.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Intervention Strategy:  </a:t>
            </a:r>
            <a:r>
              <a:rPr sz="1800" b="0">
                <a:solidFill>
                  <a:srgbClr val="373D42"/>
                </a:solidFill>
                <a:latin typeface="Segoe UI"/>
              </a:rPr>
              <a:t>Provide clear, evidence-based, and culturally credible data proving the effectiveness of the recommended behavior.</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HBM CONSTRUCT 4 - PERCEIVED BARRIERS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11/34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Cost of Taking Action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Definition:  </a:t>
            </a:r>
            <a:r>
              <a:rPr sz="1800" b="0">
                <a:solidFill>
                  <a:srgbClr val="373D42"/>
                </a:solidFill>
                <a:latin typeface="Segoe UI"/>
              </a:rPr>
              <a:t>A person's feelings about the obstacles (physical, psychological, financial, time) to performing the recommended health behavior.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Key Question:  </a:t>
            </a:r>
            <a:r>
              <a:rPr sz="1800" b="0">
                <a:solidFill>
                  <a:srgbClr val="373D42"/>
                </a:solidFill>
                <a:latin typeface="Segoe UI"/>
              </a:rPr>
              <a:t>"What is stopping me, and is it too hard?"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Examples:  </a:t>
            </a:r>
            <a:r>
              <a:rPr sz="1800" b="0">
                <a:solidFill>
                  <a:srgbClr val="373D42"/>
                </a:solidFill>
                <a:latin typeface="Segoe UI"/>
              </a:rPr>
              <a:t>The pill has bad side effects; the gym is too expensive; the healthy food tastes bad; taking time off work means losing pay.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Crucial Fact:  </a:t>
            </a:r>
            <a:r>
              <a:rPr sz="1800" b="0">
                <a:solidFill>
                  <a:srgbClr val="373D42"/>
                </a:solidFill>
                <a:latin typeface="Segoe UI"/>
              </a:rPr>
              <a:t>Research consistently shows that Perceived Barriers is the single strongest predictor of whether a person will change their behavior.</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HBM CALCULUS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Rational Weighing Process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HBM assumes humans act like accountants.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We weigh the Perceived Threat against the Perceived Benefits, and then subtract the Perceived Barriers.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Action occurs when:  </a:t>
            </a:r>
            <a:r>
              <a:rPr sz="1800" b="0">
                <a:solidFill>
                  <a:srgbClr val="373D42"/>
                </a:solidFill>
                <a:latin typeface="Segoe UI"/>
              </a:rPr>
              <a:t>(Susceptibility + Severity + Benefits) &gt; Barriers.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Intervention Strategy:  </a:t>
            </a:r>
            <a:r>
              <a:rPr sz="1800" b="0">
                <a:solidFill>
                  <a:srgbClr val="373D42"/>
                </a:solidFill>
                <a:latin typeface="Segoe UI"/>
              </a:rPr>
              <a:t>You cannot just increase the fear (Threat). You must actively reduce the Barriers. Make the healthy choice cheaper, easier, faster, and more socially acceptable.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HBM CONSTRUCT 5 - CUES TO ACTION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Trigger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Definition:  </a:t>
            </a:r>
            <a:r>
              <a:rPr sz="1800" b="0">
                <a:solidFill>
                  <a:srgbClr val="373D42"/>
                </a:solidFill>
                <a:latin typeface="Segoe UI"/>
              </a:rPr>
              <a:t>The stimulus needed to trigger the decision-making process and initiate the behavior.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Internal Cues:  </a:t>
            </a:r>
            <a:r>
              <a:rPr sz="1800" b="0">
                <a:solidFill>
                  <a:srgbClr val="373D42"/>
                </a:solidFill>
                <a:latin typeface="Segoe UI"/>
              </a:rPr>
              <a:t>A physical symptom (e.g., a persistent cough, a sudden pain).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External Cues:  </a:t>
            </a:r>
            <a:r>
              <a:rPr sz="1800" b="0">
                <a:solidFill>
                  <a:srgbClr val="373D42"/>
                </a:solidFill>
                <a:latin typeface="Segoe UI"/>
              </a:rPr>
              <a:t>A reminder postcard from the dentist, a media campaign, advice from a doctor, or a friend getting sick.</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Application:  </a:t>
            </a:r>
            <a:r>
              <a:rPr sz="1800" b="0">
                <a:solidFill>
                  <a:srgbClr val="373D42"/>
                </a:solidFill>
                <a:latin typeface="Segoe UI"/>
              </a:rPr>
              <a:t>Even if a person has high perceived threat and low barriers, they might simply forget. Cues to action prompt the immediate behavior.</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HBM CONSTRUCT 6 - SELF-EFFICACY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14/34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Added in 1988 (Bandura's Influence)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Definition:  </a:t>
            </a:r>
            <a:r>
              <a:rPr sz="1800" b="0">
                <a:solidFill>
                  <a:srgbClr val="373D42"/>
                </a:solidFill>
                <a:latin typeface="Segoe UI"/>
              </a:rPr>
              <a:t>A person's confidence in their ability to successfully perform the specific action required.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Key Question:  </a:t>
            </a:r>
            <a:r>
              <a:rPr sz="1800" b="0">
                <a:solidFill>
                  <a:srgbClr val="373D42"/>
                </a:solidFill>
                <a:latin typeface="Segoe UI"/>
              </a:rPr>
              <a:t>"I know I should do it, but do I believe I actually can?"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Context:  </a:t>
            </a:r>
            <a:r>
              <a:rPr sz="1800" b="0">
                <a:solidFill>
                  <a:srgbClr val="373D42"/>
                </a:solidFill>
                <a:latin typeface="Segoe UI"/>
              </a:rPr>
              <a:t>Originally, HBM only applied to one-time actions (like getting an X-ray). When applied to complex, long-term lifestyle changes (like quitting smoking or dieting), self-efficacy was added.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Application:  </a:t>
            </a:r>
            <a:r>
              <a:rPr sz="1800" b="0">
                <a:solidFill>
                  <a:srgbClr val="373D42"/>
                </a:solidFill>
                <a:latin typeface="Segoe UI"/>
              </a:rPr>
              <a:t>A person might know smoking kills (high threat) and want to quit (high benefit), but if they have zero confidence they can resist cravings (low self-efficacy), they will not try.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MODIFYING VARIABLES IN HBM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15/34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Background Context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core HBM constructs do not exist in a vacuum. They are influenced by Modifying Variables.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Demographic Variables:  </a:t>
            </a:r>
            <a:r>
              <a:rPr sz="1800" b="0">
                <a:solidFill>
                  <a:srgbClr val="373D42"/>
                </a:solidFill>
                <a:latin typeface="Segoe UI"/>
              </a:rPr>
              <a:t>Age, gender, race, ethnicity.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Sociopsychological Variables:  </a:t>
            </a:r>
            <a:r>
              <a:rPr sz="1800" b="0">
                <a:solidFill>
                  <a:srgbClr val="373D42"/>
                </a:solidFill>
                <a:latin typeface="Segoe UI"/>
              </a:rPr>
              <a:t>Personality, social class, peer pressure.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Structural Variables:  </a:t>
            </a:r>
            <a:r>
              <a:rPr sz="1800" b="0">
                <a:solidFill>
                  <a:srgbClr val="373D42"/>
                </a:solidFill>
                <a:latin typeface="Segoe UI"/>
              </a:rPr>
              <a:t>Knowledge about the disease, prior contact with the illness.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How they work:  </a:t>
            </a:r>
            <a:r>
              <a:rPr sz="1800" b="0">
                <a:solidFill>
                  <a:srgbClr val="373D42"/>
                </a:solidFill>
                <a:latin typeface="Segoe UI"/>
              </a:rPr>
              <a:t>Modifying variables do not cause behavior directly. Instead, they influence a person's Perceptions (e.g., being older might increase Perceived Susceptibility to heart disease).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CASE STUDY - APPLYING HBM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16/34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Designing a Flu Vaccine Campaign for College Students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Susceptibility:  </a:t>
            </a:r>
            <a:r>
              <a:rPr sz="1800" b="0">
                <a:solidFill>
                  <a:srgbClr val="373D42"/>
                </a:solidFill>
                <a:latin typeface="Segoe UI"/>
              </a:rPr>
              <a:t>"I am around thousands of students in dorms; I will catch it."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Severity:  </a:t>
            </a:r>
            <a:r>
              <a:rPr sz="1800" b="0">
                <a:solidFill>
                  <a:srgbClr val="373D42"/>
                </a:solidFill>
                <a:latin typeface="Segoe UI"/>
              </a:rPr>
              <a:t>"If I get the flu, I will miss my final exams and fail the semester."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Benefits:  </a:t>
            </a:r>
            <a:r>
              <a:rPr sz="1800" b="0">
                <a:solidFill>
                  <a:srgbClr val="373D42"/>
                </a:solidFill>
                <a:latin typeface="Segoe UI"/>
              </a:rPr>
              <a:t>"The vaccine will keep me healthy during exam week."</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Barriers:  </a:t>
            </a:r>
            <a:r>
              <a:rPr sz="1800" b="0">
                <a:solidFill>
                  <a:srgbClr val="373D42"/>
                </a:solidFill>
                <a:latin typeface="Segoe UI"/>
              </a:rPr>
              <a:t>"The clinic is across campus, the line is long, and the needle hurts."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Cues to Action:  </a:t>
            </a:r>
            <a:r>
              <a:rPr sz="1800" b="0">
                <a:solidFill>
                  <a:srgbClr val="373D42"/>
                </a:solidFill>
                <a:latin typeface="Segoe UI"/>
              </a:rPr>
              <a:t>Text message reminders, posters in the dorms.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Self-Efficacy:  </a:t>
            </a:r>
            <a:r>
              <a:rPr sz="1800" b="0">
                <a:solidFill>
                  <a:srgbClr val="373D42"/>
                </a:solidFill>
                <a:latin typeface="Segoe UI"/>
              </a:rPr>
              <a:t>"I know how to book the appointment online and handle a quick pinch."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Intervention Fix:  </a:t>
            </a:r>
            <a:r>
              <a:rPr sz="1800" b="0">
                <a:solidFill>
                  <a:srgbClr val="373D42"/>
                </a:solidFill>
                <a:latin typeface="Segoe UI"/>
              </a:rPr>
              <a:t>To boost uptake, bring the mobile vaccine clinic directly to the dorm lobby (reducing Barriers).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CRITIQUES AND LIMITATIONS OF HBM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17/34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Blind Spots of Individual Psychology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1. The Rationality Assumption:  </a:t>
            </a:r>
            <a:r>
              <a:rPr sz="1800" b="0">
                <a:solidFill>
                  <a:srgbClr val="373D42"/>
                </a:solidFill>
                <a:latin typeface="Segoe UI"/>
              </a:rPr>
              <a:t>It assumes humans are purely logical. It ignores emotions, trauma, addiction, and subconscious habits.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2. Victim Blaming:  </a:t>
            </a:r>
            <a:r>
              <a:rPr sz="1800" b="0">
                <a:solidFill>
                  <a:srgbClr val="373D42"/>
                </a:solidFill>
                <a:latin typeface="Segoe UI"/>
              </a:rPr>
              <a:t>By focusing entirely on individual beliefs, it ignores the social, economic, and environmental barriers (Social Determinants of Health) that make healthy choices impossible.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3. Not for Habitual Behaviors:  </a:t>
            </a:r>
            <a:r>
              <a:rPr sz="1800" b="0">
                <a:solidFill>
                  <a:srgbClr val="373D42"/>
                </a:solidFill>
                <a:latin typeface="Segoe UI"/>
              </a:rPr>
              <a:t>HBM is great for one-time actions (getting a mammogram) but weak for complex, ingrained habits (eating a cultural diet, substance use).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4. Ignores Social Norms:  </a:t>
            </a:r>
            <a:r>
              <a:rPr sz="1800" b="0">
                <a:solidFill>
                  <a:srgbClr val="373D42"/>
                </a:solidFill>
                <a:latin typeface="Segoe UI"/>
              </a:rPr>
              <a:t>It does not account for peer pressure or what behavior is considered "normal" in a specific culture.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FOOD FOR THOUGHT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18/34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Limits of "Education"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If the HBM is correct, then simply providing information should change behavior. If people know smoking causes cancer (High Threat) and quitting saves lives (High Benefit), they should quit.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Why do millions of highly educated, health-literate doctors and nurses still smoke cigarettes?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Reflection:  </a:t>
            </a:r>
            <a:r>
              <a:rPr sz="1800" b="0">
                <a:solidFill>
                  <a:srgbClr val="373D42"/>
                </a:solidFill>
                <a:latin typeface="Segoe UI"/>
              </a:rPr>
              <a:t>Knowledge and beliefs are necessary, but they are rarely sufficient. This failure of the HBM forces us to look outside the individual mind and into the environment.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INTRODUCTION TO THE SOCIAL ECOLOGICAL MODEL (SEM)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19/34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Beyond the Individual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SEM recognizes that health behavior is not just a personal choice; it is deeply embedded in a complex web of social, environmental, and political influences.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Core Premise:  </a:t>
            </a:r>
            <a:r>
              <a:rPr sz="1800" b="0">
                <a:solidFill>
                  <a:srgbClr val="373D42"/>
                </a:solidFill>
                <a:latin typeface="Segoe UI"/>
              </a:rPr>
              <a:t>Individual behavior both shapes, and is shaped by, multiple levels of influence.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shifts the focus from "changing the person" to "changing the environment that surrounds the person."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ORIGINS OF THE SEM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20/34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Urie Bronfenbrenner (1979)</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Originally developed as a theory of child development by psychologist Urie Bronfenbrenner.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He argued that you cannot understand a child's development just by looking at the child; you must look at the family, the school, the neighborhood, and the national culture.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the late 1980s and 1990s, public health scholars (like McLeroy et al.) adapted this into the Social Ecological Model for health promotion.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Health is nested. Like Russian dolls, the individual is nested inside relationships, which are nested inside organizations, communities, and policies.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SEM CORE PRINCIPLE 1</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21/34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Multiple Levels of Influence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SEM identifies five distinct, interacting levels that dictate health behavior: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1. Intrapersonal (Individual) Level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2. Interpersonal Level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3. Institutional (Organizational) Level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4. Community Level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5. Public Policy (Macro) Level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 Focus:  </a:t>
            </a:r>
            <a:r>
              <a:rPr sz="1800" b="0">
                <a:solidFill>
                  <a:srgbClr val="373D42"/>
                </a:solidFill>
                <a:latin typeface="Segoe UI"/>
              </a:rPr>
              <a:t>You must be able to identify an intervention and correctly classify it into one of these five levels.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LEVEL 1 - INTRAPERSONAL (INDIVIDUAL)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Inner World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Characteristics of the individual.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Includes:  </a:t>
            </a:r>
            <a:r>
              <a:rPr sz="1800" b="0">
                <a:solidFill>
                  <a:srgbClr val="373D42"/>
                </a:solidFill>
                <a:latin typeface="Segoe UI"/>
              </a:rPr>
              <a:t>Knowledge, attitudes, beliefs, personality traits, genetics, biology, and self-efficacy.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is where the Health Belief Model (HBM) operates.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Interventions:  </a:t>
            </a:r>
            <a:r>
              <a:rPr sz="1800" b="0">
                <a:solidFill>
                  <a:srgbClr val="373D42"/>
                </a:solidFill>
                <a:latin typeface="Segoe UI"/>
              </a:rPr>
              <a:t>Health education classes, counseling, providing informational brochures, teaching coping skills.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Limitation:  </a:t>
            </a:r>
            <a:r>
              <a:rPr sz="1800" b="0">
                <a:solidFill>
                  <a:srgbClr val="373D42"/>
                </a:solidFill>
                <a:latin typeface="Segoe UI"/>
              </a:rPr>
              <a:t>Only changes the individual, not the context.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LEVEL 2 - INTERPERSONAL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Social Network</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Formal and informal social networks and social support systems.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Includes:  </a:t>
            </a:r>
            <a:r>
              <a:rPr sz="1800" b="0">
                <a:solidFill>
                  <a:srgbClr val="373D42"/>
                </a:solidFill>
                <a:latin typeface="Segoe UI"/>
              </a:rPr>
              <a:t>Family, friends, peers, neighbors, and coworkers.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Key Concepts:  </a:t>
            </a:r>
            <a:r>
              <a:rPr sz="1800" b="0">
                <a:solidFill>
                  <a:srgbClr val="373D42"/>
                </a:solidFill>
                <a:latin typeface="Segoe UI"/>
              </a:rPr>
              <a:t>Social norms, peer pressure, modeling (observational learning), and emotional support.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Interventions:  </a:t>
            </a:r>
            <a:r>
              <a:rPr sz="1800" b="0">
                <a:solidFill>
                  <a:srgbClr val="373D42"/>
                </a:solidFill>
                <a:latin typeface="Segoe UI"/>
              </a:rPr>
              <a:t>Family therapy, peer-education programs, buddy systems for exercise, training community health workers to do home visits.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LEVEL 3 - INSTITUTIONAL (ORGANIZATIONAL)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24/34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Rules of the Setting</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Social institutions with rules and regulations for operations.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Includes:  </a:t>
            </a:r>
            <a:r>
              <a:rPr sz="1800" b="0">
                <a:solidFill>
                  <a:srgbClr val="373D42"/>
                </a:solidFill>
                <a:latin typeface="Segoe UI"/>
              </a:rPr>
              <a:t>Schools, workplaces, healthcare clinics, churches, and prisons.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Key Concepts:  </a:t>
            </a:r>
            <a:r>
              <a:rPr sz="1800" b="0">
                <a:solidFill>
                  <a:srgbClr val="373D42"/>
                </a:solidFill>
                <a:latin typeface="Segoe UI"/>
              </a:rPr>
              <a:t>How the physical and social environment of an organization facilitates or constrains healthy behavior.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Interventions:  </a:t>
            </a:r>
            <a:r>
              <a:rPr sz="1800" b="0">
                <a:solidFill>
                  <a:srgbClr val="373D42"/>
                </a:solidFill>
                <a:latin typeface="Segoe UI"/>
              </a:rPr>
              <a:t>A school banning the sale of sugary sodas; a workplace providing ergonomic desks and paid mental health days; a hospital implementing a smoke-free campus policy.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LEVEL 4 - COMMUNITY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25/34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Neighborhood and Culture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Relationships among organizations, institutions, and informal networks within defined boundaries.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Includes:  </a:t>
            </a:r>
            <a:r>
              <a:rPr sz="1800" b="0">
                <a:solidFill>
                  <a:srgbClr val="373D42"/>
                </a:solidFill>
                <a:latin typeface="Segoe UI"/>
              </a:rPr>
              <a:t>The built environment (parks, sidewalks, grocery stores), neighborhood safety, local cultural norms, and community cohesion.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Key Concepts:  </a:t>
            </a:r>
            <a:r>
              <a:rPr sz="1800" b="0">
                <a:solidFill>
                  <a:srgbClr val="373D42"/>
                </a:solidFill>
                <a:latin typeface="Segoe UI"/>
              </a:rPr>
              <a:t>Sense of community, access to resources, environmental justice.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Interventions:  </a:t>
            </a:r>
            <a:r>
              <a:rPr sz="1800" b="0">
                <a:solidFill>
                  <a:srgbClr val="373D42"/>
                </a:solidFill>
                <a:latin typeface="Segoe UI"/>
              </a:rPr>
              <a:t>Building a community garden, creating safe walking routes to school, organizing a neighborhood watch, opening a farmer's market in a food desert.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LEVEL 5 - PUBLIC POLICY (MACRO-LEVEL)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26/34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Laws of the Land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Local, state, national, and global laws, policies, and resource allocations.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Includes:  </a:t>
            </a:r>
            <a:r>
              <a:rPr sz="1800" b="0">
                <a:solidFill>
                  <a:srgbClr val="373D42"/>
                </a:solidFill>
                <a:latin typeface="Segoe UI"/>
              </a:rPr>
              <a:t>Taxation, legislation, zoning laws, human rights mandates, and healthcare funding.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Key Concepts:  </a:t>
            </a:r>
            <a:r>
              <a:rPr sz="1800" b="0">
                <a:solidFill>
                  <a:srgbClr val="373D42"/>
                </a:solidFill>
                <a:latin typeface="Segoe UI"/>
              </a:rPr>
              <a:t>Structural determinants of health, equity, systemic regulation.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Interventions:  </a:t>
            </a:r>
            <a:r>
              <a:rPr sz="1800" b="0">
                <a:solidFill>
                  <a:srgbClr val="373D42"/>
                </a:solidFill>
                <a:latin typeface="Segoe UI"/>
              </a:rPr>
              <a:t>Implementing a national sugar tax, raising the minimum wage, passing clean air acts, mandating universal healthcare coverage.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SEM CORE PRINCIPLE 2</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27/34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Reciprocal Determinism</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Behavior is not a one-way street where the environment simply dictates to the individual.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Reciprocal Determinism means that individuals influence their environments, and environments influence individuals, in a continuous feedback loop.</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a:t>
            </a:r>
            <a:r>
              <a:rPr sz="1800" b="0">
                <a:solidFill>
                  <a:srgbClr val="373D42"/>
                </a:solidFill>
                <a:latin typeface="Segoe UI"/>
              </a:rPr>
              <a:t>A person starts cycling to work (Individual behavior). This reduces traffic and improves air quality (Community environment). The cleaner air and safer bike lanes encourage more neighbors to start cycling (Feedback loop).</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Change at one level can trigger changes at all other levels.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CASE STUDY - APPLYING SEM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28/34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Tackling Childhood Obesity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Level 1 (Individual):  </a:t>
            </a:r>
            <a:r>
              <a:rPr sz="1800" b="0">
                <a:solidFill>
                  <a:srgbClr val="373D42"/>
                </a:solidFill>
                <a:latin typeface="Segoe UI"/>
              </a:rPr>
              <a:t>Teach children about nutrition and portion control.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Level 2 (Interpersonal):  </a:t>
            </a:r>
            <a:r>
              <a:rPr sz="1800" b="0">
                <a:solidFill>
                  <a:srgbClr val="373D42"/>
                </a:solidFill>
                <a:latin typeface="Segoe UI"/>
              </a:rPr>
              <a:t>Host family cooking classes so parents model healthy eating at home.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Level 3 (Institutional):  </a:t>
            </a:r>
            <a:r>
              <a:rPr sz="1800" b="0">
                <a:solidFill>
                  <a:srgbClr val="373D42"/>
                </a:solidFill>
                <a:latin typeface="Segoe UI"/>
              </a:rPr>
              <a:t>Mandate 60 minutes of daily physical education in schools and remove junk food vending machines.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Level 4 (Community):  </a:t>
            </a:r>
            <a:r>
              <a:rPr sz="1800" b="0">
                <a:solidFill>
                  <a:srgbClr val="373D42"/>
                </a:solidFill>
                <a:latin typeface="Segoe UI"/>
              </a:rPr>
              <a:t>Partner with local city planners to build safe, well-lit parks and sidewalks in low-income neighborhoods.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Level 5 (Policy):  </a:t>
            </a:r>
            <a:r>
              <a:rPr sz="1800" b="0">
                <a:solidFill>
                  <a:srgbClr val="373D42"/>
                </a:solidFill>
                <a:latin typeface="Segoe UI"/>
              </a:rPr>
              <a:t>Pass national legislation banning the marketing of ultra-processed foods to children under 12.</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 Focus:  </a:t>
            </a:r>
            <a:r>
              <a:rPr sz="1800" b="0">
                <a:solidFill>
                  <a:srgbClr val="373D42"/>
                </a:solidFill>
                <a:latin typeface="Segoe UI"/>
              </a:rPr>
              <a:t>The most effective, sustainable health promotion programs intervene at multiple SEM levels simultaneously.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"SWISS CHEESE" MODEL OF INTERVENTION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29/34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Why Multi-Level is Better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Imagine each level of the SEM as a slice of Swiss cheese.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single-level intervention (like an educational pamphlet) has many holes (barriers, lack of access, peer pressure). The "disease" easily slips through the holes.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By layering interventions across multiple SEM levels (Individual + Policy + Community), the holes are covered. The defense becomes solid.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is why downstream, individual-only interventions often fail, while upstream, multi-level interventions succeed.</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HBM VS. SEM - COMPARING THE PARADIGMS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30/34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When to Use Which?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Use HBM when: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1. The behavior is a one-time action (e.g., getting a vaccine, attending a screening).</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2. You are designing the communication and messaging strategy for a campaign.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3. The primary barriers are psychological (fear, lack of knowledge).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Use SEM when: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1. The behavior is a complex, long-term lifestyle change (e.g., diet, exercise).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2. The primary barriers are environmental or structural (poverty, lack of access, toxic culture).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3. You are designing a comprehensive, community-wide public health program.</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PUZZLING QUESTIONS FOR REFLECTION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31/34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Critical Tensions in Theoretical Application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1. If the Social Ecological Model is so effective, why do 90 percent of public health budgets still fund individual-level education programs (HBM) instead of policy changes (SEM)?</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2. When we use the HBM to increase "Perceived Threat," are we ethically justified in using fear and anxiety to manipulate people into healthy behaviors?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3. How do we measure the success of an SEM intervention when the outcome is the result of complex, reciprocal determinism across five different levels?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4. Can a health promoter truly change Public Policy (Level 5), or is that the exclusive domain of politicians and lobbyists?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KEY TERMS GLOSSARY (EXAM PREP)</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Master the Vocabulary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Construct:  </a:t>
            </a:r>
            <a:r>
              <a:rPr sz="1800" b="0">
                <a:solidFill>
                  <a:srgbClr val="373D42"/>
                </a:solidFill>
                <a:latin typeface="Segoe UI"/>
              </a:rPr>
              <a:t>A specific, measurable component of a theory.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Perceived Susceptibility:  </a:t>
            </a:r>
            <a:r>
              <a:rPr sz="1800" b="0">
                <a:solidFill>
                  <a:srgbClr val="373D42"/>
                </a:solidFill>
                <a:latin typeface="Segoe UI"/>
              </a:rPr>
              <a:t>Belief about the chances of getting an illness.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Perceived Severity:  </a:t>
            </a:r>
            <a:r>
              <a:rPr sz="1800" b="0">
                <a:solidFill>
                  <a:srgbClr val="373D42"/>
                </a:solidFill>
                <a:latin typeface="Segoe UI"/>
              </a:rPr>
              <a:t>Belief about how serious an illness and its consequences are.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Perceived Barriers:  </a:t>
            </a:r>
            <a:r>
              <a:rPr sz="1800" b="0">
                <a:solidFill>
                  <a:srgbClr val="373D42"/>
                </a:solidFill>
                <a:latin typeface="Segoe UI"/>
              </a:rPr>
              <a:t>The tangible and psychological costs of the advised action (strongest predictor in HBM).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Self-Efficacy:  </a:t>
            </a:r>
            <a:r>
              <a:rPr sz="1800" b="0">
                <a:solidFill>
                  <a:srgbClr val="373D42"/>
                </a:solidFill>
                <a:latin typeface="Segoe UI"/>
              </a:rPr>
              <a:t>Confidence in one's ability to take action.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Social Ecological Model (SEM):  </a:t>
            </a:r>
            <a:r>
              <a:rPr sz="1800" b="0">
                <a:solidFill>
                  <a:srgbClr val="373D42"/>
                </a:solidFill>
                <a:latin typeface="Segoe UI"/>
              </a:rPr>
              <a:t>A framework examining multiple levels of influence on health.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Reciprocal Determinism:  </a:t>
            </a:r>
            <a:r>
              <a:rPr sz="1800" b="0">
                <a:solidFill>
                  <a:srgbClr val="373D42"/>
                </a:solidFill>
                <a:latin typeface="Segoe UI"/>
              </a:rPr>
              <a:t>The continuous, dynamic interaction between the person and the environment.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Required Journal Article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McLeroy, K. R., Bibeau, D., Steckler, A., &amp; Glanz, K. (1988). An ecological perspective on health promotion programs. Health Education Quarterly, 15(4), 351-377.</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Why read this?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is the foundational paper that adapted Bronfenbrenner's ecological model into public health.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brilliantly outlines the five levels of the SEM and provides classic examples of interventions at each level.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challenges the reader to stop blaming individuals for systemic failures.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Essential reading for Part 1 of your Final Report when you are justifying the theoretical framework of your proposed intervention.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THANK YOU AND NEXT WEEK'S TEASER</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27"/>
              </a:spcAft>
              <a:buNone/>
            </a:pPr>
            <a:r>
              <a:rPr sz="1600" b="0">
                <a:solidFill>
                  <a:srgbClr val="373D42"/>
                </a:solidFill>
                <a:latin typeface="Segoe UI"/>
              </a:rPr>
              <a:t>🌱  </a:t>
            </a:r>
            <a:r>
              <a:rPr sz="1600" b="0">
                <a:solidFill>
                  <a:srgbClr val="373D42"/>
                </a:solidFill>
                <a:latin typeface="Segoe UI"/>
              </a:rPr>
              <a:t>Think Systemically. Act Strategically.</a:t>
            </a:r>
          </a:p>
          <a:p>
            <a:pPr marL="347472" indent="-347472">
              <a:lnSpc>
                <a:spcPct val="114000"/>
              </a:lnSpc>
              <a:spcAft>
                <a:spcPts val="927"/>
              </a:spcAft>
              <a:buNone/>
            </a:pPr>
            <a:r>
              <a:rPr sz="1600" b="0">
                <a:solidFill>
                  <a:srgbClr val="373D42"/>
                </a:solidFill>
                <a:latin typeface="Segoe UI"/>
              </a:rPr>
              <a:t>🌱  </a:t>
            </a:r>
            <a:r>
              <a:rPr sz="1600" b="0">
                <a:solidFill>
                  <a:srgbClr val="373D42"/>
                </a:solidFill>
                <a:latin typeface="Segoe UI"/>
              </a:rPr>
              <a:t>Contact:</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Email:  </a:t>
            </a:r>
            <a:r>
              <a:rPr sz="1600" b="0">
                <a:solidFill>
                  <a:srgbClr val="373D42"/>
                </a:solidFill>
                <a:latin typeface="Segoe UI"/>
              </a:rPr>
              <a:t>[Professor's Email]</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Office Hours:  </a:t>
            </a:r>
            <a:r>
              <a:rPr sz="1600" b="0">
                <a:solidFill>
                  <a:srgbClr val="373D42"/>
                </a:solidFill>
                <a:latin typeface="Segoe UI"/>
              </a:rPr>
              <a:t>[Time/Location]</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Next Week:  </a:t>
            </a:r>
            <a:r>
              <a:rPr sz="1600" b="0">
                <a:solidFill>
                  <a:srgbClr val="373D42"/>
                </a:solidFill>
                <a:latin typeface="Segoe UI"/>
              </a:rPr>
              <a:t>Lecture 4 - Theories in Health Promotion Programs: PRECEDE-PROCEED</a:t>
            </a:r>
          </a:p>
          <a:p>
            <a:pPr marL="347472" indent="-347472">
              <a:lnSpc>
                <a:spcPct val="114000"/>
              </a:lnSpc>
              <a:spcAft>
                <a:spcPts val="927"/>
              </a:spcAft>
              <a:buNone/>
            </a:pPr>
            <a:r>
              <a:rPr sz="1600" b="0">
                <a:solidFill>
                  <a:srgbClr val="373D42"/>
                </a:solidFill>
                <a:latin typeface="Segoe UI"/>
              </a:rPr>
              <a:t>🌱  </a:t>
            </a:r>
            <a:r>
              <a:rPr sz="1600" b="0">
                <a:solidFill>
                  <a:srgbClr val="373D42"/>
                </a:solidFill>
                <a:latin typeface="Segoe UI"/>
              </a:rPr>
              <a:t>Moving from "Why" to "How."</a:t>
            </a:r>
          </a:p>
          <a:p>
            <a:pPr marL="347472" indent="-347472">
              <a:lnSpc>
                <a:spcPct val="114000"/>
              </a:lnSpc>
              <a:spcAft>
                <a:spcPts val="927"/>
              </a:spcAft>
              <a:buNone/>
            </a:pPr>
            <a:r>
              <a:rPr sz="1600" b="0">
                <a:solidFill>
                  <a:srgbClr val="373D42"/>
                </a:solidFill>
                <a:latin typeface="Segoe UI"/>
              </a:rPr>
              <a:t>🌱  </a:t>
            </a:r>
            <a:r>
              <a:rPr sz="1600" b="0">
                <a:solidFill>
                  <a:srgbClr val="373D42"/>
                </a:solidFill>
                <a:latin typeface="Segoe UI"/>
              </a:rPr>
              <a:t>The ultimate planning and evaluation model for health promotion.</a:t>
            </a:r>
          </a:p>
          <a:p>
            <a:pPr marL="347472" indent="-347472">
              <a:lnSpc>
                <a:spcPct val="114000"/>
              </a:lnSpc>
              <a:spcAft>
                <a:spcPts val="927"/>
              </a:spcAft>
              <a:buNone/>
            </a:pPr>
            <a:r>
              <a:rPr sz="1600" b="0">
                <a:solidFill>
                  <a:srgbClr val="373D42"/>
                </a:solidFill>
                <a:latin typeface="Segoe UI"/>
              </a:rPr>
              <a:t>🌱  </a:t>
            </a:r>
            <a:r>
              <a:rPr sz="1600" b="0">
                <a:solidFill>
                  <a:srgbClr val="373D42"/>
                </a:solidFill>
                <a:latin typeface="Segoe UI"/>
              </a:rPr>
              <a:t>How to conduct a comprehensive social, epidemiological, and educational diagnosis.</a:t>
            </a:r>
          </a:p>
          <a:p>
            <a:pPr marL="347472" indent="-347472">
              <a:lnSpc>
                <a:spcPct val="114000"/>
              </a:lnSpc>
              <a:spcAft>
                <a:spcPts val="927"/>
              </a:spcAft>
              <a:buNone/>
            </a:pPr>
            <a:r>
              <a:rPr sz="1600" b="0">
                <a:solidFill>
                  <a:srgbClr val="373D42"/>
                </a:solidFill>
                <a:latin typeface="Segoe UI"/>
              </a:rPr>
              <a:t>🌱  </a:t>
            </a:r>
            <a:r>
              <a:rPr sz="1600" b="0">
                <a:solidFill>
                  <a:srgbClr val="373D42"/>
                </a:solidFill>
                <a:latin typeface="Segoe UI"/>
              </a:rPr>
              <a:t>Building the Logic Model for your Final Report.</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Action Item:  </a:t>
            </a:r>
            <a:r>
              <a:rPr sz="1600" b="0">
                <a:solidFill>
                  <a:srgbClr val="373D42"/>
                </a:solidFill>
                <a:latin typeface="Segoe UI"/>
              </a:rPr>
              <a:t>Review the McLeroy (1988) paper. Identify one health issue in your own community and map out one intervention for each of the five SEM levels. Be ready to share your map in the seminar.</a:t>
            </a:r>
          </a:p>
          <a:p>
            <a:pPr marL="347472" indent="-347472">
              <a:lnSpc>
                <a:spcPct val="114000"/>
              </a:lnSpc>
              <a:spcAft>
                <a:spcPts val="927"/>
              </a:spcAft>
              <a:buNone/>
            </a:pPr>
            <a:r>
              <a:rPr sz="1600" b="0">
                <a:solidFill>
                  <a:srgbClr val="373D42"/>
                </a:solidFill>
                <a:latin typeface="Segoe UI"/>
              </a:rPr>
              <a:t>🌱  </a:t>
            </a:r>
            <a:r>
              <a:rPr sz="1600" b="0">
                <a:solidFill>
                  <a:srgbClr val="373D42"/>
                </a:solidFill>
                <a:latin typeface="Segoe UI"/>
              </a:rPr>
              <a:t>See you next week.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Theories in Health Promotion - The Health Belief Model and The Social Ecological Model</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