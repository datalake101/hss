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Work-place Health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Course: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and Disease Prevention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 8: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Work-place Health Promotion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Instructor: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Prof. [Your Name]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Quote: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We spend a third of our lives at work. If work makes us sick, no amount of weekend wellness will cure 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WELCOME AND LECTURE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The Workplace as a Determinant of Health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In previous lectures, we explored the life course and the broad social determinants of health.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Today, we zoom in on one of the most powerful, daily environments shaping adult health: The Workplace.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Objectives for today: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1. Distinguish between Occupational Health and Safety (OHS) and Workplace Health Promotion (WHP).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2. Understand the economic and human costs of poor workplace health.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3. Master the core theories of psychosocial hazards (Karasek and Siegrist).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4. Apply the WHO Healthy Workplace Framework to program design.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0">
                <a:solidFill>
                  <a:srgbClr val="373D42"/>
                </a:solidFill>
                <a:latin typeface="Segoe UI"/>
              </a:rPr>
              <a:t>5. Critique modern work trends (gig economy, remote work) through a health lens.</a:t>
            </a:r>
          </a:p>
          <a:p>
            <a:pPr marL="347472" indent="-347472">
              <a:lnSpc>
                <a:spcPct val="114000"/>
              </a:lnSpc>
              <a:spcAft>
                <a:spcPts val="899"/>
              </a:spcAft>
              <a:buNone/>
            </a:pPr>
            <a:r>
              <a:rPr sz="155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550" b="1">
                <a:solidFill>
                  <a:srgbClr val="952210"/>
                </a:solidFill>
                <a:latin typeface="Segoe UI"/>
              </a:rPr>
              <a:t>Exam Focus:  </a:t>
            </a:r>
            <a:r>
              <a:rPr sz="1550" b="0">
                <a:solidFill>
                  <a:srgbClr val="373D42"/>
                </a:solidFill>
                <a:latin typeface="Segoe UI"/>
              </a:rPr>
              <a:t>You will be asked to diagnose a toxic workplace using theoretical models and propose structural, rather than individual, interventions.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WORKPLACE AS A PRIMARY SETTING FOR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Adults spend roughly one-third of their waking lives at work.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workplace is a microcosm of society, containing its own social hierarchies, physical environments, and cultural norms.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Work provides essential resources for health: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income, social status, identity, and social connection.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Conversely, work can be a primary source of chronic stress, physical injury, and social marginalization.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 cannot promote population health without addressing the conditions of work.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OHS VS. WHP - A CRITICAL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4/34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Occupational Health and Safety (OHS):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Focuses on preventing work-related injuries and acute illnesses.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Deals with physical hazards (chemicals, machinery, fall risks).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Driven by legal compliance and regulatory mandates.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Workplace Health Promotion (WHP):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Focuses on improving overall health, well-being, and vitality.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Addresses lifestyle factors, mental health, and organizational culture.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Driven by voluntary organizational commitment and employee well-being.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OHS keeps you from dying at work. WHP helps you thrive because of work. Both are required.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EVOLUTION OF WORK AND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5/34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Industrial Era: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threats were primarily physical (coal dust, amputations, extreme physical exhaustion).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Post-Industrial Era: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Shift toward service and knowledge work. Physical hazards decreased, but sedentary behavior and cognitive load increased.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Digital Era: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Constant connectivity, algorithmic management, and the blurring of work-life boundaries.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nature of occupational hazards has shifted from acute physical trauma to chronic psychosocial and metabolic stress.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BUSINESS CASE FOR WHP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6/34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Why should employers invest in health promotion?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moral argument: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Employers have a duty of care to the humans who generate their profit.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economic argument: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Poor employee health directly impacts the bottom line through healthcare costs, turnover, and lost productivity.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strategic argument: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Healthy workplaces attract top talent, foster innovation, and build organizational resilience.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 Focus: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When designing a WHP proposal, you must speak the language of business (ROI, retention, productivity) alongside the language of public health.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DIRECT VS. INDIRECT COSTS OF POOR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7/34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 Costs: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Employer contributions to health insurance premiums.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Workers' compensation claims.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Costs of hiring and training replacement staff.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Indirect Costs (Often 3 to 4 times higher than direct costs):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Absenteeism (missing work due to illness).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Presenteeism (being at work but functioning at reduced capacity).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Management time spent dealing with underperforming or distressed staff.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Loss of institutional knowledge when experienced staff leave.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PRESENTEEISM - THE HIDDEN EPIDEMIC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8/34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Definition: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Employees are physically present at work but mentally or physically disengaged due to illness, stress, or burnout.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Why it happens: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Fear of job loss, toxic workplace cultures that stigmatize taking sick leave, or sheer workload pressure.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Impact: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Presenteeism accounts for the vast majority of productivity loss in knowledge-work sectors.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Danger: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It masks the true health burden of a workforce. A company might boast "low absenteeism" while its employees are silently burning out.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PSYCHOSOCIAL HAZARDS - THE INVISIBLE TOXINS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9/34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Psychosocial hazards are aspects of job design, organization, and management that have the potential to cause psychological or physical harm.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Unreasonable deadlines, lack of role clarity, bullying, poor communication, and job insecurity.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Unlike a chemical spill, psychosocial hazards are invisible, cumulative, and often normalized as "just part of the job."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toxic manager is a recognized occupational health hazard, just as much as asbestos or heavy machinery.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KARASEK'S DEMAND-CONTROL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10/34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Developed by Robert Karasek (1979) to explain workplace stress.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Two main dimensions: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1. Psychological Demands: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Workload, time pressure, and cognitive complexity.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2. Decision Latitude (Control):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worker's ability to make decisions and use their skills.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core premise: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High demands are not inherently bad IF the worker has high control to manage them.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FOUR JOB TYPES (KARASEK)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11/34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1. High Strain (High Demand, Low Control):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most toxic. Leads to burnout, depression, and cardiovascular disease. (e.g., call center workers, assembly line workers).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2. Active (High Demand, High Control):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Leads to learning, motivation, and growth. (e.g., surgeons, senior managers).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3. Low Strain (Low Demand, High Control):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Comfortable but can lead to skill atrophy.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4. Passive (Low Demand, Low Control):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Leads to boredom, apathy, and loss of self-efficacy.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HP Application: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To reduce stress, you do not always need to lower demands; you can increase employee autonomy and control.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SIEGRIST'S EFFORT-REWARD IMBALANCE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Developed by Johannes Siegrist (1996).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Focuses on the social reciprocity of work.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High Effort: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High workload, time pressure, and physical exertion.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Low Reward: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Lack of financial compensation, lack of esteem/recognition, and lack of job security/career opportunities.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Result: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When high effort is not met with adequate reward, it triggers severe emotional distress and physiological stress responses (allostatic load).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People can endure incredibly hard work if they feel fairly compensated and deeply respected.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PHYSICAL ENVIRONMENT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Beyond psychosocial factors, the built environment of the workplace dictates health behaviors.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Indoor Air Quality: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Poor ventilation leads to "Sick Building Syndrome," causing headaches, fatigue, and respiratory issues.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Lighting: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Lack of natural light disrupts circadian rhythms, leading to poor sleep and mood disorders.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Noise: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Open-plan offices often create chronic cognitive fatigue due to constant background noise and lack of privacy.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HP Application: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Environmental design is a powerful "Enabling Factor" in the PRECEDE-PROCEED model.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ERGONOMICS AND THE SEDENTARY WORKPLACE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14/34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modern knowledge worker sits for 8 to 10 hours a day.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Prolonged sitting is an independent risk factor for cardiovascular disease, metabolic syndrome, and musculoskeletal disorders, even if the person exercises after work.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Ergonomic interventions: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Sit-stand desks, ergonomic chairs, and monitor heights.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Behavioral interventions: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Mandatory movement breaks, walking meetings, and centralizing printers/trash bins to force walking.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ORGANIZATIONAL CULTURE AND PSYCHOLOGICAL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15/34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Culture is "how things are done around here."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Psychological Safety (Amy Edmondson):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belief that you will not be punished or humiliated for speaking up with ideas, questions, concerns, or mistakes.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 psychologically unsafe workplaces, employees hide errors, avoid asking for help, and suppress mental health struggles until they reach a crisis point.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WHP must target leadership training to foster psychological safety as a foundational health resource.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MYTH OF "RESILIENCE TRAINING"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16/34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Many corporations respond to employee burnout by offering "resilience training," mindfulness apps, or yoga classes.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Critical Perspective: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individualizes a systemic problem. It tells the employee, "The workload is impossible, so you need to get better at enduring it."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is a form of victim-blaming in the workplace.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True WHP fixes the workload, the deadlines, and the management practices, rather than just teaching the worker to meditate through the toxicity.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SYSTEMIC BURNOUT VS. INDIVIDUAL COPING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17/34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World Health Organization officially classifies Burnout as an "occupational phenomenon," not a medical condition.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It is defined by three dimensions: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1. Feelings of energy depletion or exhaustion.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2. Increased mental distance from one's job, or feelings of negativism/cynicism.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3. Reduced professional efficacy.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Burnout is a failure of the work environment, not a failure of the worker's coping mechanisms.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WHO HEALTHY WORKPLACE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18/34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WHO provides a comprehensive model for WHP that moves beyond isolated wellness programs.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It requires a holistic approach integrating the physical environment, the psychosocial environment, personal health resources, and community involvement.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It emphasizes that a healthy workplace is one where workers and managers collaborate to continually protect and promote the health, safety, and well-being of all workers and the sustainability of the workplace.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FOUR AVENUES OF THE WHO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19/34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1. The Physical Work Environment: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Addressing safety, ergonomics, and physical hazards.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2. The Psychosocial Work Environment: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Addressing organizational culture, management practices, and stress.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3. Personal Health Resources in the Workplace: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Providing access to health screenings, healthy food, and fitness facilities.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4. Enterprise Community Involvement: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the company impacts the local community (e.g., environmental pollution, supporting local schools, providing stable local jobs).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APPLYING THE OTTAWA CHARTER TO WHP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20/34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Build Healthy Public Policy: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Corporate policies on paid sick leave, parental leave, and the "right to disconnect" after hours.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Create Supportive Environments: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Designing offices for movement, natural light, and psychological safety.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Strengthen Community Action: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Empowering employee resource groups, peer-support networks, and union representation.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Develop Personal Skills: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Training managers in mental health first aid and leadership empathy.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Reorient Health Services: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Integrating occupational health nurses and counselors directly into the workplace.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APPLYING PRECEDE-PROCEED TO THE WORKPLACE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21/34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Phase 1 (Social):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What are the employees' quality of life goals? (e.g., work-life balance, financial security).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Phase 2 (Epidemiological):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What are the health metrics? (e.g., rates of musculoskeletal pain, depression, hypertension).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Phase 3 (Educational/Ecological):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Predisposing: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Beliefs about taking sick leave (e.g., "If I take a day off, I'm letting the team down").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Enabling: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Access to mental health benefits, flexible working hours.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Reinforcing: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Managerial praise for working weekends (negative reinforcement for health).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CHANGING NATURE OF WORK - THE GIG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rise of gig work (Uber, DoorDash, freelance platforms) has fundamentally altered occupational health.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Gig workers lack the traditional "Enabling Factors" of employment: no paid sick leave, no workers' compensation, no job security, and no collective bargaining power.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creates extreme financial precarity, leading to high allostatic load and the tendency to work while sick or injured.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WHP for gig workers requires macro-level policy advocacy, not just corporate wellness apps.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REMOTE WORK AND THE BLURRING OF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shift to remote and hybrid work has eliminated the physical commute but destroyed the psychological boundary between "work" and "home."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"Always-On" Culture: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Employees feel pressured to answer emails at 9 PM to prove they are working.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Health Impacts: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Increased sedentary behavior, social isolation, and inability to psychologically detach from work, leading to chronic sleep disruption.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WHP Solution: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Implementing strict organizational policies regarding after-hours communication and respecting the "right to disconnect."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INTERSECTIONALITY IN THE WORKPLACE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24/34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Workplace hazards do not affect all employees equally.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Women often face the "double burden" of paid work and unpaid domestic/care labor, leading to higher rates of time-stress and burnout.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Marginalized racial and ethnic groups often face "identity strain" and microaggressions in the workplace, adding a layer of chronic psychosocial hazard that privileged colleagues do not experience.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LGBTQ+ employees may face the stress of concealing their identity or navigating non-inclusive organizational cultures.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GENDERED NATURE OF WORKPLACE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25/34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Occupational health research has historically focused on male-dominated industries (manufacturing, mining).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Female-dominated industries (nursing, teaching, social work, care work) suffer from severe emotional labor demands and compassion fatigue, which are often unrecognized as occupational hazards.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Furthermore, workplace policies regarding pregnancy, menstruation, and menopause have historically been ignored or stigmatized in WHP programs.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 STUDY - THE 4-DAY WORK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26/34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Recent global trials of the 4-day work week (100 percent pay, 80 percent time, 100 percent productivity).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Health Outcomes: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Massive reductions in employee burnout, stress, and sleep deprivation. Significant improvements in mental health and life satisfaction.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Business Outcomes: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Revenue remained stable or increased, absenteeism dropped, and staff retention soared.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Reducing total work hours is a profound upstream intervention for population health, challenging the cultural assumption that more hours equal more value.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DESIGNING A WHP PROGRAM - TOP-DOWN VS. BOTTOM-UP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27/34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Top-Down: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Management decides what the employees need (e.g., buying a ping-pong table or a meditation app). Often fails due to low uptake and perceived as tone-deaf.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Bottom-Up: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Employees are surveyed and involved in designing the interventions. High uptake, high relevance.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Best Approach: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Participatory WHP. A joint committee of management and frontline workers co-designs the program, ensuring it addresses actual structural barriers, not just superficial perks.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ROLE OF LABOR UNIONS AND COLLECTIVE BARGAINING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28/34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Historically, the greatest advancements in workplace health (the weekend, the 8-hour day, child labor laws, safety regulations) were won by labor unions, not gifted by benevolent employers.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Collective bargaining remains one of the most powerful structural interventions for workplace health promotion.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Unionized workplaces consistently show better safety records, higher wages, and better mental health outcomes due to the balance of power between labor and capital.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EVALUATING WHP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29/34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Process Evaluation: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Did employees actually use the new ergonomic chairs? Did they attend the mental health first aid training?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Impact Evaluation: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Did perceived stress levels drop? Did employees report higher psychological safety and better work-life balance?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Outcome Evaluation: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Did absenteeism rates decrease? Did workers' compensation claims drop? Did long-term cardiovascular risk factors improve?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Warning: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 not use individual weight loss or blood pressure as the sole metric for a WHP program. Measure organizational culture and systemic stress reduction.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PUZZLING QUESTIONS FOR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30/34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1. If a company offers excellent on-site gyms and healthy food, but maintains a toxic, high-demand/low-control management culture, is it a "healthy workplace"?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2. As AI and automation take over cognitive tasks, will the future of work liberate humans to pursue creative, healthy endeavors, or will it create mass job insecurity and severe psychosocial distress?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3. Should employers have the right to incentivize or penalize employees based on their personal health behaviors outside of work hours (e.g., charging higher insurance premiums to smokers)?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4. How do we promote health in the informal economy (street vendors, day laborers) where there is no formal "workplace" to intervene in?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KEY TERMS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31/34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Workplace Health Promotion (WHP):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Combined efforts of employers, workers, and society to improve health and well-being at work.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Presenteeism: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Being at work but functioning at reduced capacity due to illness or stress.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Psychosocial Hazards: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Aspects of job design and management that cause psychological or physical harm.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Demand-Control Model: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Karasek's theory linking high demands and low control to high job strain.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Effort-Reward Imbalance: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Siegrist's theory linking high effort and low reward to stress.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Psychological Safety: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belief that one can speak up without fear of punishment.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Burnout: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An occupational phenomenon characterized by exhaustion, cynicism, and reduced efficacy.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Karasek, R., &amp; Theorell, T. (1990). Healthy Work: Stress, Productivity, and the Reconstruction of Working Life. Basic Books.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World Health Organization. (2010). Healthy Workplaces: A Model for Action.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Why read this?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Karasek's book is the definitive text on how job design impacts cardiovascular health and mental well-being.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WHO Model for Action provides the exact blueprint for designing a comprehensive, multi-level WHP program for your Final Report.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Essential for shifting your perspective from "employee wellness" to "organizational health."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NEXT WEEK'S TEASER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 9: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Substance-Use and Mental Health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Moving from the setting of work to the complex intersection of mental health and substance use.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Deconstructing the "War on Drugs" and the shift toward Harm Reduction.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Understanding addiction as a response to trauma and social dislocation, not a moral failing.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Designing compassionate, evidence-based mental health promotion programs.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Action Item: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Look at your own workplace or university environment. Identify one psychosocial hazard and one physical hazard. Think about how you would redesign the environment to mitigate them.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See you next week.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Work is a fundamental determinant of health. Let's make it a healthy one.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Contact: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Email: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[Professor's Email]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Office Hours: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[Time/Location]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Quote to leave you with: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"Choose a job you love, and you will never have to work a day in your life. But ensure the job is designed to protect your health, or you won't have a life left to enjoy."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Have a great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Work-place Health Promotion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