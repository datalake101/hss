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Instructions for the First Part of the Report - The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and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5: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Instructions for the First Part of the Report - The Diagnosis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Instructor: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Prof. [Your Name]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problem well-stated is a problem half-solved. In public health, a problem poorly diagnosed is a community poorly 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WELCOME AND LECTURE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Transitioning from Theory to Practice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Over the last four weeks, we have built your theoretical toolkit.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Today, we apply these tools to your primary assessment: The Health Promotion Report.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Objectives for today: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1. Understand the structure and purpose of the two-part report.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1">
                <a:solidFill>
                  <a:srgbClr val="952210"/>
                </a:solidFill>
                <a:latin typeface="Segoe UI"/>
              </a:rPr>
              <a:t>2. Master the requirements for Part 1:  </a:t>
            </a:r>
            <a:r>
              <a:rPr sz="1550" b="0">
                <a:solidFill>
                  <a:srgbClr val="373D42"/>
                </a:solidFill>
                <a:latin typeface="Segoe UI"/>
              </a:rPr>
              <a:t>The Needs Assessment and Diagnosis.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3. Learn how to select a viable target population and health issue.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4. Apply Phases 1, 2, and 3 of the PRECEDE-PROCEED model to your writing.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5. Avoid the most common pitfalls that cost students top marks.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550" b="0">
                <a:solidFill>
                  <a:srgbClr val="373D42"/>
                </a:solidFill>
                <a:latin typeface="Segoe UI"/>
              </a:rPr>
              <a:t>While this is an assignment instruction lecture, the skills you learn today (needs assessment, data synthesis, theoretical alignment) are exactly what you will be tested on in your final case-study exam.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ARCHITECTURE OF THE FINAL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Simulated Grant Proposal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are stepping into the role of a Lead Health Promoter applying for funding.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report is divided into two distinct parts to mirror real-world project management.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Part 1 (Due Week 5):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Diagnosis and Theoretical Framework. (Why is this a problem, and what drives it?)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Part 2 (Due Week 12):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Intervention, Implementation, and Evaluation Plan. (What are we going to do about it, and how will we measure success?)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cannot design a solution (Part 2) until you have rigorously proven and diagnosed the problem (Part 1).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SPLIT THE REPORT INTO TWO PARTS?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Danger of Premature Solutions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 the real world, public health professionals often rush to implement a "pet solution" (e.g., "Let's build an app!") before understanding the community.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By forcing you to submit Part 1 first, I am forcing you to sit with the data, listen to the community, and map the theoretical drivers of the issue.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will receive feedback on Part 1. You must use this feedback to refine your diagnosis before designing your intervention in Part 2.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your Part 1 diagnosis is flawed, your Part 2 intervention will fail.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PART 1 FOCUS - THE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Phases 1, 2, and 3 of PRECEDE-PROCEED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Part 1 is strictly limited to the diagnostic phases.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Assessment (Quality of Life).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Epidemiological Assessment (Health Goals).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Educational and Ecological Assessment (Predisposing, Enabling, Reinforcing factors).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are not allowed to propose your final intervention in Part 1. You are only allowed to identify the targets for change.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Part 1 is the "detective work." Part 2 is the "treatment plan."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SELECTING YOUR TARGET POPULATION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Are You Trying to Help?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target population must be specific, defined, and accessible.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"Adults in the country." (Too broad, impossible to tailor).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"People who are sick." (Not a demographic).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Good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"First-generation immigrant women aged 30 to 50 living in the [Specific] urban district."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Good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"Shift-workers at the [Specific] regional manufacturing plant."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must be able to describe their daily lived reality, their socioeconomic status, and their cultural context.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SELECTING YOUR HEALTH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is the Specific Burden?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health issue must be directly linked to the target population's quality of life.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must be a public health issue, not purely a clinical one.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"Curing rare genetic mutations." (Clinical/genetic, not suitable for health promotion).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Good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"High rates of unmanaged Type 2 Diabetes leading to preventable ER visits."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Good 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"Elevated rates of burnout and depressive symptoms among nursing staff."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issue must be influenced by behavioral, environmental, or social determinants.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GOLDILOCKS RULE OF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Too Broad, Not Too Narrow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Too Broad: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"Ending childhood obesity in the nation." (You cannot solve this in a single report; the drivers are too vast).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Too Narrow: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"Convincing one specific teenager to eat an apple." (Not a public health issue).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Just Right: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"Reducing the consumption of sugar-sweetened beverages among middle school students in [Specific] low-income district."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scope must be narrow enough to allow for a deep, rigorous PRECEDE-PROCEED analysis, but broad enough to represent a genuine community health burden.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PHASE 1 - SOCIAL ASSESSMENT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Defining the Community's Priorities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report must begin by establishing the social context of your target population.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are their primary social concerns? (e.g., housing insecurity, unemployment, crime, lack of transit, social isolation).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does the health issue you selected impact these social concerns?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your population is elderly immigrants, their primary social concern might be "isolation and loss of independence." Your health issue (e.g., fall risk) must be framed as a barrier to their social goal of independent living.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WHERE TO FIND SOCIAL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Beyond Anecdotes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cannot rely on assumptions or stereotypes about your target population.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census data, municipal reports, local NGO needs assessments, and qualitative community surveys.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Look for data 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Income distribution, educational attainment, housing quality, employment rates, and community infrastructure.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Pro Tip: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Quote local community leaders or published qualitative studies to capture the "voice" and lived experience of the population.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PHASE 2 - EPIDEMIOLOGICAL ASSESSMENT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Quantifying the Health Burden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Now, narrow the social goals down to specific health outcomes.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must provide hard epidemiological data proving the problem exists and is severe.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Metrics to include: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Prevalence, incidence, mortality rates, morbidity rates, and Disability-Adjusted Life Years (DALYs).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Disaggregate the data: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not just give national averages. Show how the rates in your specific target population compare to the general population to highlight health inequities.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WHERE TO FIND EPIDEMIOLOGICAL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Gold Standard Sources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National and local health departments (e.g., CDC, WHO, Ministry of Health).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Peer-reviewed epidemiological journals.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Disease-specific registries (e.g., Cancer Registries, Diabetes Surveillance Systems).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Burden of Disease (GBD) study data.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claim about the severity of the health issue must be backed by a credible, recent, and citable statistic.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WRITING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Core of Part 1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By the end of Phase 2, you must write a formal Problem Statement.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Formula: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[Target Population] experiences a disproportionate burden of [Health Issue], as evidenced by [Statistic], which negatively impacts their [Social Goal/Quality of Life].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"Shift-workers at the regional plant experience a 30 percent higher rate of cardiovascular disease compared to day-workers, severely impacting their economic stability and family well-being."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statement acts as the anchor for the rest of your report.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PHASE 3 - BEHAVIORAL AND ENVIRONMENTAL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Bridge to Intervention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Phase 3 is the most critical section for your grade.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must identify the specific behaviors and environmental conditions that cause the health issue identified in Phase 2.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Behavioral Factors: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are the people doing (or not doing) that increases their risk? (e.g., smoking, sedentary lifestyle, skipping medication).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Environmental Factors: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is happening in their physical, social, or economic environment that drives the health issue? (e.g., food deserts, toxic workplace culture, lack of green space).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DISTINGUISHING BEHAVIOR FROM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Common Student Error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Students often confuse the two or blame the individual for environmental failures.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"The behavior is eating fast food."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Correction: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Eating fast food is the behavior. But WHY are they doing it? If they live in a food desert and work two jobs, the ENVIRONMENTAL factors are lack of grocery stores and lack of time.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intervention will eventually target the environment, not just the behavior. You must map both accurately.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PREDISPOSING FACTORS - THE LITERATURE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Mapping the Mind and Beliefs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knowledge, attitudes, beliefs, and values drive the target behaviors?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the Health Belief Model (HBM) constructs here.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they lack knowledge about the disease? (Knowledge)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they believe the disease is inevitable? (Perceived Susceptibility/Severity)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they lack confidence in their ability to change? (Self-Efficacy)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must cite peer-reviewed literature proving that these specific predisposing factors are present in your target population.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ENABLING FACTORS - THE LITERATURE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Mapping the Resources and Barriers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skills, resources, or systemic barriers allow or prevent the behavior?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the Social Ecological Model (SEM) here (Institutional, Community, Policy levels).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they lack the financial resources to buy healthy food? (Economic barrier)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the clinic only open during their working hours? (Structural barrier)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they lack the physical skills to cook from scratch? (Skill deficit)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Enabling factors are usually the most powerful leverage points for health promotion.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REINFORCING FACTORS - THE LITERATURE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Mapping the Social Feedback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rewards or punishments follow the behavior?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influences the target population? (Family, peers, bosses, media).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 teenager tries to quit vaping, do their friends support them or mock them? (Peer reinforcement).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 worker takes a mental health day, does the manager praise them or penalize them? (Organizational reinforcement).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Cite sociological or psychological studies that map the social networks and norms of your population.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BUILDING THE CONCEPTUAL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Visualizing Your Diagnosis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Part 1 must include a visual diagram (a Conceptual Framework or Logic Model of the problem).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diagram should visually map the flow from Social Goals -&gt; Health Issue -&gt; Behaviors/Environments -&gt; Predisposing/Enabling/Reinforcing Factors.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proves to the grader that you understand how all the theoretical pieces connect logically.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messy or illogical diagram indicates a flawed diagnosis.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ROLE OF THE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Just a Summary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literature review in Part 1 is not a book report. It is an evidence-gathering mission.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are reviewing the literature to answer one question: "What does the scientific evidence say drives this health issue in this specific type of population?"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factor you list in Phase 3 (Predisposing, Enabling, Reinforcing) must be justified by at least two high-quality, peer-reviewed citations.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SYNTHESIZING VS. SUMMARIZING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to Write Like a Scholar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Summarizing (Bad):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"Smith (2019) found that poverty causes stress. Jones (2020) found that stress causes heart disease."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Synthesizing (Good):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"The pathway from economic disadvantage to cardiovascular risk is heavily mediated by chronic allostatic load, as demonstrated by both Smith (2019) and Jones (2020), suggesting that enabling financial resources is a critical upstream intervention."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Group your citations by theoretical themes (e.g., "Barriers to Access," "Cultural Beliefs"), not by author.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FOOD FOR THOUGHT - POSITIONALITY AND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is Doing the Diagnosing?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 a health promoter, you hold power. You are defining what is "normal" and what is "pathological" in a community.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Question: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does your own background (class, race, education, health status) bias your perception of the community's needs?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you are an outsider to the community, how are you ensuring that your "diagnosis" reflects their actual lived reality and not your own stereotypes?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Reflection: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True needs assessments require humility and a willingness to be corrected by the community.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EPISTEMIC INJUSTICE IN NEEDS ASSESSMENTS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Whose Data Counts?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 Lecture 2, we discussed Epistemic Injustice (wronging someone in their capacity as a knower).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conducting your Phase 1 Social Assessment, are you only looking at quantitative government data?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Government data often misses marginalized groups (e.g., undocumented immigrants, homeless populations).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must actively seek out qualitative data, community narratives, and grassroots reports to avoid committing hermeneutical injustice against your target population.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PITFALL 1 - THE PET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Jumping to Conclusions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most common reason students lose points in Part 1 is proposing the solution before finishing the diagnosis.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student wants to build a community garden. They choose "obesity" as their topic, and then manipulate the Phase 3 data to make it look like a lack of gardening is the primary cause of obesity.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intellectually dishonest and leads to bad public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Let the data dictate the solution. Do not force the data to fit your favorite idea.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PITFALL 2 - THE DEFICIT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Ignoring Community Assets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"deficit narrative" focuses only on what a community lacks (disease, poverty, ignorance, bad habits).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demoralizing and ignores the community's resilience and existing strengths.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Asset-Based Community Development (ABCD):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Your Phase 1 and 3 assessments must also identify the community's existing assets (e.g., strong church networks, resilient cultural traditions, active local leaders).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assets will become the "Enabling" and "Reinforcing" factors you leverage in Part 2.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PITFALL 3 - THE DATA DUMP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Losing the Narrative Thread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not just paste pages of statistics and tables into your report.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Data without context is meaningless.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Every statistic you include must be explicitly tied back to the narrative of your target population and the specific health issue.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the "So What?" test. After every paragraph of data, ask yourself: "So what? Why does this matter to the problem statement?" If you cannot answer, delete the data.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ACADEMIC WRITING STANDARDS FOR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Professionalism and Clarity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Tone: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Objective, professional, empathetic, and analytical. Avoid emotional pleading or colloquialisms.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Structure: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clear headings aligned with the PRECEDE-PROCEED phases.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Formatting: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Follow the university guidelines strictly (font, margins, line spacing).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Proofreading: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Grammatical errors and typos signal a lack of attention to detail, which is a fatal flaw in public health planning.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CITATION AND EVIDENCE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Proving Your Claims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the required citation style (e.g., APA, Harvard) flawlessly.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Evidence Hierarchy: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Prioritize systematic reviews, meta-analyses, and peer-reviewed primary studies.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Grey Literature: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Government reports, WHO documents, and reputable NGO reports are acceptable for Phase 1 and 2 data, but Phase 3 theoretical drivers must be backed by peer-reviewed science.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not use Wikipedia, commercial blogs, or unverified news articles as sources.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PUZZLING QUESTIONS FOR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Ethics of the Needs Assessment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If the community's stated social priority (Phase 1) conflicts with the epidemiological data (Phase 2) - e.g., the community wants a new sports stadium, but the data shows a massive spike in infectious disease - whose priority should the health promoter follow?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How do we conduct a "needs assessment" without reducing a vibrant, complex human community to a list of medicalized deficits and risk factors?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If the literature review reveals that the only effective intervention is a massive wealth redistribution policy, but your funding agency only supports individual-level education, how do you write Part 1 ethically?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PART 1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Before You Submit, Verify: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my target population specific and clearly defined?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my health issue measurable and linked to social determinants?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I completed Phase 1 (Social) with community-level data?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I completed Phase 2 (Epidemiological) with hard health statistics?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I mapped Phase 3 (Predisposing, Enabling, Reinforcing) using theory?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every claim in Phase 3 backed by peer-reviewed literature?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my Problem Statement clear, concise, and compelling?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I avoided proposing the final intervention yet?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GRADING RUBRIC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You Will Be Evaluated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20 percent: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Clarity and justification of Target Population and Health Issue.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20 percent: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Depth and accuracy of Social and Epidemiological Assessments (Phases 1 and 2).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40 percent: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Rigor, theoretical alignment, and literature synthesis of the Educational/Ecological Assessment (Phase 3).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10 percent: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Quality of the Conceptual Framework diagram.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10 percent: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Academic writing, formatting, and citation accuracy.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bulk of your grade (40 percent) relies on your ability to correctly identify and justify the Predisposing, Enabling, and Reinforcing factors. Spend your time there.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Tools for Your Diagnosis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Green, L. W., &amp; Kreuter, M. W. (2005). Health program planning: An educational and ecological approach. (Chapters on assessment).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 Community Health Assessment Toolkit (Online resource for finding local data).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University Library Guides on Systematic Review and Evidence Synthesis.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Asset-Based Community Development (ABCD) Institute resources for identifying community strengths.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Action Item: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Bookmark your local government's open data portal today. You will need it for Phase 1 and 2.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NEXT WEEK - READING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Rest, Read, and Reflect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Next week is Reading Week. There are no formal lectures.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time is explicitly reserved for you to conduct your literature review and draft Part 1 of your report.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Use this time to read the further reading materials, synthesize your data, and build your conceptual framework.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My office hours will remain open for one-on-one consultations regarding your topic selection and problem statement. Book a slot early.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THANK YOU AND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Diagnose Deeply. Plan Wisely.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Contact: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Email: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[Professor's Email]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Office Hours: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[Time/Location]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Action Item for this week: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Submit your one-paragraph "Topic Proposal" (Target Population + Health Issue + Brief Problem Statement) to the online portal by Friday at 5 PM. I will review them and provide a quick "Go/No-Go" or pivot recommendation before you dive into the heavy research.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a productive Reading Week. I look forward to reading your diagnoses.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the First Part of the Report - The Diagnosis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