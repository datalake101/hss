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Substance-Use and Mental Health</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Course:  </a:t>
            </a:r>
            <a:r>
              <a:rPr sz="1800" b="0">
                <a:solidFill>
                  <a:srgbClr val="373D42"/>
                </a:solidFill>
                <a:latin typeface="Segoe UI"/>
              </a:rPr>
              <a:t>Health Promotion and Disease Prevention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Lecture 9:  </a:t>
            </a:r>
            <a:r>
              <a:rPr sz="1800" b="0">
                <a:solidFill>
                  <a:srgbClr val="373D42"/>
                </a:solidFill>
                <a:latin typeface="Segoe UI"/>
              </a:rPr>
              <a:t>Substance-Use and Mental Health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Instructor:  </a:t>
            </a:r>
            <a:r>
              <a:rPr sz="1800" b="0">
                <a:solidFill>
                  <a:srgbClr val="373D42"/>
                </a:solidFill>
                <a:latin typeface="Segoe UI"/>
              </a:rPr>
              <a:t>Prof. [Your Name]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Quote:  </a:t>
            </a:r>
            <a:r>
              <a:rPr sz="1800" b="0">
                <a:solidFill>
                  <a:srgbClr val="373D42"/>
                </a:solidFill>
                <a:latin typeface="Segoe UI"/>
              </a:rPr>
              <a:t>Addiction is not a disease of the brain, nor a failure of morality. It is a desperate attempt to solve the problem of human pain and social dislocation.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WELCOME AND LECTURE OBJECTIVES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The Intersection of Mind, Brain, and Society</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In previous lectures, we examined how environments and workplaces shape physical health.</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Today, we explore the deeply intertwined realms of mental health and substance use.</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Objectives for today:</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1. Understand the bidirectional relationship between mental health and substance use.</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2. Critique the historical Moral and Disease models of addiction.</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3. Master the philosophy and practice of Harm Reduction.</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4. Analyze the impact of structural stigma and the criminalization of health.</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5. Design mental health promotion programs that focus on environments, not just individuals.</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Exam Focus:  </a:t>
            </a:r>
            <a:r>
              <a:rPr sz="1550" b="0">
                <a:solidFill>
                  <a:srgbClr val="373D42"/>
                </a:solidFill>
                <a:latin typeface="Segoe UI"/>
              </a:rPr>
              <a:t>You must be able to argue why abstinence-only models often fail, and how to apply the Social Ecological Model to mental health promotion.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DUAL REALITY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Mental Health and Substance Use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Mental health conditions and substance use disorders rarely exist in isolation.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Dual Diagnosis (Co-occurring Disorders):  </a:t>
            </a:r>
            <a:r>
              <a:rPr sz="1800" b="0">
                <a:solidFill>
                  <a:srgbClr val="373D42"/>
                </a:solidFill>
                <a:latin typeface="Segoe UI"/>
              </a:rPr>
              <a:t>When a person experiences both a mental health condition and a substance use disorder simultaneously.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Bidirectional Relationship:</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Mental distress can lead to substance use as a coping mechanism (self-medication).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Chronic substance use can alter brain chemistry and trigger or exacerbate mental health conditions.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Public health systems historically treated these in separate, disconnected silos, leading to high rates of treatment failure and relapse.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DEFINING MENTAL HEALTH</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4/34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Beyond the Absence of Illness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WHO defines mental health as a state of mental well-being that enables people to cope with the stresses of life, realize their abilities, learn well and work well, and contribute to their community.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Mental health is not merely the absence of depression, anxiety, or schizophrenia.</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is a fundamental component of overall health and a critical resource for living (Salutogenesis).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person can have a diagnosed mental illness but experience high mental well-being and functioning, just as a person can have no diagnosis but experience poor mental well-being.</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SOCIAL DETERMINANTS OF MENTAL HEALTH</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5/34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Mental health is deeply embedded in social, economic, and environmental conditions.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Key Determinants: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Economic security and poverty (financial stress is a primary driver of anxiety and depression).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Housing stability and neighborhood safety.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Social inclusion and freedom from discrimination (racism, homophobia, ableism).</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Early childhood adversity and trauma.</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You cannot therapy your way out of poverty or systemic oppression. Mental health promotion must address these upstream social determinants.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DEFINING SUBSTANCE USE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6/34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Spectrum of Behaviors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Substance use is not a binary of "user" versus "addict." It exists on a broad continuum.</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Beneficial/Neutral Use:  </a:t>
            </a:r>
            <a:r>
              <a:rPr sz="1800" b="0">
                <a:solidFill>
                  <a:srgbClr val="373D42"/>
                </a:solidFill>
                <a:latin typeface="Segoe UI"/>
              </a:rPr>
              <a:t>Caffeine for alertness, a glass of wine for social relaxation, prescribed pain management.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Risky/Hazardous Use:  </a:t>
            </a:r>
            <a:r>
              <a:rPr sz="1800" b="0">
                <a:solidFill>
                  <a:srgbClr val="373D42"/>
                </a:solidFill>
                <a:latin typeface="Segoe UI"/>
              </a:rPr>
              <a:t>Patterns of use that increase the risk of future health or social problems.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Harmful Use:  </a:t>
            </a:r>
            <a:r>
              <a:rPr sz="1800" b="0">
                <a:solidFill>
                  <a:srgbClr val="373D42"/>
                </a:solidFill>
                <a:latin typeface="Segoe UI"/>
              </a:rPr>
              <a:t>Use that is already causing physical, psychological, or social damage.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Dependence/Addiction:  </a:t>
            </a:r>
            <a:r>
              <a:rPr sz="1800" b="0">
                <a:solidFill>
                  <a:srgbClr val="373D42"/>
                </a:solidFill>
                <a:latin typeface="Segoe UI"/>
              </a:rPr>
              <a:t>A complex condition characterized by compulsive use despite harmful consequences, accompanied by physiological tolerance and withdrawal.</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MORAL MODEL OF ADDICTION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7/34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Historically, substance misuse was viewed through a Moral Model.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Premise:  </a:t>
            </a:r>
            <a:r>
              <a:rPr sz="1800" b="0">
                <a:solidFill>
                  <a:srgbClr val="373D42"/>
                </a:solidFill>
                <a:latin typeface="Segoe UI"/>
              </a:rPr>
              <a:t>Addiction is a personal choice, a character flaw, a lack of willpower, or a spiritual failing.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Intervention:  </a:t>
            </a:r>
            <a:r>
              <a:rPr sz="1800" b="0">
                <a:solidFill>
                  <a:srgbClr val="373D42"/>
                </a:solidFill>
                <a:latin typeface="Segoe UI"/>
              </a:rPr>
              <a:t>Punishment, incarceration, forced labor, and moral exhortation to "just say no."</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Public Health Critique:  </a:t>
            </a:r>
            <a:r>
              <a:rPr sz="1800" b="0">
                <a:solidFill>
                  <a:srgbClr val="373D42"/>
                </a:solidFill>
                <a:latin typeface="Segoe UI"/>
              </a:rPr>
              <a:t>The moral model is scientifically baseless and highly destructive. It generates immense stigma, drives people away from seeking help, and justifies the criminalization of health behaviors.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DISEASE MODEL OF ADDICTION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8/34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Emerging in the mid-20th century as a reaction against the Moral Model.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Premise:  </a:t>
            </a:r>
            <a:r>
              <a:rPr sz="1800" b="0">
                <a:solidFill>
                  <a:srgbClr val="373D42"/>
                </a:solidFill>
                <a:latin typeface="Segoe UI"/>
              </a:rPr>
              <a:t>Addiction is a chronic, relapsing brain disease. Substances hijack the brain's reward circuitry (dopamine pathways), stripping the individual of their free will and control.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Intervention:  </a:t>
            </a:r>
            <a:r>
              <a:rPr sz="1800" b="0">
                <a:solidFill>
                  <a:srgbClr val="373D42"/>
                </a:solidFill>
                <a:latin typeface="Segoe UI"/>
              </a:rPr>
              <a:t>Medical treatment, pharmacotherapy, and total abstinence (e.g., the 12-Step model).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Benefit:  </a:t>
            </a:r>
            <a:r>
              <a:rPr sz="1800" b="0">
                <a:solidFill>
                  <a:srgbClr val="373D42"/>
                </a:solidFill>
                <a:latin typeface="Segoe UI"/>
              </a:rPr>
              <a:t>It shifted the blame from "bad character" to "biology," increasing empathy and funding for medical treatment.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CRITIQUES OF THE DISEASE MODEL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9/34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While an improvement over the Moral Model, the Disease Model has significant limitations.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Loss of Agency:  </a:t>
            </a:r>
            <a:r>
              <a:rPr sz="1800" b="0">
                <a:solidFill>
                  <a:srgbClr val="373D42"/>
                </a:solidFill>
                <a:latin typeface="Segoe UI"/>
              </a:rPr>
              <a:t>It can foster fatalism, convincing individuals they are permanently broken and powerless against the "disease."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Neurobiological Reductionism:  </a:t>
            </a:r>
            <a:r>
              <a:rPr sz="1800" b="0">
                <a:solidFill>
                  <a:srgbClr val="373D42"/>
                </a:solidFill>
                <a:latin typeface="Segoe UI"/>
              </a:rPr>
              <a:t>It reduces complex human suffering, trauma, and social marginalization to mere dopamine receptor malfunctions.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Abstinence Trap:  </a:t>
            </a:r>
            <a:r>
              <a:rPr sz="1800" b="0">
                <a:solidFill>
                  <a:srgbClr val="373D42"/>
                </a:solidFill>
                <a:latin typeface="Segoe UI"/>
              </a:rPr>
              <a:t>By defining addiction as an incurable disease requiring total abstinence, it labels any relapse as a "treatment failure," often resulting in patients being expelled from care.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RAT PARK EXPERIMENT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10/34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Challenging the Biological Hijack Theory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 the 1970s, psychologist Bruce Alexander noticed that lab rats kept in isolated cages would consume drugs (like morphine) until they died.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He built "Rat Park":  </a:t>
            </a:r>
            <a:r>
              <a:rPr sz="1800" b="0">
                <a:solidFill>
                  <a:srgbClr val="373D42"/>
                </a:solidFill>
                <a:latin typeface="Segoe UI"/>
              </a:rPr>
              <a:t>A massive, enriched enclosure with other rats, toys, mating opportunities, and space to roam.</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Result:  </a:t>
            </a:r>
            <a:r>
              <a:rPr sz="1800" b="0">
                <a:solidFill>
                  <a:srgbClr val="373D42"/>
                </a:solidFill>
                <a:latin typeface="Segoe UI"/>
              </a:rPr>
              <a:t>The rats in Rat Park largely ignored the drug-laced water, even when they were physically dependent on it.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Addiction is not just about the chemical hook; it is profoundly driven by the environment. The opposite of addiction is not sobriety; the opposite of addiction is connection.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TRAUMA AND ADDICTION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11/34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Painkiller Hypothesis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Dr. Gabor Maté and other trauma experts argue that addiction is a response to profound emotional pain.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Question is not "Why the addiction?" but "Why the pain?"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Substance use often begins as a highly effective, immediate coping mechanism for unresolved childhood trauma, abuse, neglect, or systemic marginalization.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substance provides temporary relief from the unbearable psychological distress of a dysregulated nervous system.</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HP Application:  </a:t>
            </a:r>
            <a:r>
              <a:rPr sz="1800" b="0">
                <a:solidFill>
                  <a:srgbClr val="373D42"/>
                </a:solidFill>
                <a:latin typeface="Segoe UI"/>
              </a:rPr>
              <a:t>Effective treatment must be Trauma-Informed, focusing on healing the underlying wound rather than just punishing the coping mechanism.</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HARM REDUCTION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Paradigm Shift in Public Health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Harm Reduction is a set of practical strategies and ideas aimed at reducing negative consequences associated with drug use.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Core Philosophy:  </a:t>
            </a:r>
            <a:r>
              <a:rPr sz="1800" b="0">
                <a:solidFill>
                  <a:srgbClr val="373D42"/>
                </a:solidFill>
                <a:latin typeface="Segoe UI"/>
              </a:rPr>
              <a:t>It meets people "where they are at" without requiring abstinence as a precondition for support.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recognizes that substance use is a complex, multi-faceted phenomenon and that some people will continue to use substances despite the risks.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Goal:  </a:t>
            </a:r>
            <a:r>
              <a:rPr sz="1800" b="0">
                <a:solidFill>
                  <a:srgbClr val="373D42"/>
                </a:solidFill>
                <a:latin typeface="Segoe UI"/>
              </a:rPr>
              <a:t>Minimize death, disease, and injury, while maximizing human rights and dignity.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HARM REDUCTION VS. ABSTINENCE-ONLY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Abstinence-Only:  </a:t>
            </a:r>
            <a:r>
              <a:rPr sz="1800" b="0">
                <a:solidFill>
                  <a:srgbClr val="373D42"/>
                </a:solidFill>
                <a:latin typeface="Segoe UI"/>
              </a:rPr>
              <a:t>The sole acceptable outcome is zero substance use. If a patient continues to use, they are often discharged from the program.</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Harm Reduction:  </a:t>
            </a:r>
            <a:r>
              <a:rPr sz="1800" b="0">
                <a:solidFill>
                  <a:srgbClr val="373D42"/>
                </a:solidFill>
                <a:latin typeface="Segoe UI"/>
              </a:rPr>
              <a:t>Acknowledges that incremental improvements in health and safety are valuable.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a:t>
            </a:r>
            <a:r>
              <a:rPr sz="1800" b="0">
                <a:solidFill>
                  <a:srgbClr val="373D42"/>
                </a:solidFill>
                <a:latin typeface="Segoe UI"/>
              </a:rPr>
              <a:t>If a person cannot stop drinking alcohol, helping them switch to a lower-alcohol beverage, ensuring they eat while drinking, and preventing them from driving is a massive public health victory.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Harm reduction does not exclude abstinence; it simply does not mandate it as the only gateway to receiving care.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PILLARS OF HARM REDUCTION IN PRACTICE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14/34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Naloxone (Narcan) Distribution:  </a:t>
            </a:r>
            <a:r>
              <a:rPr sz="1800" b="0">
                <a:solidFill>
                  <a:srgbClr val="373D42"/>
                </a:solidFill>
                <a:latin typeface="Segoe UI"/>
              </a:rPr>
              <a:t>Equipping laypeople and users with the antidote to reverse opioid overdoses instantly.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Needle and Syringe Programs (NSPs):  </a:t>
            </a:r>
            <a:r>
              <a:rPr sz="1800" b="0">
                <a:solidFill>
                  <a:srgbClr val="373D42"/>
                </a:solidFill>
                <a:latin typeface="Segoe UI"/>
              </a:rPr>
              <a:t>Providing sterile injecting equipment to prevent the transmission of HIV and Hepatitis C.</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Supervised Consumption Sites (SCS):  </a:t>
            </a:r>
            <a:r>
              <a:rPr sz="1800" b="0">
                <a:solidFill>
                  <a:srgbClr val="373D42"/>
                </a:solidFill>
                <a:latin typeface="Segoe UI"/>
              </a:rPr>
              <a:t>Medically supervised facilities where people can consume pre-obtained drugs safely, preventing fatal overdoses and connecting users to social services.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Opioid Agonist Therapy (OAT):  </a:t>
            </a:r>
            <a:r>
              <a:rPr sz="1800" b="0">
                <a:solidFill>
                  <a:srgbClr val="373D42"/>
                </a:solidFill>
                <a:latin typeface="Segoe UI"/>
              </a:rPr>
              <a:t>Providing regulated, long-acting medications (like methadone or buprenorphine) to stabilize brain chemistry and reduce cravings.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"WAR ON DRUGS" AS A PUBLIC HEALTH FAILURE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15/34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Initiated globally in the late 20th century, focusing on eradication, interdiction, and criminalization.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Results: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Drug availability has increased, and purity has gone up, while prices have plummeted.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Mass incarceration has devastated marginalized communities.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illicit market fuels violence, cartels, and unregulated, highly toxic drug supplies (e.g., fentanyl poisoning).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The War on Drugs is widely recognized by public health scholars as a catastrophic failure that exacerbated the very harms it claimed to prevent.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STRUCTURAL VIOLENCE AND CRIMINALIZATION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16/34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Criminalizing substance use is a form of structural violence.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criminal record creates lifelong barriers to housing, employment, education, and travel.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This systemic exclusion guarantees poverty and social marginalization, which are the exact drivers of continued substance use.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Irony:  </a:t>
            </a:r>
            <a:r>
              <a:rPr sz="1800" b="0">
                <a:solidFill>
                  <a:srgbClr val="373D42"/>
                </a:solidFill>
                <a:latin typeface="Segoe UI"/>
              </a:rPr>
              <a:t>The "cure" (incarceration and a criminal record) is often far more damaging to a person's life trajectory and social determinants of health than the substance use itself.</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DECRIMINALIZATION VS. LEGALIZATION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17/34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Decriminalization:  </a:t>
            </a:r>
            <a:r>
              <a:rPr sz="1800" b="0">
                <a:solidFill>
                  <a:srgbClr val="373D42"/>
                </a:solidFill>
                <a:latin typeface="Segoe UI"/>
              </a:rPr>
              <a:t>Removing criminal penalties for personal possession and use. The substance remains illegal to produce and sell, but users are diverted to health and social services instead of prison. (e.g., The Portuguese Model).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Legalization and Regulation:  </a:t>
            </a:r>
            <a:r>
              <a:rPr sz="1800" b="0">
                <a:solidFill>
                  <a:srgbClr val="373D42"/>
                </a:solidFill>
                <a:latin typeface="Segoe UI"/>
              </a:rPr>
              <a:t>The government takes control of the supply chain, regulating production, quality, potency, and sales (e.g., Cannabis in Canada).</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Public Health Argument:  </a:t>
            </a:r>
            <a:r>
              <a:rPr sz="1800" b="0">
                <a:solidFill>
                  <a:srgbClr val="373D42"/>
                </a:solidFill>
                <a:latin typeface="Segoe UI"/>
              </a:rPr>
              <a:t>Regulation destroys the toxic illicit market, ensures product safety, restricts youth access, and generates tax revenue for health programs.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MENTAL HEALTH PROMOTION VS. ILLNESS PREVENTION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18/34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Mental Illness Prevention:  </a:t>
            </a:r>
            <a:r>
              <a:rPr sz="1800" b="0">
                <a:solidFill>
                  <a:srgbClr val="373D42"/>
                </a:solidFill>
                <a:latin typeface="Segoe UI"/>
              </a:rPr>
              <a:t>Targeting specific risk factors to stop the onset of conditions like depression or schizophrenia (e.g., anti-bullying programs, early psychosis intervention).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Mental Health Promotion:  </a:t>
            </a:r>
            <a:r>
              <a:rPr sz="1800" b="0">
                <a:solidFill>
                  <a:srgbClr val="373D42"/>
                </a:solidFill>
                <a:latin typeface="Segoe UI"/>
              </a:rPr>
              <a:t>Enhancing the capacity of individuals and communities to achieve psychological well-being and resilience.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Promotion Strategies:  </a:t>
            </a:r>
            <a:r>
              <a:rPr sz="1800" b="0">
                <a:solidFill>
                  <a:srgbClr val="373D42"/>
                </a:solidFill>
                <a:latin typeface="Segoe UI"/>
              </a:rPr>
              <a:t>Fostering social connectedness, teaching emotional regulation in schools, creating green spaces, and ensuring economic security.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Promotion builds the immune system of the mind; prevention builds a shield against specific pathogens.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SETTINGS FOR MENTAL HEALTH PROMOTION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19/34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Schools:  </a:t>
            </a:r>
            <a:r>
              <a:rPr sz="1800" b="0">
                <a:solidFill>
                  <a:srgbClr val="373D42"/>
                </a:solidFill>
                <a:latin typeface="Segoe UI"/>
              </a:rPr>
              <a:t>Implementing Social and Emotional Learning (SEL) curricula, reducing academic hyper-competitiveness, and training teachers in trauma-informed care.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Workplaces:  </a:t>
            </a:r>
            <a:r>
              <a:rPr sz="1800" b="0">
                <a:solidFill>
                  <a:srgbClr val="373D42"/>
                </a:solidFill>
                <a:latin typeface="Segoe UI"/>
              </a:rPr>
              <a:t>Designing jobs with high autonomy, enforcing the right to disconnect, and eliminating toxic management practices (as discussed in Lecture 8).</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Communities:  </a:t>
            </a:r>
            <a:r>
              <a:rPr sz="1800" b="0">
                <a:solidFill>
                  <a:srgbClr val="373D42"/>
                </a:solidFill>
                <a:latin typeface="Segoe UI"/>
              </a:rPr>
              <a:t>Building "third places" (libraries, parks, community centers) where people can gather without the expectation of spending money, combating the epidemic of loneliness.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STIGMA</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20/34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Ultimate Barrier to Care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Stigma is a social construct that devalues and discredits individuals who possess a specific characteristic or identity.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 mental health and substance use, stigma is often more debilitating than the condition itself.</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prevents people from seeking help, causes healthcare providers to offer substandard care, and influences politicians to underfund services.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You can build a state-of-the-art mental health clinic, but if stigma prevents the community from walking through the door, the clinic is useless.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THREE TYPES OF STIGMA</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21/34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1. Public Stigma:  </a:t>
            </a:r>
            <a:r>
              <a:rPr sz="1800" b="0">
                <a:solidFill>
                  <a:srgbClr val="373D42"/>
                </a:solidFill>
                <a:latin typeface="Segoe UI"/>
              </a:rPr>
              <a:t>The negative attitudes and discriminatory behaviors of the general public (e.g., landlords refusing to rent to someone with a history of schizophrenia).</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2. Self-Stigma (Internalized Stigma):  </a:t>
            </a:r>
            <a:r>
              <a:rPr sz="1800" b="0">
                <a:solidFill>
                  <a:srgbClr val="373D42"/>
                </a:solidFill>
                <a:latin typeface="Segoe UI"/>
              </a:rPr>
              <a:t>When the individual absorbs societal prejudices, leading to profound shame, low self-efficacy, and a belief that they do not deserve recovery.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3. Structural Stigma:  </a:t>
            </a:r>
            <a:r>
              <a:rPr sz="1800" b="0">
                <a:solidFill>
                  <a:srgbClr val="373D42"/>
                </a:solidFill>
                <a:latin typeface="Segoe UI"/>
              </a:rPr>
              <a:t>Institutional policies and laws that intentionally or unintentionally restrict the rights and opportunities of people with mental illness or addiction (e.g., lower insurance reimbursement rates for addiction treatment).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ERVING GOFFMAN AND THE "SPOILED IDENTITY"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Sociologist Erving Goffman defined stigma as an "attribute that is deeply discrediting," reducing the bearer from a whole and usual person to a tainted, discounted one.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He identified the concept of "passing" and "covering," where individuals expend massive amounts of cognitive and emotional energy trying to hide their condition from society.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This constant vigilance creates chronic stress and allostatic load, directly worsening the very mental health condition they are trying to hide.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ANTI-STIGMA CAMPAIGNS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What Works and What Harms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What Harms:  </a:t>
            </a:r>
            <a:r>
              <a:rPr sz="1800" b="0">
                <a:solidFill>
                  <a:srgbClr val="373D42"/>
                </a:solidFill>
                <a:latin typeface="Segoe UI"/>
              </a:rPr>
              <a:t>Campaigns that rely on fear, pity, or the "Supercrip" narrative (e.g., showing a person with depression looking tragically out a rainy window, or celebrating someone who "beat" addiction by climbing a mountain).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What Works:  </a:t>
            </a:r>
            <a:r>
              <a:rPr sz="1800" b="0">
                <a:solidFill>
                  <a:srgbClr val="373D42"/>
                </a:solidFill>
                <a:latin typeface="Segoe UI"/>
              </a:rPr>
              <a:t>Contact-based interventions. Research consistently shows that the most effective way to reduce stigma is through structured, positive contact with individuals who have lived experience and are managing their conditions successfully.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Language Matters:  </a:t>
            </a:r>
            <a:r>
              <a:rPr sz="1800" b="0">
                <a:solidFill>
                  <a:srgbClr val="373D42"/>
                </a:solidFill>
                <a:latin typeface="Segoe UI"/>
              </a:rPr>
              <a:t>Shifting from "addict" or "schizophrenic" (identity-defining) to "person with a substance use disorder" or "person experiencing schizophrenia" (person-first language).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FOOD FOR THOUGHT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24/34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Medicalization of Normal Emotions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As discussed in Lecture 2, we must ask if we are medicalizing normal human distress.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 a world characterized by climate crisis, economic inequality, and social isolation, is feeling deeply anxious and depressed a "brain disorder," or is it a rational, proportional response to a sick society?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If we treat societal distress solely with psychiatric medication, do we risk sedating the population and preventing the collective action needed to fix the underlying social determinants?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ROLE OF PEER SUPPORT AND LIVED EXPERIENCE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25/34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Traditional healthcare relies on the hierarchy of the credentialed expert (doctor) treating the passive patient.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Peer Support Workers are individuals with lived experience of mental illness or substance use who are trained to support others on their recovery journey.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Benefits:  </a:t>
            </a:r>
            <a:r>
              <a:rPr sz="1800" b="0">
                <a:solidFill>
                  <a:srgbClr val="373D42"/>
                </a:solidFill>
                <a:latin typeface="Segoe UI"/>
              </a:rPr>
              <a:t>They bridge the gap of trust, reduce self-stigma, provide hope through role-modeling, and offer practical, street-level coping strategies that clinical textbooks do not teach.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HP Application:  </a:t>
            </a:r>
            <a:r>
              <a:rPr sz="1800" b="0">
                <a:solidFill>
                  <a:srgbClr val="373D42"/>
                </a:solidFill>
                <a:latin typeface="Segoe UI"/>
              </a:rPr>
              <a:t>Any mental health or addiction program that excludes people with lived experience from its design and delivery is fundamentally flawed.</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APPLYING PRECEDE-PROCEED TO SUBSTANCE USE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26/34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Phase 1 (Social):  </a:t>
            </a:r>
            <a:r>
              <a:rPr sz="1800" b="0">
                <a:solidFill>
                  <a:srgbClr val="373D42"/>
                </a:solidFill>
                <a:latin typeface="Segoe UI"/>
              </a:rPr>
              <a:t>The community desires safety, connection, and economic opportunity.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Phase 2 (Epidemiological):  </a:t>
            </a:r>
            <a:r>
              <a:rPr sz="1800" b="0">
                <a:solidFill>
                  <a:srgbClr val="373D42"/>
                </a:solidFill>
                <a:latin typeface="Segoe UI"/>
              </a:rPr>
              <a:t>High rates of fatal opioid overdoses and Hepatitis C.</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Phase 3 (Educational/Ecological):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Predisposing:  </a:t>
            </a:r>
            <a:r>
              <a:rPr sz="1800" b="0">
                <a:solidFill>
                  <a:srgbClr val="373D42"/>
                </a:solidFill>
                <a:latin typeface="Segoe UI"/>
              </a:rPr>
              <a:t>Belief that asking for help will result in arrest or loss of child custody.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Enabling:  </a:t>
            </a:r>
            <a:r>
              <a:rPr sz="1800" b="0">
                <a:solidFill>
                  <a:srgbClr val="373D42"/>
                </a:solidFill>
                <a:latin typeface="Segoe UI"/>
              </a:rPr>
              <a:t>Lack of local Opioid Agonist Therapy clinics; strict abstinence-only shelter rules.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Reinforcing:  </a:t>
            </a:r>
            <a:r>
              <a:rPr sz="1800" b="0">
                <a:solidFill>
                  <a:srgbClr val="373D42"/>
                </a:solidFill>
                <a:latin typeface="Segoe UI"/>
              </a:rPr>
              <a:t>Peer networks that normalize sharing unregulated drugs; societal stigma.</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Intervention:  </a:t>
            </a:r>
            <a:r>
              <a:rPr sz="1800" b="0">
                <a:solidFill>
                  <a:srgbClr val="373D42"/>
                </a:solidFill>
                <a:latin typeface="Segoe UI"/>
              </a:rPr>
              <a:t>Implement a supervised consumption site and train peer workers (addressing Enabling and Reinforcing factors).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APPLYING THE SEM TO MENTAL HEALTH</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27/34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Intrapersonal:  </a:t>
            </a:r>
            <a:r>
              <a:rPr sz="1800" b="0">
                <a:solidFill>
                  <a:srgbClr val="373D42"/>
                </a:solidFill>
                <a:latin typeface="Segoe UI"/>
              </a:rPr>
              <a:t>Teaching cognitive behavioral coping skills and emotional regulation.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Interpersonal:  </a:t>
            </a:r>
            <a:r>
              <a:rPr sz="1800" b="0">
                <a:solidFill>
                  <a:srgbClr val="373D42"/>
                </a:solidFill>
                <a:latin typeface="Segoe UI"/>
              </a:rPr>
              <a:t>Family therapy and peer-support groups to build social safety nets.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Institutional:  </a:t>
            </a:r>
            <a:r>
              <a:rPr sz="1800" b="0">
                <a:solidFill>
                  <a:srgbClr val="373D42"/>
                </a:solidFill>
                <a:latin typeface="Segoe UI"/>
              </a:rPr>
              <a:t>Mandating mental health days and psychological safety training in workplaces and schools.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Community:  </a:t>
            </a:r>
            <a:r>
              <a:rPr sz="1800" b="0">
                <a:solidFill>
                  <a:srgbClr val="373D42"/>
                </a:solidFill>
                <a:latin typeface="Segoe UI"/>
              </a:rPr>
              <a:t>Designing walkable, green neighborhoods with accessible community centers to combat isolation.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Public Policy:  </a:t>
            </a:r>
            <a:r>
              <a:rPr sz="1800" b="0">
                <a:solidFill>
                  <a:srgbClr val="373D42"/>
                </a:solidFill>
                <a:latin typeface="Segoe UI"/>
              </a:rPr>
              <a:t>Enacting universal basic income, rent control, and parity laws requiring insurance to cover mental health equally to physical health.</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CASE STUDY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28/34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Portuguese Model of Decriminalization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 2001, facing a catastrophic heroin epidemic and HIV crisis, Portugal decriminalized the personal possession of all drugs.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They shifted the budget from the justice system to the health system.</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Instead of prison, individuals caught with drugs appear before a "Dissuasion Commission" of social workers and psychologists who offer support, housing, and treatment.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Results:  </a:t>
            </a:r>
            <a:r>
              <a:rPr sz="1800" b="0">
                <a:solidFill>
                  <a:srgbClr val="373D42"/>
                </a:solidFill>
                <a:latin typeface="Segoe UI"/>
              </a:rPr>
              <a:t>Overdose deaths plummeted, HIV transmission dropped to near zero, and overall drug use did not increase. It proved that treating addiction as a health issue works.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CASE STUDY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29/34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Insite - North America's First Supervised Consumption Site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Opened in Vancouver, Canada, in 2003, amidst an overdose crisis in the Downtown Eastside.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Despite fierce political and legal opposition, rigorous evaluation proved its value.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Outcomes:  </a:t>
            </a:r>
            <a:r>
              <a:rPr sz="1800" b="0">
                <a:solidFill>
                  <a:srgbClr val="373D42"/>
                </a:solidFill>
                <a:latin typeface="Segoe UI"/>
              </a:rPr>
              <a:t>Zero fatal overdoses occurred inside the facility. Ambulance calls for overdoses in the surrounding neighborhood dropped significantly. Syringe litter decreased.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Most importantly, it served as a low-barrier entry point to the healthcare system; thousands of users were eventually connected to detox and addiction treatment through the trust built at Insite.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PUZZLING QUESTIONS FOR REFLECTION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30/34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1. If harm reduction (like safe supply and supervised injection) keeps people alive but does not immediately stop their drug use, is it a success or a failure of public health?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2. How do we balance the civil liberties of individuals experiencing severe, untreated psychosis with the safety and comfort of the broader community?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3. If social media algorithms are proven to cause severe mental health harm and addiction in adolescents, should they be regulated with the same strict public health frameworks as tobacco and alcohol?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4. Can a society truly eliminate substance misuse, or must we accept it as an enduring feature of the human condition and focus solely on minimizing its harms?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KEY TERMS GLOSSARY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31/34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Dual Diagnosis:  </a:t>
            </a:r>
            <a:r>
              <a:rPr sz="1650" b="0">
                <a:solidFill>
                  <a:srgbClr val="373D42"/>
                </a:solidFill>
                <a:latin typeface="Segoe UI"/>
              </a:rPr>
              <a:t>The co-occurrence of mental illness and substance use disorders.</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Harm Reduction:  </a:t>
            </a:r>
            <a:r>
              <a:rPr sz="1650" b="0">
                <a:solidFill>
                  <a:srgbClr val="373D42"/>
                </a:solidFill>
                <a:latin typeface="Segoe UI"/>
              </a:rPr>
              <a:t>Policies and practices aimed at reducing the negative consequences of drug use without requiring abstinence.</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Rat Park:  </a:t>
            </a:r>
            <a:r>
              <a:rPr sz="1650" b="0">
                <a:solidFill>
                  <a:srgbClr val="373D42"/>
                </a:solidFill>
                <a:latin typeface="Segoe UI"/>
              </a:rPr>
              <a:t>Bruce Alexander's experiment demonstrating the role of environment and social connection in addiction.</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Trauma-Informed Care:  </a:t>
            </a:r>
            <a:r>
              <a:rPr sz="1650" b="0">
                <a:solidFill>
                  <a:srgbClr val="373D42"/>
                </a:solidFill>
                <a:latin typeface="Segoe UI"/>
              </a:rPr>
              <a:t>A framework that recognizes the widespread impact of trauma and integrates this knowledge into policies and practices.</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Structural Violence:  </a:t>
            </a:r>
            <a:r>
              <a:rPr sz="1650" b="0">
                <a:solidFill>
                  <a:srgbClr val="373D42"/>
                </a:solidFill>
                <a:latin typeface="Segoe UI"/>
              </a:rPr>
              <a:t>Systemic ways in which social structures harm or disadvantage individuals (e.g., criminalization of poverty/addiction).</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Supervised Consumption Site:  </a:t>
            </a:r>
            <a:r>
              <a:rPr sz="1650" b="0">
                <a:solidFill>
                  <a:srgbClr val="373D42"/>
                </a:solidFill>
                <a:latin typeface="Segoe UI"/>
              </a:rPr>
              <a:t>A legally sanctioned facility where individuals can consume pre-obtained drugs under medical supervision.</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Internalized Stigma:  </a:t>
            </a:r>
            <a:r>
              <a:rPr sz="1650" b="0">
                <a:solidFill>
                  <a:srgbClr val="373D42"/>
                </a:solidFill>
                <a:latin typeface="Segoe UI"/>
              </a:rPr>
              <a:t>When an individual absorbs societal prejudices and applies them to themselves.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Hari, J. (2015). Chasing the Scream: The First and Last Days of the War on Drugs. Bloomsbury.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Maté, G. (2018). In the Realm of Hungry Ghosts: Close Encounters with Addiction. Knopf Canada.</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Why read this?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Hari provides a brilliant, journalistic deconstruction of the War on Drugs and the Rat Park experiments, showing the social roots of addiction.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Maté offers a profound, compassionate, and trauma-informed clinical perspective on why people use substances to escape psychological pain.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Both texts are essential for shifting your paradigm from individual blame to systemic empathy, which is critical for your Final Report.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NEXT WEEK'S TEASER</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Lecture 10:  </a:t>
            </a:r>
            <a:r>
              <a:rPr sz="1800" b="0">
                <a:solidFill>
                  <a:srgbClr val="373D42"/>
                </a:solidFill>
                <a:latin typeface="Segoe UI"/>
              </a:rPr>
              <a:t>Health Promotion for the Elderly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Moving to the final stages of the life course.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Deconstructing "Ageism" as a social determinant of health.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concepts of Aging in Place, Active Aging, and the compression of morbidity.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Designing age-friendly cities and combating the lethal epidemic of social isolation.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Action Item:  </a:t>
            </a:r>
            <a:r>
              <a:rPr sz="1800" b="0">
                <a:solidFill>
                  <a:srgbClr val="373D42"/>
                </a:solidFill>
                <a:latin typeface="Segoe UI"/>
              </a:rPr>
              <a:t>Review the glossary terms for today. Reflect on how your own community treats its most marginalized substance users. Are the local policies driven by public health evidence, or by moral panic?</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See you next week.</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THANK YOU</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Meet People Where They Are. Build Systems That Heal.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Contact: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Email:  </a:t>
            </a:r>
            <a:r>
              <a:rPr sz="1800" b="0">
                <a:solidFill>
                  <a:srgbClr val="373D42"/>
                </a:solidFill>
                <a:latin typeface="Segoe UI"/>
              </a:rPr>
              <a:t>[Professor's Email]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Office Hours:  </a:t>
            </a:r>
            <a:r>
              <a:rPr sz="1800" b="0">
                <a:solidFill>
                  <a:srgbClr val="373D42"/>
                </a:solidFill>
                <a:latin typeface="Segoe UI"/>
              </a:rPr>
              <a:t>[Time/Location]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Quote to leave you with:  </a:t>
            </a:r>
            <a:r>
              <a:rPr sz="1800" b="0">
                <a:solidFill>
                  <a:srgbClr val="373D42"/>
                </a:solidFill>
                <a:latin typeface="Segoe UI"/>
              </a:rPr>
              <a:t>We do not need to cure the pain of the world to make a difference. We simply need to ensure that our systems do not add to it, and that our communities offer a hand instead of a cage.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Have a reflective and productive week.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Substance-Use and Mental Health</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