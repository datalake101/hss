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Theories in Health Promotion Programs - The PRECEDE-PROCEED Model</a:t>
            </a:r>
          </a:p>
        </p:txBody>
      </p:sp>
      <p:sp>
        <p:nvSpPr>
          <p:cNvPr id="4" name="TextBox 3"/>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Course:  </a:t>
            </a:r>
            <a:r>
              <a:rPr sz="1800" b="0">
                <a:solidFill>
                  <a:srgbClr val="373D42"/>
                </a:solidFill>
                <a:latin typeface="Segoe UI"/>
              </a:rPr>
              <a:t>Health Promotion and Disease Prevention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Lecture 4:  </a:t>
            </a:r>
            <a:r>
              <a:rPr sz="1800" b="0">
                <a:solidFill>
                  <a:srgbClr val="373D42"/>
                </a:solidFill>
                <a:latin typeface="Segoe UI"/>
              </a:rPr>
              <a:t>Theories in Health Promotion Programs - The PRECEDE-PROCEED Model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Instructor:  </a:t>
            </a:r>
            <a:r>
              <a:rPr sz="1800" b="0">
                <a:solidFill>
                  <a:srgbClr val="373D42"/>
                </a:solidFill>
                <a:latin typeface="Segoe UI"/>
              </a:rPr>
              <a:t>Prof. [Your Name]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Quote:  </a:t>
            </a:r>
            <a:r>
              <a:rPr sz="1800" b="0">
                <a:solidFill>
                  <a:srgbClr val="373D42"/>
                </a:solidFill>
                <a:latin typeface="Segoe UI"/>
              </a:rPr>
              <a:t>If you do not know where you are going, any road will get you there. But in public health, the wrong road can cause harm.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WELCOME AND LECTURE OBJECTIVES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From "Why" to "How"</a:t>
            </a:r>
          </a:p>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In Lecture 3, we learned explanatory theories (HBM and SEM) to understand why people behave the way they do.</a:t>
            </a:r>
          </a:p>
          <a:p>
            <a:pPr marL="347472" indent="-347472">
              <a:lnSpc>
                <a:spcPct val="114000"/>
              </a:lnSpc>
              <a:spcAft>
                <a:spcPts val="1014"/>
              </a:spcAft>
              <a:buNone/>
            </a:pPr>
            <a:r>
              <a:rPr sz="1750" b="0">
                <a:solidFill>
                  <a:srgbClr val="373D42"/>
                </a:solidFill>
                <a:latin typeface="Segoe UI"/>
              </a:rPr>
              <a:t>🌱  </a:t>
            </a:r>
            <a:r>
              <a:rPr sz="1750" b="1">
                <a:solidFill>
                  <a:srgbClr val="952210"/>
                </a:solidFill>
                <a:latin typeface="Segoe UI"/>
              </a:rPr>
              <a:t>Today, we learn a Change Theory:  </a:t>
            </a:r>
            <a:r>
              <a:rPr sz="1750" b="0">
                <a:solidFill>
                  <a:srgbClr val="373D42"/>
                </a:solidFill>
                <a:latin typeface="Segoe UI"/>
              </a:rPr>
              <a:t>a step-by-step planning model to actually build a health program.</a:t>
            </a:r>
          </a:p>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Objectives for today:</a:t>
            </a:r>
          </a:p>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1. Understand the history and purpose of the PRECEDE-PROCEED model.</a:t>
            </a:r>
          </a:p>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2. Master the 8 phases of program planning and evaluation.</a:t>
            </a:r>
          </a:p>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3. Learn how to work backward from the desired outcome to design the intervention.</a:t>
            </a:r>
          </a:p>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4. Apply this model directly to your Final Report.</a:t>
            </a:r>
          </a:p>
          <a:p>
            <a:pPr marL="347472" indent="-347472">
              <a:lnSpc>
                <a:spcPct val="114000"/>
              </a:lnSpc>
              <a:spcAft>
                <a:spcPts val="1014"/>
              </a:spcAft>
              <a:buNone/>
            </a:pPr>
            <a:r>
              <a:rPr sz="1750" b="0">
                <a:solidFill>
                  <a:srgbClr val="373D42"/>
                </a:solidFill>
                <a:latin typeface="Segoe UI"/>
              </a:rPr>
              <a:t>🌱  </a:t>
            </a:r>
            <a:r>
              <a:rPr sz="1750" b="1">
                <a:solidFill>
                  <a:srgbClr val="952210"/>
                </a:solidFill>
                <a:latin typeface="Segoe UI"/>
              </a:rPr>
              <a:t>Exam Focus:  </a:t>
            </a:r>
            <a:r>
              <a:rPr sz="1750" b="0">
                <a:solidFill>
                  <a:srgbClr val="373D42"/>
                </a:solidFill>
                <a:latin typeface="Segoe UI"/>
              </a:rPr>
              <a:t>You will be given a flawed health program and asked to identify which phase of PRECEDE-PROCEED was skipped or executed poorly.</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PROBLEM WITH "GOOD IDEAS"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Why Intuition Fails in Public Health</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Many health programs are built on "good ideas" rather than systematic planning.</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Example:  </a:t>
            </a:r>
            <a:r>
              <a:rPr sz="1800" b="0">
                <a:solidFill>
                  <a:srgbClr val="373D42"/>
                </a:solidFill>
                <a:latin typeface="Segoe UI"/>
              </a:rPr>
              <a:t>A well-meaning doctor builds a state-of-the-art diabetes clinic in a rural town, but nobody shows up.</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Why did it fail?</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Maybe the town has no public transit (Enabling factor).</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Maybe the community distrusts the medical system (Predisposing factor).</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Maybe the clinic hours conflict with local shift-work schedules (Administrative factor).</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Good intentions without a structured planning model lead to wasted resources and community frustration.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ENTER PRECEDE-PROCEED</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4/34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Gold Standard of Health Planning</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Developed by Lawrence Green and Marshall Kreuter in the 1970s, and continuously updated for decades.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is the most widely used planning model in global health promotion.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combines the Educational approach (changing knowledge and behavior) with the Ecological approach (changing environments and policies).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forces planners to be systematic, evidence-based, and community-centered.</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CORE PHILOSOPHY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5/34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Start at the End and Work Backward</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Most people plan programs by starting with a solution: "Let's build an app!" or "Let's hand out pamphlets!"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PRECEDE-PROCEED forces you to start with the ultimate desired outcome and work backward.</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Step 1:  </a:t>
            </a:r>
            <a:r>
              <a:rPr sz="1800" b="0">
                <a:solidFill>
                  <a:srgbClr val="373D42"/>
                </a:solidFill>
                <a:latin typeface="Segoe UI"/>
              </a:rPr>
              <a:t>What is the ultimate quality of life goal?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Step 2:  </a:t>
            </a:r>
            <a:r>
              <a:rPr sz="1800" b="0">
                <a:solidFill>
                  <a:srgbClr val="373D42"/>
                </a:solidFill>
                <a:latin typeface="Segoe UI"/>
              </a:rPr>
              <a:t>What health issue is blocking that goal?</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Step 3:  </a:t>
            </a:r>
            <a:r>
              <a:rPr sz="1800" b="0">
                <a:solidFill>
                  <a:srgbClr val="373D42"/>
                </a:solidFill>
                <a:latin typeface="Segoe UI"/>
              </a:rPr>
              <a:t>What behaviors and environments cause that health issue?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Step 4:  </a:t>
            </a:r>
            <a:r>
              <a:rPr sz="1800" b="0">
                <a:solidFill>
                  <a:srgbClr val="373D42"/>
                </a:solidFill>
                <a:latin typeface="Segoe UI"/>
              </a:rPr>
              <a:t>What factors drive those behaviors and environments?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Step 5:  </a:t>
            </a:r>
            <a:r>
              <a:rPr sz="1800" b="0">
                <a:solidFill>
                  <a:srgbClr val="373D42"/>
                </a:solidFill>
                <a:latin typeface="Segoe UI"/>
              </a:rPr>
              <a:t>What policies and resources do we need to change those factors?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Only then do you design the intervention.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DECODING THE ACRONYM - PRECEDE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6/34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Planning Phases (Working Backward)</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PRECEDE stands for:</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Predisposing, Reinforcing, and Enabling Constructs in Educational/Environmental Diagnosis and Evaluation.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This covers Phases 1 through 4.</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is the "Diagnosis" stage.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You are acting like a detective, identifying the root causes of the health problem before you prescribe a treatment.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DECODING THE ACRONYM - PROCEED</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7/34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Implementation and Evaluation Phases (Moving Forward)</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PROCEED stands for:</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Policy, Regulatory, and Organizational Constructs in Educational and Environmental Development.</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This covers Phases 5 through 8.</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is the "Action and Evaluation" stage.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You are implementing the treatment you prescribed in the PRECEDE phases and measuring if it actually worked.</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HOURGLASS MODEL</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8/34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Visualizing the Flow</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Imagine an hourglass.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top half (PRECEDE) is wide at the top (broad social goals) and narrows down to specific educational and ecological factors.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pinch in the middle is Phase 5 (Implementation).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bottom half (PROCEED) widens back out from process evaluation to broad outcome evaluation.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The model ensures your narrow, specific intervention connects directly back to broad, meaningful social outcomes.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PHASE 1 - SOCIAL ASSESSMENT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9/34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Defining Quality of Life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ultimate goal of health promotion is not just to lower blood pressure; it is to improve human life.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Phase 1 asks the community:  </a:t>
            </a:r>
            <a:r>
              <a:rPr sz="1800" b="0">
                <a:solidFill>
                  <a:srgbClr val="373D42"/>
                </a:solidFill>
                <a:latin typeface="Segoe UI"/>
              </a:rPr>
              <a:t>"What does a good quality of life look like to you?"</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Indicators:  </a:t>
            </a:r>
            <a:r>
              <a:rPr sz="1800" b="0">
                <a:solidFill>
                  <a:srgbClr val="373D42"/>
                </a:solidFill>
                <a:latin typeface="Segoe UI"/>
              </a:rPr>
              <a:t>Unemployment rates, crime rates, school dropout rates, happiness indices, housing stability.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Crucial Rule:  </a:t>
            </a:r>
            <a:r>
              <a:rPr sz="1800" b="0">
                <a:solidFill>
                  <a:srgbClr val="373D42"/>
                </a:solidFill>
                <a:latin typeface="Segoe UI"/>
              </a:rPr>
              <a:t>The community must define their own social goals. Public health experts cannot dictate what a community values.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PHASE 1 - THE GOLDEN RULE OF PARTICIPATION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10/34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"Nothing About Us Without Us"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If you skip community participation in Phase 1, the entire model collapses.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Planners must use focus groups, town halls, and surveys to listen to the lived experiences of the target population.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Example:  </a:t>
            </a:r>
            <a:r>
              <a:rPr sz="1800" b="0">
                <a:solidFill>
                  <a:srgbClr val="373D42"/>
                </a:solidFill>
                <a:latin typeface="Segoe UI"/>
              </a:rPr>
              <a:t>Experts might think the main social issue in a neighborhood is "obesity." The community might tell you the main issue is "lack of safe street lighting, which prevents us from walking at night."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Always align your health goals with the community's actual social priorities.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PHASE 2 - EPIDEMIOLOGICAL ASSESSMENT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11/34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Identifying the Health Goals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Now we link the social goals from Phase 1 to specific health issues.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We use epidemiological data (mortality, morbidity, disability rates) to identify which health problems are most severely impacting the community's quality of life.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Example:  </a:t>
            </a:r>
            <a:r>
              <a:rPr sz="1800" b="0">
                <a:solidFill>
                  <a:srgbClr val="373D42"/>
                </a:solidFill>
                <a:latin typeface="Segoe UI"/>
              </a:rPr>
              <a:t>If the social goal is "economic stability," the epidemiological assessment might reveal that "workplace back injuries" are the leading cause of lost wages and disability in the community.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output of Phase 2 is a clear, measurable health objective (e.g., Reduce workplace back injuries by 20 percent in 3 years).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PHASE 3 - EDUCATIONAL AND ECOLOGICAL ASSESSMENT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12/34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Core of the Diagnosis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This is the most critical phase for designing the actual intervention.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We ask:  </a:t>
            </a:r>
            <a:r>
              <a:rPr sz="1800" b="0">
                <a:solidFill>
                  <a:srgbClr val="373D42"/>
                </a:solidFill>
                <a:latin typeface="Segoe UI"/>
              </a:rPr>
              <a:t>What behaviors and environmental conditions are causing the health problem identified in Phase 2?</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Behavioral Factors:  </a:t>
            </a:r>
            <a:r>
              <a:rPr sz="1800" b="0">
                <a:solidFill>
                  <a:srgbClr val="373D42"/>
                </a:solidFill>
                <a:latin typeface="Segoe UI"/>
              </a:rPr>
              <a:t>Smoking, poor diet, lack of exercise, not wearing PPE.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Environmental Factors:  </a:t>
            </a:r>
            <a:r>
              <a:rPr sz="1800" b="0">
                <a:solidFill>
                  <a:srgbClr val="373D42"/>
                </a:solidFill>
                <a:latin typeface="Segoe UI"/>
              </a:rPr>
              <a:t>Lack of sidewalks, toxic workplace culture, food deserts, aggressive marketing of junk food.</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You must identify both what the people are doing (behavior) and what the environment is doing to them (ecology).</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PHASE 3 - CATEGORIZING THE DRIVERS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13/34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Predisposing, Enabling, and Reinforcing</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Once you identify the target behaviors and environments, you must categorize the factors that influence them into three buckets: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1. Predisposing Factors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2. Enabling Factors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3. Reinforcing Factors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Understanding these three constructs is the key to passing the midterm exam and designing a successful Final Report.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PREDISPOSING FACTORS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14/34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Antecedents to Behavior</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Definition:  </a:t>
            </a:r>
            <a:r>
              <a:rPr sz="1800" b="0">
                <a:solidFill>
                  <a:srgbClr val="373D42"/>
                </a:solidFill>
                <a:latin typeface="Segoe UI"/>
              </a:rPr>
              <a:t>Factors that provide the rationale or motivation for the behavior. They exist before the behavior occurs.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Includes:  </a:t>
            </a:r>
            <a:r>
              <a:rPr sz="1800" b="0">
                <a:solidFill>
                  <a:srgbClr val="373D42"/>
                </a:solidFill>
                <a:latin typeface="Segoe UI"/>
              </a:rPr>
              <a:t>Knowledge, attitudes, beliefs, values, self-efficacy, and perceptions.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This is where the Health Belief Model (HBM) lives.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Example:  </a:t>
            </a:r>
            <a:r>
              <a:rPr sz="1800" b="0">
                <a:solidFill>
                  <a:srgbClr val="373D42"/>
                </a:solidFill>
                <a:latin typeface="Segoe UI"/>
              </a:rPr>
              <a:t>A person must believe that smoking causes cancer (belief) and feel confident they can quit (self-efficacy) before they will try to quit.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Intervention Strategy:  </a:t>
            </a:r>
            <a:r>
              <a:rPr sz="1800" b="0">
                <a:solidFill>
                  <a:srgbClr val="373D42"/>
                </a:solidFill>
                <a:latin typeface="Segoe UI"/>
              </a:rPr>
              <a:t>Health education, awareness campaigns, counseling.</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ENABLING FACTORS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15/34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Facilitators of Behavior</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Definition:  </a:t>
            </a:r>
            <a:r>
              <a:rPr sz="1800" b="0">
                <a:solidFill>
                  <a:srgbClr val="373D42"/>
                </a:solidFill>
                <a:latin typeface="Segoe UI"/>
              </a:rPr>
              <a:t>Factors that allow a motivation to be realized. They are the skills, resources, or barriers that make the behavior possible or impossible.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Includes:  </a:t>
            </a:r>
            <a:r>
              <a:rPr sz="1800" b="0">
                <a:solidFill>
                  <a:srgbClr val="373D42"/>
                </a:solidFill>
                <a:latin typeface="Segoe UI"/>
              </a:rPr>
              <a:t>Personal skills, community resources, healthcare access, financial resources, and government policies.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This is where the Social Ecological Model (SEM) lives.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Example:  </a:t>
            </a:r>
            <a:r>
              <a:rPr sz="1800" b="0">
                <a:solidFill>
                  <a:srgbClr val="373D42"/>
                </a:solidFill>
                <a:latin typeface="Segoe UI"/>
              </a:rPr>
              <a:t>A person wants to eat healthy (predisposed), but lives in a food desert with no grocery store (lack of enabling factor).</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Intervention Strategy:  </a:t>
            </a:r>
            <a:r>
              <a:rPr sz="1800" b="0">
                <a:solidFill>
                  <a:srgbClr val="373D42"/>
                </a:solidFill>
                <a:latin typeface="Segoe UI"/>
              </a:rPr>
              <a:t>Building clinics, subsidizing healthy food, teaching cooking skills, changing zoning laws.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REINFORCING FACTORS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16/34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Rewards and Feedback</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Definition:  </a:t>
            </a:r>
            <a:r>
              <a:rPr sz="1800" b="0">
                <a:solidFill>
                  <a:srgbClr val="373D42"/>
                </a:solidFill>
                <a:latin typeface="Segoe UI"/>
              </a:rPr>
              <a:t>Factors that provide the continuing reward or incentive for the persistence or repetition of the behavior.</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Includes:  </a:t>
            </a:r>
            <a:r>
              <a:rPr sz="1800" b="0">
                <a:solidFill>
                  <a:srgbClr val="373D42"/>
                </a:solidFill>
                <a:latin typeface="Segoe UI"/>
              </a:rPr>
              <a:t>Praise from family, support from peers, recognition from bosses, or physical feelings of well-being.</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Also includes negative reinforcement:  </a:t>
            </a:r>
            <a:r>
              <a:rPr sz="1800" b="0">
                <a:solidFill>
                  <a:srgbClr val="373D42"/>
                </a:solidFill>
                <a:latin typeface="Segoe UI"/>
              </a:rPr>
              <a:t>ridicule from peers for doing the "right" thing, or lack of support from management.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Example:  </a:t>
            </a:r>
            <a:r>
              <a:rPr sz="1800" b="0">
                <a:solidFill>
                  <a:srgbClr val="373D42"/>
                </a:solidFill>
                <a:latin typeface="Segoe UI"/>
              </a:rPr>
              <a:t>A teenager tries to quit vaping (predisposed and enabled), but all their friends vape and mock them for quitting (negative reinforcing factor). They relapse.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Intervention Strategy:  </a:t>
            </a:r>
            <a:r>
              <a:rPr sz="1800" b="0">
                <a:solidFill>
                  <a:srgbClr val="373D42"/>
                </a:solidFill>
                <a:latin typeface="Segoe UI"/>
              </a:rPr>
              <a:t>Peer support groups, family therapy, workplace incentive programs.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FOOD FOR THOUGHT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17/34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Danger of Skipping Phase 3</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Imagine a program designed to increase breast cancer screening.</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planners only address Predisposing factors:  </a:t>
            </a:r>
            <a:r>
              <a:rPr sz="1800" b="0">
                <a:solidFill>
                  <a:srgbClr val="373D42"/>
                </a:solidFill>
                <a:latin typeface="Segoe UI"/>
              </a:rPr>
              <a:t>They run a massive TV ad campaign about the importance of mammograms.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They completely ignore Enabling factors:  </a:t>
            </a:r>
            <a:r>
              <a:rPr sz="1800" b="0">
                <a:solidFill>
                  <a:srgbClr val="373D42"/>
                </a:solidFill>
                <a:latin typeface="Segoe UI"/>
              </a:rPr>
              <a:t>The local clinic only operates from 9 AM to 5 PM on weekdays, and the target population works hourly jobs with no paid time off.</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Result:  </a:t>
            </a:r>
            <a:r>
              <a:rPr sz="1800" b="0">
                <a:solidFill>
                  <a:srgbClr val="373D42"/>
                </a:solidFill>
                <a:latin typeface="Segoe UI"/>
              </a:rPr>
              <a:t>The campaign increases knowledge, but screening rates do not change. The planners blame the women for being "non-compliant."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Reflection:  </a:t>
            </a:r>
            <a:r>
              <a:rPr sz="1800" b="0">
                <a:solidFill>
                  <a:srgbClr val="373D42"/>
                </a:solidFill>
                <a:latin typeface="Segoe UI"/>
              </a:rPr>
              <a:t>Blaming the victim is almost always the result of a planner failing to identify Enabling and Reinforcing factors.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PHASE 4 - ADMINISTRATIVE AND POLICY ASSESSMENT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18/34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Reality Check</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You now know what needs to change. Phase 4 asks: Do we actually have the capacity to do it?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Organizational Assessment:  </a:t>
            </a:r>
            <a:r>
              <a:rPr sz="1800" b="0">
                <a:solidFill>
                  <a:srgbClr val="373D42"/>
                </a:solidFill>
                <a:latin typeface="Segoe UI"/>
              </a:rPr>
              <a:t>Does our staff have the training? Do we have the space? Will the leadership support this?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Policy Assessment:  </a:t>
            </a:r>
            <a:r>
              <a:rPr sz="1800" b="0">
                <a:solidFill>
                  <a:srgbClr val="373D42"/>
                </a:solidFill>
                <a:latin typeface="Segoe UI"/>
              </a:rPr>
              <a:t>Are there existing laws or institutional rules that block our intervention? Do we need to change a policy first?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Resource Assessment:  </a:t>
            </a:r>
            <a:r>
              <a:rPr sz="1800" b="0">
                <a:solidFill>
                  <a:srgbClr val="373D42"/>
                </a:solidFill>
                <a:latin typeface="Segoe UI"/>
              </a:rPr>
              <a:t>What is the budget? Where is the funding coming from? Is it sustainable?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The best intervention in the world is useless if the organization lacks the administrative capacity to execute it.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PHASE 5 - IMPLEMENTATION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19/34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Pivot Point</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This is the bridge between PRECEDE (planning) and PROCEED (action).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Implementation is the process of putting the planned intervention into practice.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involves training staff, launching the marketing campaign, opening the clinic doors, or enacting the new policy.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Crucial step:  </a:t>
            </a:r>
            <a:r>
              <a:rPr sz="1800" b="0">
                <a:solidFill>
                  <a:srgbClr val="373D42"/>
                </a:solidFill>
                <a:latin typeface="Segoe UI"/>
              </a:rPr>
              <a:t>You must pilot-test the intervention on a small scale before rolling it out to the entire population to catch unforeseen administrative barriers.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PHASE 6 - PROCESS EVALUATION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20/34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Did We Do What We Said We Would Do?</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first level of evaluation. It measures the implementation process itself.</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Questions asked:</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Did the target audience actually receive the intervention? (Reach)</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Did the staff deliver the program exactly as designed? (Fidelity)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Were the materials distributed on time? (Dose delivered)</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Why it matters:  </a:t>
            </a:r>
            <a:r>
              <a:rPr sz="1800" b="0">
                <a:solidFill>
                  <a:srgbClr val="373D42"/>
                </a:solidFill>
                <a:latin typeface="Segoe UI"/>
              </a:rPr>
              <a:t>If the program fails to improve health, process evaluation tells you if the theory was wrong, or if the program was just poorly executed.</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PHASE 7 - IMPACT EVALUATION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21/34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Did We Change the Drivers?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second level of evaluation. It measures the immediate effects of the program on the factors identified in Phase 3.</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Questions asked:</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Did Predisposing factors change? (e.g., Did knowledge increase? Did attitudes shift?)</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Did Enabling factors change? (e.g., Did people learn the new skill? Did they use the new resource?)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Did Reinforcing factors change? (e.g., Did family support increase?)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Did the target Behavior or Environment actually change?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Exam Focus:  </a:t>
            </a:r>
            <a:r>
              <a:rPr sz="1800" b="0">
                <a:solidFill>
                  <a:srgbClr val="373D42"/>
                </a:solidFill>
                <a:latin typeface="Segoe UI"/>
              </a:rPr>
              <a:t>Impact evaluation measures changes in behavior, environment, and the P-E-R factors. It does NOT measure changes in disease rates.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PHASE 8 - OUTCOME EVALUATION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22/34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Did We Improve Health and Quality of Life?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final, ultimate level of evaluation.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measures the long-term impact on the health goals (Phase 2) and social goals (Phase 1).</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Health Outcomes:  </a:t>
            </a:r>
            <a:r>
              <a:rPr sz="1800" b="0">
                <a:solidFill>
                  <a:srgbClr val="373D42"/>
                </a:solidFill>
                <a:latin typeface="Segoe UI"/>
              </a:rPr>
              <a:t>Changes in morbidity, mortality, incidence, prevalence, and biological markers (e.g., lower blood pressure, fewer heart attacks).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Social Outcomes:  </a:t>
            </a:r>
            <a:r>
              <a:rPr sz="1800" b="0">
                <a:solidFill>
                  <a:srgbClr val="373D42"/>
                </a:solidFill>
                <a:latin typeface="Segoe UI"/>
              </a:rPr>
              <a:t>Changes in quality of life, employment rates, crime rates, and community well-being.</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Outcome evaluation takes years. It is the ultimate proof of the program's value to society.</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PUZZLE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23/34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Time Lag Dilemma</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Scenario:  </a:t>
            </a:r>
            <a:r>
              <a:rPr sz="1800" b="0">
                <a:solidFill>
                  <a:srgbClr val="373D42"/>
                </a:solidFill>
                <a:latin typeface="Segoe UI"/>
              </a:rPr>
              <a:t>You implement a comprehensive school nutrition and physical activity program to prevent childhood obesity and future cardiovascular disease.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Process evaluation (Phase 6) happens in Month 3.</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Impact evaluation (Phase 7) happens in Year 1 (kids are eating better and running more).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Outcome evaluation (Phase 8) requires waiting 20 years to see if those kids actually have fewer heart attacks at age 40.</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Question:  </a:t>
            </a:r>
            <a:r>
              <a:rPr sz="1800" b="0">
                <a:solidFill>
                  <a:srgbClr val="373D42"/>
                </a:solidFill>
                <a:latin typeface="Segoe UI"/>
              </a:rPr>
              <a:t>How do you justify continued funding to politicians and grant-makers who demand "results" every 12 months, when your ultimate outcome takes two decades to measure?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Reflection:  </a:t>
            </a:r>
            <a:r>
              <a:rPr sz="1800" b="0">
                <a:solidFill>
                  <a:srgbClr val="373D42"/>
                </a:solidFill>
                <a:latin typeface="Segoe UI"/>
              </a:rPr>
              <a:t>This is the eternal struggle of preventative public health. You must use Impact Evaluation as a scientifically valid proxy for future Outcome success.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WHY PRECEDE-PROCEED IS A "LIVING" MODEL</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24/34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Feedback Loops and Iteration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model is not a rigid, straight line. It is cyclical.</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If your Process Evaluation (Phase 6) shows that nobody attended your workshops, you do not wait for Phase 8 to fix it. You immediately loop back to Phase 4 (Administrative) or Phase 3 (Predisposing/Enabling) and redesign the delivery.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Evaluation data constantly feeds back into the planning phases to refine and improve the intervention in real-time.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CRITIQUES AND LIMITATIONS OF THE MODEL</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25/34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No Model is Perfect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1. Complexity:  </a:t>
            </a:r>
            <a:r>
              <a:rPr sz="1800" b="0">
                <a:solidFill>
                  <a:srgbClr val="373D42"/>
                </a:solidFill>
                <a:latin typeface="Segoe UI"/>
              </a:rPr>
              <a:t>It is highly detailed and can be overwhelming for small, grassroots organizations with limited staff.</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2. Time-Consuming:  </a:t>
            </a:r>
            <a:r>
              <a:rPr sz="1800" b="0">
                <a:solidFill>
                  <a:srgbClr val="373D42"/>
                </a:solidFill>
                <a:latin typeface="Segoe UI"/>
              </a:rPr>
              <a:t>Conducting a full 4-phase PRECEDE diagnosis can take months or years before any action is taken.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3. Top-Down Risk:  </a:t>
            </a:r>
            <a:r>
              <a:rPr sz="1800" b="0">
                <a:solidFill>
                  <a:srgbClr val="373D42"/>
                </a:solidFill>
                <a:latin typeface="Segoe UI"/>
              </a:rPr>
              <a:t>Despite its emphasis on participation, it is still heavily driven by public health experts and can sometimes marginalize indigenous or non-Western ways of knowing.</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4. Linear Assumption:  </a:t>
            </a:r>
            <a:r>
              <a:rPr sz="1800" b="0">
                <a:solidFill>
                  <a:srgbClr val="373D42"/>
                </a:solidFill>
                <a:latin typeface="Segoe UI"/>
              </a:rPr>
              <a:t>It assumes a neat, logical progression from knowledge to behavior to health, which ignores the chaotic, non-linear reality of human life.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PRECEDE-PROCEED VS. LOGIC MODELS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26/34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How They Relate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 Logic Model is a simplified, one-page visual summary of a program (Inputs, Activities, Outputs, Outcomes).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PRECEDE-PROCEED is the deep, comprehensive engine that generates the data to build the Logic Model.</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Think of PRECEDE-PROCEED as the extensive architectural blueprints and soil testing.</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Think of the Logic Model as the beautiful 3D rendering you show to the investors.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Takeaway:  </a:t>
            </a:r>
            <a:r>
              <a:rPr sz="1800" b="0">
                <a:solidFill>
                  <a:srgbClr val="373D42"/>
                </a:solidFill>
                <a:latin typeface="Segoe UI"/>
              </a:rPr>
              <a:t>You will use PRECEDE-PROCEED to do the heavy lifting, and then summarize it in a Logic Model for your Final Report.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APPLYING PRECEDE TO YOUR FINAL REPORT (PART 1)</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27/34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Your Needs Assessment</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In Week 5, you will submit Part 1 of your report.</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You must explicitly use Phases 1, 2, and 3.</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Phase 1:  </a:t>
            </a:r>
            <a:r>
              <a:rPr sz="1800" b="0">
                <a:solidFill>
                  <a:srgbClr val="373D42"/>
                </a:solidFill>
                <a:latin typeface="Segoe UI"/>
              </a:rPr>
              <a:t>Describe the social context and quality of life issues of your target population.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Phase 2:  </a:t>
            </a:r>
            <a:r>
              <a:rPr sz="1800" b="0">
                <a:solidFill>
                  <a:srgbClr val="373D42"/>
                </a:solidFill>
                <a:latin typeface="Segoe UI"/>
              </a:rPr>
              <a:t>Provide the epidemiological data proving the specific health issue exists.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Phase 3:  </a:t>
            </a:r>
            <a:r>
              <a:rPr sz="1800" b="0">
                <a:solidFill>
                  <a:srgbClr val="373D42"/>
                </a:solidFill>
                <a:latin typeface="Segoe UI"/>
              </a:rPr>
              <a:t>Map out the Predisposing, Enabling, and Reinforcing factors driving the problem.</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If you skip Phase 3, your proposed intervention will have no theoretical justification.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APPLYING PROCEED TO YOUR FINAL REPORT (PART 2)</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28/34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Your Intervention and Evaluation Plan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In Week 12, you will submit Part 2 of your report.</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You must explicitly use Phases 4 through 8.</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Phase 4:  </a:t>
            </a:r>
            <a:r>
              <a:rPr sz="1800" b="0">
                <a:solidFill>
                  <a:srgbClr val="373D42"/>
                </a:solidFill>
                <a:latin typeface="Segoe UI"/>
              </a:rPr>
              <a:t>Detail your budget, staff requirements, and organizational partnerships.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Phase 5:  </a:t>
            </a:r>
            <a:r>
              <a:rPr sz="1800" b="0">
                <a:solidFill>
                  <a:srgbClr val="373D42"/>
                </a:solidFill>
                <a:latin typeface="Segoe UI"/>
              </a:rPr>
              <a:t>Describe the exact implementation steps.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Phases 6, 7, and 8:  </a:t>
            </a:r>
            <a:r>
              <a:rPr sz="1800" b="0">
                <a:solidFill>
                  <a:srgbClr val="373D42"/>
                </a:solidFill>
                <a:latin typeface="Segoe UI"/>
              </a:rPr>
              <a:t>Provide a concrete evaluation plan detailing exactly how you will measure process, impact, and outcome. What surveys will you use? What health records will you track?</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CASE STUDY - DIAGNOSING A FAILED PROGRAM</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29/34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86"/>
              </a:spcAft>
              <a:buNone/>
            </a:pPr>
            <a:r>
              <a:rPr sz="1700" b="0">
                <a:solidFill>
                  <a:srgbClr val="373D42"/>
                </a:solidFill>
                <a:latin typeface="Segoe UI"/>
              </a:rPr>
              <a:t>🌱  </a:t>
            </a:r>
            <a:r>
              <a:rPr sz="1700" b="0">
                <a:solidFill>
                  <a:srgbClr val="373D42"/>
                </a:solidFill>
                <a:latin typeface="Segoe UI"/>
              </a:rPr>
              <a:t>The "Walk to School" Initiative</a:t>
            </a:r>
          </a:p>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Intervention:  </a:t>
            </a:r>
            <a:r>
              <a:rPr sz="1700" b="0">
                <a:solidFill>
                  <a:srgbClr val="373D42"/>
                </a:solidFill>
                <a:latin typeface="Segoe UI"/>
              </a:rPr>
              <a:t>A city built beautiful new sidewalks and launched a campaign telling parents to walk their kids to school to fight obesity.</a:t>
            </a:r>
          </a:p>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Result:  </a:t>
            </a:r>
            <a:r>
              <a:rPr sz="1700" b="0">
                <a:solidFill>
                  <a:srgbClr val="373D42"/>
                </a:solidFill>
                <a:latin typeface="Segoe UI"/>
              </a:rPr>
              <a:t>Sidewalks remained empty. Kids were still driven to school.</a:t>
            </a:r>
          </a:p>
          <a:p>
            <a:pPr marL="347472" indent="-347472">
              <a:lnSpc>
                <a:spcPct val="114000"/>
              </a:lnSpc>
              <a:spcAft>
                <a:spcPts val="986"/>
              </a:spcAft>
              <a:buNone/>
            </a:pPr>
            <a:r>
              <a:rPr sz="1700" b="0">
                <a:solidFill>
                  <a:srgbClr val="373D42"/>
                </a:solidFill>
                <a:latin typeface="Segoe UI"/>
              </a:rPr>
              <a:t>🌱  </a:t>
            </a:r>
            <a:r>
              <a:rPr sz="1700" b="0">
                <a:solidFill>
                  <a:srgbClr val="373D42"/>
                </a:solidFill>
                <a:latin typeface="Segoe UI"/>
              </a:rPr>
              <a:t>Diagnosis using PRECEDE:</a:t>
            </a:r>
          </a:p>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Phase 3 (Predisposing):  </a:t>
            </a:r>
            <a:r>
              <a:rPr sz="1700" b="0">
                <a:solidFill>
                  <a:srgbClr val="373D42"/>
                </a:solidFill>
                <a:latin typeface="Segoe UI"/>
              </a:rPr>
              <a:t>Parents knew walking was healthy. (Success)</a:t>
            </a:r>
          </a:p>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Phase 3 (Enabling):  </a:t>
            </a:r>
            <a:r>
              <a:rPr sz="1700" b="0">
                <a:solidFill>
                  <a:srgbClr val="373D42"/>
                </a:solidFill>
                <a:latin typeface="Segoe UI"/>
              </a:rPr>
              <a:t>Sidewalks were built. (Success)</a:t>
            </a:r>
          </a:p>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Phase 3 (Reinforcing/Environmental):  </a:t>
            </a:r>
            <a:r>
              <a:rPr sz="1700" b="0">
                <a:solidFill>
                  <a:srgbClr val="373D42"/>
                </a:solidFill>
                <a:latin typeface="Segoe UI"/>
              </a:rPr>
              <a:t>The route crossed a notoriously dangerous, high-speed highway intersection with no crossing guard. Parents feared for their children's safety. (Failure)</a:t>
            </a:r>
          </a:p>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Takeaway:  </a:t>
            </a:r>
            <a:r>
              <a:rPr sz="1700" b="0">
                <a:solidFill>
                  <a:srgbClr val="373D42"/>
                </a:solidFill>
                <a:latin typeface="Segoe UI"/>
              </a:rPr>
              <a:t>The planners failed to identify a critical environmental barrier and reinforcing factor (fear for child safety) during the diagnosis phase.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SUMMARY - THE 8 PHASES AT A GLANCE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30/34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Memorize the Flow</a:t>
            </a:r>
          </a:p>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PRECEDE (Planning):</a:t>
            </a:r>
          </a:p>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1. Social Assessment (Quality of Life)</a:t>
            </a:r>
          </a:p>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2. Epidemiological Assessment (Health Goals)</a:t>
            </a:r>
          </a:p>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3. Educational/Ecological Assessment (Predisposing, Enabling, Reinforcing)</a:t>
            </a:r>
          </a:p>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4. Administrative/Policy Assessment (Resources and Rules)</a:t>
            </a:r>
          </a:p>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PROCEED (Action):</a:t>
            </a:r>
          </a:p>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5. Implementation (Doing it)</a:t>
            </a:r>
          </a:p>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6. Process Evaluation (Did we do it right?)</a:t>
            </a:r>
          </a:p>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7. Impact Evaluation (Did behaviors/environments change?)</a:t>
            </a:r>
          </a:p>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8. Outcome Evaluation (Did health/quality of life improve?)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KEY TERMS GLOSSARY (EXAM PREP)</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31/34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27"/>
              </a:spcAft>
              <a:buNone/>
            </a:pPr>
            <a:r>
              <a:rPr sz="1600" b="0">
                <a:solidFill>
                  <a:srgbClr val="373D42"/>
                </a:solidFill>
                <a:latin typeface="Segoe UI"/>
              </a:rPr>
              <a:t>🌱  </a:t>
            </a:r>
            <a:r>
              <a:rPr sz="1600" b="0">
                <a:solidFill>
                  <a:srgbClr val="373D42"/>
                </a:solidFill>
                <a:latin typeface="Segoe UI"/>
              </a:rPr>
              <a:t>Master the Vocabulary</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PRECEDE:  </a:t>
            </a:r>
            <a:r>
              <a:rPr sz="1600" b="0">
                <a:solidFill>
                  <a:srgbClr val="373D42"/>
                </a:solidFill>
                <a:latin typeface="Segoe UI"/>
              </a:rPr>
              <a:t>The diagnostic phases working backward from the outcome.</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PROCEED:  </a:t>
            </a:r>
            <a:r>
              <a:rPr sz="1600" b="0">
                <a:solidFill>
                  <a:srgbClr val="373D42"/>
                </a:solidFill>
                <a:latin typeface="Segoe UI"/>
              </a:rPr>
              <a:t>The implementation and evaluation phases moving forward.</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Predisposing Factors:  </a:t>
            </a:r>
            <a:r>
              <a:rPr sz="1600" b="0">
                <a:solidFill>
                  <a:srgbClr val="373D42"/>
                </a:solidFill>
                <a:latin typeface="Segoe UI"/>
              </a:rPr>
              <a:t>Antecedents to behavior (knowledge, attitudes, beliefs).</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Enabling Factors:  </a:t>
            </a:r>
            <a:r>
              <a:rPr sz="1600" b="0">
                <a:solidFill>
                  <a:srgbClr val="373D42"/>
                </a:solidFill>
                <a:latin typeface="Segoe UI"/>
              </a:rPr>
              <a:t>Antecedents to behavior that allow a motivation to be realized (skills, resources, barriers).</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Reinforcing Factors:  </a:t>
            </a:r>
            <a:r>
              <a:rPr sz="1600" b="0">
                <a:solidFill>
                  <a:srgbClr val="373D42"/>
                </a:solidFill>
                <a:latin typeface="Segoe UI"/>
              </a:rPr>
              <a:t>Factors following a behavior that provide the continuing reward or incentive for persistence (social support, peer feedback).</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Process Evaluation:  </a:t>
            </a:r>
            <a:r>
              <a:rPr sz="1600" b="0">
                <a:solidFill>
                  <a:srgbClr val="373D42"/>
                </a:solidFill>
                <a:latin typeface="Segoe UI"/>
              </a:rPr>
              <a:t>Measuring program implementation and reach.</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Impact Evaluation:  </a:t>
            </a:r>
            <a:r>
              <a:rPr sz="1600" b="0">
                <a:solidFill>
                  <a:srgbClr val="373D42"/>
                </a:solidFill>
                <a:latin typeface="Segoe UI"/>
              </a:rPr>
              <a:t>Measuring changes in P-E-R factors, behaviors, and environments.</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Outcome Evaluation:  </a:t>
            </a:r>
            <a:r>
              <a:rPr sz="1600" b="0">
                <a:solidFill>
                  <a:srgbClr val="373D42"/>
                </a:solidFill>
                <a:latin typeface="Segoe UI"/>
              </a:rPr>
              <a:t>Measuring changes in health status and quality of life.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FOOD FOR THOUGHT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32/34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Ethics of "Enabling"</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In Phase 3, we identify Enabling factors (resources, skills).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When public health programs teach marginalized communities "coping skills" or "budgeting skills" (Enabling), are we empowering them, or are we quietly shifting the burden of survival onto the individual while ignoring the systemic lack of living wages and affordable housing?</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Reflection:  </a:t>
            </a:r>
            <a:r>
              <a:rPr sz="1800" b="0">
                <a:solidFill>
                  <a:srgbClr val="373D42"/>
                </a:solidFill>
                <a:latin typeface="Segoe UI"/>
              </a:rPr>
              <a:t>True enabling must include enabling communities to advocate for structural policy change, not just enabling them to survive in a broken system.</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FURTHER READING</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33/34</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Required Textbook Chapter</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Green, L. W., &amp; Kreuter, M. W. (2005). Health program planning: An educational and ecological approach (4th ed.). McGraw-Hill. (Specifically Chapter 3 and 4).</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Why read this?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This is the definitive source text for the PRECEDE-PROCEED model written by its creators.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provides incredibly detailed, real-world examples of how to conduct a Social, Epidemiological, and Educational diagnosis.</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It bridges the gap between abstract sociological theory and the practical, day-to-day management of a public health budget.</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Essential reading for structuring the methodology section of your Final Report.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THANK YOU AND NEXT WEEK'S TEASER</a:t>
            </a:r>
          </a:p>
        </p:txBody>
      </p:sp>
      <p:sp>
        <p:nvSpPr>
          <p:cNvPr id="4" name="TextBox 3"/>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86"/>
              </a:spcAft>
              <a:buNone/>
            </a:pPr>
            <a:r>
              <a:rPr sz="1700" b="0">
                <a:solidFill>
                  <a:srgbClr val="373D42"/>
                </a:solidFill>
                <a:latin typeface="Segoe UI"/>
              </a:rPr>
              <a:t>🌱  </a:t>
            </a:r>
            <a:r>
              <a:rPr sz="1700" b="0">
                <a:solidFill>
                  <a:srgbClr val="373D42"/>
                </a:solidFill>
                <a:latin typeface="Segoe UI"/>
              </a:rPr>
              <a:t>Plan Backward. Implement Forward. Evaluate Always.</a:t>
            </a:r>
          </a:p>
          <a:p>
            <a:pPr marL="347472" indent="-347472">
              <a:lnSpc>
                <a:spcPct val="114000"/>
              </a:lnSpc>
              <a:spcAft>
                <a:spcPts val="986"/>
              </a:spcAft>
              <a:buNone/>
            </a:pPr>
            <a:r>
              <a:rPr sz="1700" b="0">
                <a:solidFill>
                  <a:srgbClr val="373D42"/>
                </a:solidFill>
                <a:latin typeface="Segoe UI"/>
              </a:rPr>
              <a:t>🌱  </a:t>
            </a:r>
            <a:r>
              <a:rPr sz="1700" b="0">
                <a:solidFill>
                  <a:srgbClr val="373D42"/>
                </a:solidFill>
                <a:latin typeface="Segoe UI"/>
              </a:rPr>
              <a:t>Contact:</a:t>
            </a:r>
          </a:p>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Email:  </a:t>
            </a:r>
            <a:r>
              <a:rPr sz="1700" b="0">
                <a:solidFill>
                  <a:srgbClr val="373D42"/>
                </a:solidFill>
                <a:latin typeface="Segoe UI"/>
              </a:rPr>
              <a:t>[Professor's Email]</a:t>
            </a:r>
          </a:p>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Office Hours:  </a:t>
            </a:r>
            <a:r>
              <a:rPr sz="1700" b="0">
                <a:solidFill>
                  <a:srgbClr val="373D42"/>
                </a:solidFill>
                <a:latin typeface="Segoe UI"/>
              </a:rPr>
              <a:t>[Time/Location]</a:t>
            </a:r>
          </a:p>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Next Week:  </a:t>
            </a:r>
            <a:r>
              <a:rPr sz="1700" b="0">
                <a:solidFill>
                  <a:srgbClr val="373D42"/>
                </a:solidFill>
                <a:latin typeface="Segoe UI"/>
              </a:rPr>
              <a:t>Lecture 5 - Instructions for the First Part of the Report</a:t>
            </a:r>
          </a:p>
          <a:p>
            <a:pPr marL="347472" indent="-347472">
              <a:lnSpc>
                <a:spcPct val="114000"/>
              </a:lnSpc>
              <a:spcAft>
                <a:spcPts val="986"/>
              </a:spcAft>
              <a:buNone/>
            </a:pPr>
            <a:r>
              <a:rPr sz="1700" b="0">
                <a:solidFill>
                  <a:srgbClr val="373D42"/>
                </a:solidFill>
                <a:latin typeface="Segoe UI"/>
              </a:rPr>
              <a:t>🌱  </a:t>
            </a:r>
            <a:r>
              <a:rPr sz="1700" b="0">
                <a:solidFill>
                  <a:srgbClr val="373D42"/>
                </a:solidFill>
                <a:latin typeface="Segoe UI"/>
              </a:rPr>
              <a:t>Transitioning from theory to your actual graded assignment.</a:t>
            </a:r>
          </a:p>
          <a:p>
            <a:pPr marL="347472" indent="-347472">
              <a:lnSpc>
                <a:spcPct val="114000"/>
              </a:lnSpc>
              <a:spcAft>
                <a:spcPts val="986"/>
              </a:spcAft>
              <a:buNone/>
            </a:pPr>
            <a:r>
              <a:rPr sz="1700" b="0">
                <a:solidFill>
                  <a:srgbClr val="373D42"/>
                </a:solidFill>
                <a:latin typeface="Segoe UI"/>
              </a:rPr>
              <a:t>🌱  </a:t>
            </a:r>
            <a:r>
              <a:rPr sz="1700" b="0">
                <a:solidFill>
                  <a:srgbClr val="373D42"/>
                </a:solidFill>
                <a:latin typeface="Segoe UI"/>
              </a:rPr>
              <a:t>Deep dive into writing a professional Needs Assessment.</a:t>
            </a:r>
          </a:p>
          <a:p>
            <a:pPr marL="347472" indent="-347472">
              <a:lnSpc>
                <a:spcPct val="114000"/>
              </a:lnSpc>
              <a:spcAft>
                <a:spcPts val="986"/>
              </a:spcAft>
              <a:buNone/>
            </a:pPr>
            <a:r>
              <a:rPr sz="1700" b="0">
                <a:solidFill>
                  <a:srgbClr val="373D42"/>
                </a:solidFill>
                <a:latin typeface="Segoe UI"/>
              </a:rPr>
              <a:t>🌱  </a:t>
            </a:r>
            <a:r>
              <a:rPr sz="1700" b="0">
                <a:solidFill>
                  <a:srgbClr val="373D42"/>
                </a:solidFill>
                <a:latin typeface="Segoe UI"/>
              </a:rPr>
              <a:t>How to conduct a community-level Predisposing, Enabling, and Reinforcing factor analysis.</a:t>
            </a:r>
          </a:p>
          <a:p>
            <a:pPr marL="347472" indent="-347472">
              <a:lnSpc>
                <a:spcPct val="114000"/>
              </a:lnSpc>
              <a:spcAft>
                <a:spcPts val="986"/>
              </a:spcAft>
              <a:buNone/>
            </a:pPr>
            <a:r>
              <a:rPr sz="1700" b="0">
                <a:solidFill>
                  <a:srgbClr val="373D42"/>
                </a:solidFill>
                <a:latin typeface="Segoe UI"/>
              </a:rPr>
              <a:t>🌱  </a:t>
            </a:r>
            <a:r>
              <a:rPr sz="1700" b="0">
                <a:solidFill>
                  <a:srgbClr val="373D42"/>
                </a:solidFill>
                <a:latin typeface="Segoe UI"/>
              </a:rPr>
              <a:t>Formatting, citations, and the rubric for top marks.</a:t>
            </a:r>
          </a:p>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Action Item:  </a:t>
            </a:r>
            <a:r>
              <a:rPr sz="1700" b="0">
                <a:solidFill>
                  <a:srgbClr val="373D42"/>
                </a:solidFill>
                <a:latin typeface="Segoe UI"/>
              </a:rPr>
              <a:t>Finalize the target population and specific health issue for your Final Report. Begin gathering epidemiological data (Phase 2) for your chosen community.</a:t>
            </a:r>
          </a:p>
          <a:p>
            <a:pPr marL="347472" indent="-347472">
              <a:lnSpc>
                <a:spcPct val="114000"/>
              </a:lnSpc>
              <a:spcAft>
                <a:spcPts val="986"/>
              </a:spcAft>
              <a:buNone/>
            </a:pPr>
            <a:r>
              <a:rPr sz="1700" b="0">
                <a:solidFill>
                  <a:srgbClr val="373D42"/>
                </a:solidFill>
                <a:latin typeface="Segoe UI"/>
              </a:rPr>
              <a:t>🌱  </a:t>
            </a:r>
            <a:r>
              <a:rPr sz="1700" b="0">
                <a:solidFill>
                  <a:srgbClr val="373D42"/>
                </a:solidFill>
                <a:latin typeface="Segoe UI"/>
              </a:rPr>
              <a:t>See you next week.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Theories in Health Promotion Programs - The PRECEDE-PROCEED Model</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