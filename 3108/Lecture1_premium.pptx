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Introduction to the Paradigm Shift</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1:  </a:t>
            </a:r>
            <a:r>
              <a:rPr sz="1800" b="0">
                <a:solidFill>
                  <a:srgbClr val="373D42"/>
                </a:solidFill>
                <a:latin typeface="Segoe UI"/>
              </a:rPr>
              <a:t>Introduction to the Paradigm Shift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Hook:  </a:t>
            </a:r>
            <a:r>
              <a:rPr sz="1800" b="0">
                <a:solidFill>
                  <a:srgbClr val="373D42"/>
                </a:solidFill>
                <a:latin typeface="Segoe UI"/>
              </a:rPr>
              <a:t>Hospitals cannot cure poverty. This course is about what can.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We'll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hospitals can't cure poverty, and what that means for this course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murder mystery from 1854 that invented modern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health resists a clean definition, and why that might be a feature, not a bug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four-level ladder of prevention, from policy to rehabilitation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zip code effect:  </a:t>
            </a:r>
            <a:r>
              <a:rPr sz="1800" b="0">
                <a:solidFill>
                  <a:srgbClr val="373D42"/>
                </a:solidFill>
                <a:latin typeface="Segoe UI"/>
              </a:rPr>
              <a:t>why socioeconomic status outlives every disease it gets blamed 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Ottawa Charter's five-point plan for taking health promotion seriously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Your first look at the report you'll be building all semester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Medicine Makes People Live Longer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"Medicine makes people live longer. Health promotion makes people live better."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CORE PHILOSOPHY OF THIS COURSE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Are We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Limitation of Medicine:  </a:t>
            </a:r>
            <a:r>
              <a:rPr sz="1800" b="0">
                <a:solidFill>
                  <a:srgbClr val="373D42"/>
                </a:solidFill>
                <a:latin typeface="Segoe UI"/>
              </a:rPr>
              <a:t>Hospitals cannot cure poverty. Surgeons cannot operate on a lack of education. Pills cannot fix a toxic neighborhood.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Shift:  </a:t>
            </a:r>
            <a:r>
              <a:rPr sz="1800" b="0">
                <a:solidFill>
                  <a:srgbClr val="373D42"/>
                </a:solidFill>
                <a:latin typeface="Segoe UI"/>
              </a:rPr>
              <a:t>Moving from reacting to biological sickness to investing in societal vitality.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Big Question:  </a:t>
            </a:r>
            <a:r>
              <a:rPr sz="1800" b="0">
                <a:solidFill>
                  <a:srgbClr val="373D42"/>
                </a:solidFill>
                <a:latin typeface="Segoe UI"/>
              </a:rPr>
              <a:t>How do we design a society where people never get sick in the first place?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Be prepared to contrast the Medical Model (downstream, individual, biological treatment) with the Public Health Model (upstream, environmental, systemic intervention).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PARADIGM SHIFT IN HUMAN SURVIVAL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Tale of the Broad Street Pump (1854)</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Crisis:  </a:t>
            </a:r>
            <a:r>
              <a:rPr sz="1800" b="0">
                <a:solidFill>
                  <a:srgbClr val="373D42"/>
                </a:solidFill>
                <a:latin typeface="Segoe UI"/>
              </a:rPr>
              <a:t>Cholera outbreak in London.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Medical Response:  </a:t>
            </a:r>
            <a:r>
              <a:rPr sz="1800" b="0">
                <a:solidFill>
                  <a:srgbClr val="373D42"/>
                </a:solidFill>
                <a:latin typeface="Segoe UI"/>
              </a:rPr>
              <a:t>Treating the sick, bleeding patients, blaming bad air (miasma).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Public Health Response (John Snow):  </a:t>
            </a:r>
            <a:r>
              <a:rPr sz="1800" b="0">
                <a:solidFill>
                  <a:srgbClr val="373D42"/>
                </a:solidFill>
                <a:latin typeface="Segoe UI"/>
              </a:rPr>
              <a:t>Mapped the deaths, identified the contaminated water pump, and removed the handle.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Lesson:  </a:t>
            </a:r>
            <a:r>
              <a:rPr sz="1800" b="0">
                <a:solidFill>
                  <a:srgbClr val="373D42"/>
                </a:solidFill>
                <a:latin typeface="Segoe UI"/>
              </a:rPr>
              <a:t>He did not invent a medicine, he changed the environment.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Health promotion is the science of removing the pump handle.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DEFINING HEALTH (THE 1948 WHO DEFINITION)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Revolutionary Concept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World Health Organization (1948):  </a:t>
            </a:r>
            <a:r>
              <a:rPr sz="1800" b="0">
                <a:solidFill>
                  <a:srgbClr val="373D42"/>
                </a:solidFill>
                <a:latin typeface="Segoe UI"/>
              </a:rPr>
              <a:t>Health is a state of complete physical, mental and social well-being and not merely the absence of disease or infirmity.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Why this mattered:  </a:t>
            </a:r>
            <a:r>
              <a:rPr sz="1800" b="0">
                <a:solidFill>
                  <a:srgbClr val="373D42"/>
                </a:solidFill>
                <a:latin typeface="Segoe UI"/>
              </a:rPr>
              <a:t>Broke the monopoly of the biological and medical model. Introduced mental and social dimensions as equal to physical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Critical Flaw:  </a:t>
            </a:r>
            <a:r>
              <a:rPr sz="1800" b="0">
                <a:solidFill>
                  <a:srgbClr val="373D42"/>
                </a:solidFill>
                <a:latin typeface="Segoe UI"/>
              </a:rPr>
              <a:t>The word "complete." If health requires complete well-being, then anyone with a mild headache, grief, or stress is technically unhealthy. It turns health into an unattainable utopia.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SALUTOGENESIS: A BETTER DEFINITION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Aaron Antonovsky's Paradigm (1970s)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Instead of asking "What causes disease?" (Pathogenesis), Antonovsky asked "What creates health?" (Salutogenesis).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Health is a Continuum, not a fixed state. We slide up and down the health continuum daily based on our resources.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Sense of Coherence (SOC):</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Comprehensibility:  </a:t>
            </a:r>
            <a:r>
              <a:rPr sz="1800" b="0">
                <a:solidFill>
                  <a:srgbClr val="373D42"/>
                </a:solidFill>
                <a:latin typeface="Segoe UI"/>
              </a:rPr>
              <a:t>The world makes sense.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Manageability:  </a:t>
            </a:r>
            <a:r>
              <a:rPr sz="1800" b="0">
                <a:solidFill>
                  <a:srgbClr val="373D42"/>
                </a:solidFill>
                <a:latin typeface="Segoe UI"/>
              </a:rPr>
              <a:t>I have the resources to cope.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Meaningfulness:  </a:t>
            </a:r>
            <a:r>
              <a:rPr sz="1800" b="0">
                <a:solidFill>
                  <a:srgbClr val="373D42"/>
                </a:solidFill>
                <a:latin typeface="Segoe UI"/>
              </a:rPr>
              <a:t>Life's challenges are worth the effort.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Use Salutogenesis to explain how a person with a chronic disability can still possess high health if their SOC and coping resources are strong.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HEALTH AS A RESOURCE FOR LIVING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Ottawa Charter Re-framing (1986)</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Health is a resource for everyday life, not the objective of living.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Car Analogy:  </a:t>
            </a:r>
            <a:r>
              <a:rPr sz="1800" b="0">
                <a:solidFill>
                  <a:srgbClr val="373D42"/>
                </a:solidFill>
                <a:latin typeface="Segoe UI"/>
              </a:rPr>
              <a:t>Gas is not the goal of driving, it is the resource that gets you to your destination.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Human Analogy:  </a:t>
            </a:r>
            <a:r>
              <a:rPr sz="1800" b="0">
                <a:solidFill>
                  <a:srgbClr val="373D42"/>
                </a:solidFill>
                <a:latin typeface="Segoe UI"/>
              </a:rPr>
              <a:t>Health is not the goal of life. The goals are to love, learn, work, and play. Health is the fuel that allows us to do those things.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Health Capital:  </a:t>
            </a:r>
            <a:r>
              <a:rPr sz="1800" b="0">
                <a:solidFill>
                  <a:srgbClr val="373D42"/>
                </a:solidFill>
                <a:latin typeface="Segoe UI"/>
              </a:rPr>
              <a:t>Like a bank account, it can be invested in or depleted by social 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DECONSTRUCTING THE MEDICAL EXPERIENCE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Disease vs. Illness vs. Sickness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These are not synonyms. They represent three different realities.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Disease (The Doctor's View):  </a:t>
            </a:r>
            <a:r>
              <a:rPr sz="1800" b="0">
                <a:solidFill>
                  <a:srgbClr val="373D42"/>
                </a:solidFill>
                <a:latin typeface="Segoe UI"/>
              </a:rPr>
              <a:t>The biological pathology (e.g., a tumor, a virus, high blood pressure). Objective.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Illness (The Patient's View):  </a:t>
            </a:r>
            <a:r>
              <a:rPr sz="1800" b="0">
                <a:solidFill>
                  <a:srgbClr val="373D42"/>
                </a:solidFill>
                <a:latin typeface="Segoe UI"/>
              </a:rPr>
              <a:t>The subjective, lived experience of feeling unwell (e.g., pain, fatigue, fear).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Sickness (Society's View):  </a:t>
            </a:r>
            <a:r>
              <a:rPr sz="1800" b="0">
                <a:solidFill>
                  <a:srgbClr val="373D42"/>
                </a:solidFill>
                <a:latin typeface="Segoe UI"/>
              </a:rPr>
              <a:t>The social role granted by society (e.g., getting a doctor's note, disability benefits).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Paradox:  </a:t>
            </a:r>
            <a:r>
              <a:rPr sz="1800" b="0">
                <a:solidFill>
                  <a:srgbClr val="373D42"/>
                </a:solidFill>
                <a:latin typeface="Segoe UI"/>
              </a:rPr>
              <a:t>You can have a disease without an illness (asymptomatic hypertension), and an illness without a disease (chronic fatigue with normal labs).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Iceberg Model of Disease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Chart type:  </a:t>
            </a:r>
            <a:r>
              <a:rPr sz="1800" b="0">
                <a:solidFill>
                  <a:srgbClr val="373D42"/>
                </a:solidFill>
                <a:latin typeface="Segoe UI"/>
              </a:rPr>
              <a:t>layered iceberg, four horizontal bands split by a waterline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Above the Waterline (the visible tip):  </a:t>
            </a:r>
            <a:r>
              <a:rPr sz="1800" b="0">
                <a:solidFill>
                  <a:srgbClr val="373D42"/>
                </a:solidFill>
                <a:latin typeface="Segoe UI"/>
              </a:rPr>
              <a:t>Recognized, diagnosed Disease, what hospitals and clinics actually treat.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Just Below the Surface:  </a:t>
            </a:r>
            <a:r>
              <a:rPr sz="1800" b="0">
                <a:solidFill>
                  <a:srgbClr val="373D42"/>
                </a:solidFill>
                <a:latin typeface="Segoe UI"/>
              </a:rPr>
              <a:t>Undiagnosed conditions, sub-clinical symptoms, and risk factors nobody has screened for yet.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Deep Below the Surface:  </a:t>
            </a:r>
            <a:r>
              <a:rPr sz="1800" b="0">
                <a:solidFill>
                  <a:srgbClr val="373D42"/>
                </a:solidFill>
                <a:latin typeface="Segoe UI"/>
              </a:rPr>
              <a:t>The full weight of Illness that never gets a medical label at all.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Water Itself:  </a:t>
            </a:r>
            <a:r>
              <a:rPr sz="1800" b="0">
                <a:solidFill>
                  <a:srgbClr val="373D42"/>
                </a:solidFill>
                <a:latin typeface="Segoe UI"/>
              </a:rPr>
              <a:t>The social environment that decides who gets labeled Sick and who is simply ignored.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Public health mostly treats the tip. Health promotion addresses the whole iceberg.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Framing:  </a:t>
            </a:r>
            <a:r>
              <a:rPr sz="1800" b="0">
                <a:solidFill>
                  <a:srgbClr val="373D42"/>
                </a:solidFill>
                <a:latin typeface="Segoe UI"/>
              </a:rPr>
              <a:t>A short reflection before we go further.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Myopia (nearsightedness) is a severe biological impairment. Yet, because society invented cheap eyeglasses, it is rarely considered a disability. What does that tell us about what "disability" actually measures?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many disabilities exist today simply because society refuses to design environments for neurodivergent brains, such as ADHD or Autism?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a pair of cheap glasses can retire a disability overnight, what would a cheap, widely available fix retire next, and who is currently refusing to build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DEFINING DISABILITY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Medical Model vs. Social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Medical Model:  </a:t>
            </a:r>
            <a:r>
              <a:rPr sz="1800" b="0">
                <a:solidFill>
                  <a:srgbClr val="373D42"/>
                </a:solidFill>
                <a:latin typeface="Segoe UI"/>
              </a:rPr>
              <a:t>Disability is a broken body that needs to be fixed to fit into normal society. Focus: Curing the impairment.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Social Model (The HP Standard):  </a:t>
            </a:r>
            <a:r>
              <a:rPr sz="1800" b="0">
                <a:solidFill>
                  <a:srgbClr val="373D42"/>
                </a:solidFill>
                <a:latin typeface="Segoe UI"/>
              </a:rPr>
              <a:t>Impairment is the biological fact (e.g., inability to walk). Disability is socially constructed (e.g., the building only has stairs). Focus: Removing societal barriers and utilizing Universal Design.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If a case study features a wheelchair user unable to enter a clinic, the stairs are the disability, not the legs.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HEALTH PROMOTION VS. DISEASE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Two Sides of the Same Coin?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Disease Prevention:  </a:t>
            </a:r>
            <a:r>
              <a:rPr sz="1800" b="0">
                <a:solidFill>
                  <a:srgbClr val="373D42"/>
                </a:solidFill>
                <a:latin typeface="Segoe UI"/>
              </a:rPr>
              <a:t>Focus is avoiding the bad (Pathogenic). Target is specific risks and at-risk groups. Examples: vaccines, cancer screenings, statins. Goal: stop a specific pathology.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Health Promotion:  </a:t>
            </a:r>
            <a:r>
              <a:rPr sz="1800" b="0">
                <a:solidFill>
                  <a:srgbClr val="373D42"/>
                </a:solidFill>
                <a:latin typeface="Segoe UI"/>
              </a:rPr>
              <a:t>Focus is building the good (Salutogenic). Target is whole populations and broad determinants. Examples: paid maternity leave, safe parks, living wages. Goal: increase vitality and control.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best public health programs seamlessly integrate both.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PARABLE OF THE RIVER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Upstream vs. Downstream Thinking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Downstream:  </a:t>
            </a:r>
            <a:r>
              <a:rPr sz="1800" b="0">
                <a:solidFill>
                  <a:srgbClr val="373D42"/>
                </a:solidFill>
                <a:latin typeface="Segoe UI"/>
              </a:rPr>
              <a:t>Diving in to rescue the drowning. Emergency rooms, trauma care. Heroic, but exhausting and endless.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Midstream:  </a:t>
            </a:r>
            <a:r>
              <a:rPr sz="1800" b="0">
                <a:solidFill>
                  <a:srgbClr val="373D42"/>
                </a:solidFill>
                <a:latin typeface="Segoe UI"/>
              </a:rPr>
              <a:t>Pulling people out before the rapids. Community clinics, behavior change.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Upstream:  </a:t>
            </a:r>
            <a:r>
              <a:rPr sz="1800" b="0">
                <a:solidFill>
                  <a:srgbClr val="373D42"/>
                </a:solidFill>
                <a:latin typeface="Segoe UI"/>
              </a:rPr>
              <a:t>Walking to the source to find out who is pushing them in, and building a fence. Policy, environment, systemic change.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Health Promotion is the science of walking upstream.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0: PRIMORDIAL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Preventing the Risk Factor from Emerging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Target:  </a:t>
            </a:r>
            <a:r>
              <a:rPr sz="1800" b="0">
                <a:solidFill>
                  <a:srgbClr val="373D42"/>
                </a:solidFill>
                <a:latin typeface="Segoe UI"/>
              </a:rPr>
              <a:t>entire populations, societal norms, macro-environments. Goal: stop the risk factor from ever existing in the culture.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banning trans-fats in the national food supply, designing cities so walking is the default, universal basic income to prevent the chronic stress of poverty.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This is the deepest, most powerful level of intervention.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1: PRIMARY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Preventing the Disease from Occurring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Target:  </a:t>
            </a:r>
            <a:r>
              <a:rPr sz="1800" b="0">
                <a:solidFill>
                  <a:srgbClr val="373D42"/>
                </a:solidFill>
                <a:latin typeface="Segoe UI"/>
              </a:rPr>
              <a:t>healthy individuals or those with existing risk factors. Goal: stop the biological pathology from starting.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immunizations (measles, HPV), condom distribution (HIV prevention), mandatory seatbelt laws and hard-hat regulations, fluoride in the water supply.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Shield of Public Health.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2: SECONDARY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Early Detection and Prompt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Target:  </a:t>
            </a:r>
            <a:r>
              <a:rPr sz="1800" b="0">
                <a:solidFill>
                  <a:srgbClr val="373D42"/>
                </a:solidFill>
                <a:latin typeface="Segoe UI"/>
              </a:rPr>
              <a:t>asymptomatic individuals with early, sub-clinical disease. Goal: halt progression before irreversible damage.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mammograms, Pap smears, colonoscopies, routine blood pressure and cholesterol checks.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Critical Concept:  </a:t>
            </a:r>
            <a:r>
              <a:rPr sz="1800" b="0">
                <a:solidFill>
                  <a:srgbClr val="373D42"/>
                </a:solidFill>
                <a:latin typeface="Segoe UI"/>
              </a:rPr>
              <a:t>Lead-Time Bias. Finding a slow-growing, non-fatal tumor early does not always save a life, it may just prolong the time the person spends as an anxious patient.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3: TERTIARY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Reducing the Impact of Established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Target:  </a:t>
            </a:r>
            <a:r>
              <a:rPr sz="1800" b="0">
                <a:solidFill>
                  <a:srgbClr val="373D42"/>
                </a:solidFill>
                <a:latin typeface="Segoe UI"/>
              </a:rPr>
              <a:t>individuals with symptomatic, diagnosed, chronic disease. Goal: prevent complications, restore function, improve Quality of Life (QoL).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diabetic foot-care clinics (preventing amputation), cardiac rehabilitation post-heart attack, stroke recovery physiotherapy.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We are no longer preventing the disease, we are preventing the disability and premature death associated with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PREVENTION CONTINUUM (SUMMARY)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Timeline of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Primordial:  </a:t>
            </a:r>
            <a:r>
              <a:rPr sz="1800" b="0">
                <a:solidFill>
                  <a:srgbClr val="373D42"/>
                </a:solidFill>
                <a:latin typeface="Segoe UI"/>
              </a:rPr>
              <a:t>No risk factors exist. Policy and environment.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Primary:  </a:t>
            </a:r>
            <a:r>
              <a:rPr sz="1800" b="0">
                <a:solidFill>
                  <a:srgbClr val="373D42"/>
                </a:solidFill>
                <a:latin typeface="Segoe UI"/>
              </a:rPr>
              <a:t>Risk factors exist, but no disease. Behavior and shields.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Secondary:  </a:t>
            </a:r>
            <a:r>
              <a:rPr sz="1800" b="0">
                <a:solidFill>
                  <a:srgbClr val="373D42"/>
                </a:solidFill>
                <a:latin typeface="Segoe UI"/>
              </a:rPr>
              <a:t>Disease exists, but no symptoms. Screening.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Tertiary:  </a:t>
            </a:r>
            <a:r>
              <a:rPr sz="1800" b="0">
                <a:solidFill>
                  <a:srgbClr val="373D42"/>
                </a:solidFill>
                <a:latin typeface="Segoe UI"/>
              </a:rPr>
              <a:t>Symptoms and disease exist. Rehab and management.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You will be given 10 public health interventions on the midterm. You must categorize them into these four levels and justify your choice.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DETERMINANTS OF HEALTH (SDOH)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Your Zip Code Is More Powerful Than Your Genetic Code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conditions in which people are born, grow, live, work, and 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Income and Social Protection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Education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Housing and Neighborhood Design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Food Security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Early Childhood Development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Medicine accounts for only 10 to 20 percent of health outcomes. SDOH account for the rest.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Research Spotlight: Fundamental Cause Theory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Citation:  </a:t>
            </a:r>
            <a:r>
              <a:rPr sz="1800" b="0">
                <a:solidFill>
                  <a:srgbClr val="373D42"/>
                </a:solidFill>
                <a:latin typeface="Segoe UI"/>
              </a:rPr>
              <a:t>Link, B.G., and Phelan, J.C. (1995). Social conditions as fundamental causes of disease. Journal of Health and Social Behavior, Spec No, 80 to 94.</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Summary:  </a:t>
            </a:r>
            <a:r>
              <a:rPr sz="1800" b="0">
                <a:solidFill>
                  <a:srgbClr val="373D42"/>
                </a:solidFill>
                <a:latin typeface="Segoe UI"/>
              </a:rPr>
              <a:t>Link and Phelan argue that socioeconomic status is a "fundamental cause" of disease because it grants people flexible resources, money, knowledge, power, prestige, and social connections, that can be redeployed against whatever health threat happens to be dominant. That is why the specific disease changes across eras, tuberculosis, then heart disease, then obesity, while the same people keep escaping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Relevance:  </a:t>
            </a:r>
            <a:r>
              <a:rPr sz="1800" b="0">
                <a:solidFill>
                  <a:srgbClr val="373D42"/>
                </a:solidFill>
                <a:latin typeface="Segoe UI"/>
              </a:rPr>
              <a:t>This is the theoretical backbone behind the claim that you cannot educate your way out of a fundamental lack of resources.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[Insert screenshot of the abstract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HEALTH GRADIENT AND THE WHITEHALL STUDIES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Not Just Poverty vs. Wealth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Finding:  </a:t>
            </a:r>
            <a:r>
              <a:rPr sz="1800" b="0">
                <a:solidFill>
                  <a:srgbClr val="373D42"/>
                </a:solidFill>
                <a:latin typeface="Segoe UI"/>
              </a:rPr>
              <a:t>Health operates on a continuous step-by-step gradient. The middle class is sicker than the upper class, the working class is sicker than the middle class.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Whitehall Studies (British Civil Servants):  </a:t>
            </a:r>
            <a:r>
              <a:rPr sz="1800" b="0">
                <a:solidFill>
                  <a:srgbClr val="373D42"/>
                </a:solidFill>
                <a:latin typeface="Segoe UI"/>
              </a:rPr>
              <a:t>Everyone had a job. Everyone had the exact same universal healthcare. Yet clerical workers had 3 times the heart disease mortality of top administrators.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Culprit:  </a:t>
            </a:r>
            <a:r>
              <a:rPr sz="1800" b="0">
                <a:solidFill>
                  <a:srgbClr val="373D42"/>
                </a:solidFill>
                <a:latin typeface="Segoe UI"/>
              </a:rPr>
              <a:t>Allostatic Load (biological wear-and-tear) caused by low autonomy, high stress, and lack of control over one's work environment.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SETTINGS APPROACH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Where Health Is Created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Hospitals are actually poor places for health promotion (stressful, pathogenic, expensive). Health must be integrated into everyday settings.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Schools:  </a:t>
            </a:r>
            <a:r>
              <a:rPr sz="1800" b="0">
                <a:solidFill>
                  <a:srgbClr val="373D42"/>
                </a:solidFill>
                <a:latin typeface="Segoe UI"/>
              </a:rPr>
              <a:t>banning sugary drinks, designing active playgrounds.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Workplaces:  </a:t>
            </a:r>
            <a:r>
              <a:rPr sz="1800" b="0">
                <a:solidFill>
                  <a:srgbClr val="373D42"/>
                </a:solidFill>
                <a:latin typeface="Segoe UI"/>
              </a:rPr>
              <a:t>flexible hours, ergonomic setups, psychological safety.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Cities (WHO Healthy Cities):  </a:t>
            </a:r>
            <a:r>
              <a:rPr sz="1800" b="0">
                <a:solidFill>
                  <a:srgbClr val="373D42"/>
                </a:solidFill>
                <a:latin typeface="Segoe UI"/>
              </a:rPr>
              <a:t>active transport, green spaces, mixed-use zoning.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Prisons:  </a:t>
            </a:r>
            <a:r>
              <a:rPr sz="1800" b="0">
                <a:solidFill>
                  <a:srgbClr val="373D42"/>
                </a:solidFill>
                <a:latin typeface="Segoe UI"/>
              </a:rPr>
              <a:t>addressing trauma, addiction, and social reintegration.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setting itself becomes the intervention.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OTTAWA CHARTER (1986)</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Constitution of Health Promotion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Core Definition:  </a:t>
            </a:r>
            <a:r>
              <a:rPr sz="1800" b="0">
                <a:solidFill>
                  <a:srgbClr val="373D42"/>
                </a:solidFill>
                <a:latin typeface="Segoe UI"/>
              </a:rPr>
              <a:t>The process of enabling people to increase control over, and to improve, their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Three Basic Strategies: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Advocate for political and economic conditions.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Enable, reduce inequities, ensure equal opportunities.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Mediate, coordinate across different sectors, not just health.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OTTAWA ACTION AREAS 1 AND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Upstream Structural Change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Build Healthy Public Policy (Health in All Policies, HiAP): health must be on the agenda of all lawmakers, agriculture, transport, finance. Examples: sugar taxes, minimum wage laws, urban zoning.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Create Supportive Environments:  </a:t>
            </a:r>
            <a:r>
              <a:rPr sz="1800" b="0">
                <a:solidFill>
                  <a:srgbClr val="373D42"/>
                </a:solidFill>
                <a:latin typeface="Segoe UI"/>
              </a:rPr>
              <a:t>altering the choice architecture so the healthy choice is the default. Examples: removing soda from checkout aisles, making stairwells bright and musical.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OTTAWA ACTION AREAS 3 AND 4</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Human and Social Capital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Strengthen Community Action:  </a:t>
            </a:r>
            <a:r>
              <a:rPr sz="1800" b="0">
                <a:solidFill>
                  <a:srgbClr val="373D42"/>
                </a:solidFill>
                <a:latin typeface="Segoe UI"/>
              </a:rPr>
              <a:t>doing things WITH communities, not TO them. Empowerment, ownership, and utilizing lived experience.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Develop Personal Skills:  </a:t>
            </a:r>
            <a:r>
              <a:rPr sz="1800" b="0">
                <a:solidFill>
                  <a:srgbClr val="373D42"/>
                </a:solidFill>
                <a:latin typeface="Segoe UI"/>
              </a:rPr>
              <a:t>moving beyond basic facts to Health Literacy and life skills, coping, cooking, navigating systems.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Warning:  </a:t>
            </a:r>
            <a:r>
              <a:rPr sz="1800" b="0">
                <a:solidFill>
                  <a:srgbClr val="373D42"/>
                </a:solidFill>
                <a:latin typeface="Segoe UI"/>
              </a:rPr>
              <a:t>focusing only on skills without changing the environment leads to Victim-Blaming.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OTTAWA ACTION AREA 5</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Reorienting Health Services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Moving from Curative Care to Health-Promoting Care.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Social Prescribing:  </a:t>
            </a:r>
            <a:r>
              <a:rPr sz="1800" b="0">
                <a:solidFill>
                  <a:srgbClr val="373D42"/>
                </a:solidFill>
                <a:latin typeface="Segoe UI"/>
              </a:rPr>
              <a:t>doctors prescribing community gardening, debt counseling, or art classes to address SDOH.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Systemic Shift:  </a:t>
            </a:r>
            <a:r>
              <a:rPr sz="1800" b="0">
                <a:solidFill>
                  <a:srgbClr val="373D42"/>
                </a:solidFill>
                <a:latin typeface="Segoe UI"/>
              </a:rPr>
              <a:t>moving from Fee-For-Service, rewarding sickness, to Value-Based Care, rewarding wellness.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Hospitals must practice what they preach, for example paying their cleaners a living wage.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Equity vs. Equality vs. Justice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Chart type:  </a:t>
            </a:r>
            <a:r>
              <a:rPr sz="1800" b="0">
                <a:solidFill>
                  <a:srgbClr val="373D42"/>
                </a:solidFill>
                <a:latin typeface="Segoe UI"/>
              </a:rPr>
              <a:t>three panels, each showing three people of different heights trying to see over a fence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Panel 1, Equality (Sameness):  </a:t>
            </a:r>
            <a:r>
              <a:rPr sz="1800" b="0">
                <a:solidFill>
                  <a:srgbClr val="373D42"/>
                </a:solidFill>
                <a:latin typeface="Segoe UI"/>
              </a:rPr>
              <a:t>every person is given the exact same size box to stand on. Fails the shortest person, who still cannot see.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Panel 2, Equity (Fairness):  </a:t>
            </a:r>
            <a:r>
              <a:rPr sz="1800" b="0">
                <a:solidFill>
                  <a:srgbClr val="373D42"/>
                </a:solidFill>
                <a:latin typeface="Segoe UI"/>
              </a:rPr>
              <a:t>each person is given a different-sized box based on what they need to reach the same sightline.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Panel 3, Justice (Structural Change):  </a:t>
            </a:r>
            <a:r>
              <a:rPr sz="1800" b="0">
                <a:solidFill>
                  <a:srgbClr val="373D42"/>
                </a:solidFill>
                <a:latin typeface="Segoe UI"/>
              </a:rPr>
              <a:t>the solid wooden fence is removed and replaced with a see-through chain-link fence. Nobody needs a box at all.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Always design interventions for the most marginalized. If it works for them, it works for everyone.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Research Spotlight: Redefining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Citation:  </a:t>
            </a:r>
            <a:r>
              <a:rPr sz="1800" b="0">
                <a:solidFill>
                  <a:srgbClr val="373D42"/>
                </a:solidFill>
                <a:latin typeface="Segoe UI"/>
              </a:rPr>
              <a:t>Huber, M., Knottnerus, J.A., Green, L., et al. (2011). How should we define health? BMJ, 343, d4163.</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Summary:  </a:t>
            </a:r>
            <a:r>
              <a:rPr sz="1800" b="0">
                <a:solidFill>
                  <a:srgbClr val="373D42"/>
                </a:solidFill>
                <a:latin typeface="Segoe UI"/>
              </a:rPr>
              <a:t>Sixty-three years after the WHO's 1948 definition, a panel of health scientists formally proposed retiring it. They argued that requiring "complete" well-being inadvertently declares every person with a chronic illness or disability permanently unhealthy, and proposed replacing it with health as the ability to adapt and self-manage in the face of life's physical, mental, and social challenges.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Relevance:  </a:t>
            </a:r>
            <a:r>
              <a:rPr sz="1800" b="0">
                <a:solidFill>
                  <a:srgbClr val="373D42"/>
                </a:solidFill>
                <a:latin typeface="Segoe UI"/>
              </a:rPr>
              <a:t>This is the peer-reviewed, published version of the Critical Flaw this lecture raised earlier about the word "complete."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[Insert screenshot of the abstract here]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COMMERCIAL DETERMINANTS OF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Corporate Playbook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Private sector activities that negatively impact public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Big Four:  </a:t>
            </a:r>
            <a:r>
              <a:rPr sz="1800" b="0">
                <a:solidFill>
                  <a:srgbClr val="373D42"/>
                </a:solidFill>
                <a:latin typeface="Segoe UI"/>
              </a:rPr>
              <a:t>Tobacco, Ultra-processed Food, Alcohol, Fossil Fuels.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Manufacturing Doubt:  </a:t>
            </a:r>
            <a:r>
              <a:rPr sz="1800" b="0">
                <a:solidFill>
                  <a:srgbClr val="373D42"/>
                </a:solidFill>
                <a:latin typeface="Segoe UI"/>
              </a:rPr>
              <a:t>funding junk science to delay government regulation.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Health Washing:  </a:t>
            </a:r>
            <a:r>
              <a:rPr sz="1800" b="0">
                <a:solidFill>
                  <a:srgbClr val="373D42"/>
                </a:solidFill>
                <a:latin typeface="Segoe UI"/>
              </a:rPr>
              <a:t>using Corporate Social Responsibility, such as funding a youth sports league, as a smokescreen to avoid marketing regulations.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True health promotion requires regulating corporate power, not just educating consumers.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Framing:  </a:t>
            </a:r>
            <a:r>
              <a:rPr sz="1800" b="0">
                <a:solidFill>
                  <a:srgbClr val="373D42"/>
                </a:solidFill>
                <a:latin typeface="Segoe UI"/>
              </a:rPr>
              <a:t>Hold these tensions. They are the essence of our field.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health is determined by zip code, is lifestyle education just a distraction from wealth redistribution?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Can a health promotion campaign ever be truly neutral, or is it always an imposition of dominant cultural values?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Is it ethical to use AI and digital surveillance to nudge citizens toward healthy behaviors?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do we measure the success of a prevention program when the greatest victory is the complete absence of noticeable events?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COURSE ASSESSMENT AND EXPECTATIONS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Health Promotion Report and How to Excel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Your Mission:  </a:t>
            </a:r>
            <a:r>
              <a:rPr sz="1800" b="0">
                <a:solidFill>
                  <a:srgbClr val="373D42"/>
                </a:solidFill>
                <a:latin typeface="Segoe UI"/>
              </a:rPr>
              <a:t>Design a comprehensive, evidence-informed, equitable intervention for a specific population.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(Week 5):  </a:t>
            </a:r>
            <a:r>
              <a:rPr sz="1800" b="0">
                <a:solidFill>
                  <a:srgbClr val="373D42"/>
                </a:solidFill>
                <a:latin typeface="Segoe UI"/>
              </a:rPr>
              <a:t>Needs Assessment, Target Population, and Theoretical Framework.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(Week 12):  </a:t>
            </a:r>
            <a:r>
              <a:rPr sz="1800" b="0">
                <a:solidFill>
                  <a:srgbClr val="373D42"/>
                </a:solidFill>
                <a:latin typeface="Segoe UI"/>
              </a:rPr>
              <a:t>Intervention Design, Logic Model, and Evaluation Plan.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Golden Rule:  </a:t>
            </a:r>
            <a:r>
              <a:rPr sz="1800" b="0">
                <a:solidFill>
                  <a:srgbClr val="373D42"/>
                </a:solidFill>
                <a:latin typeface="Segoe UI"/>
              </a:rPr>
              <a:t>Alignment. Does the theory match the problem? Does the intervention match the theory? Does the evaluation measure the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Expectations:  </a:t>
            </a:r>
            <a:r>
              <a:rPr sz="1800" b="0">
                <a:solidFill>
                  <a:srgbClr val="373D42"/>
                </a:solidFill>
                <a:latin typeface="Segoe UI"/>
              </a:rPr>
              <a:t>Move beyond the individual, use the lexicon of the field, embrace complexity, and read the literature to synthesize, not just summarize.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 (EXAM PREP)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Master the Vocabulary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Pathogenesis:  </a:t>
            </a:r>
            <a:r>
              <a:rPr sz="1800" b="0">
                <a:solidFill>
                  <a:srgbClr val="373D42"/>
                </a:solidFill>
                <a:latin typeface="Segoe UI"/>
              </a:rPr>
              <a:t>origins of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Salutogenesis:  </a:t>
            </a:r>
            <a:r>
              <a:rPr sz="1800" b="0">
                <a:solidFill>
                  <a:srgbClr val="373D42"/>
                </a:solidFill>
                <a:latin typeface="Segoe UI"/>
              </a:rPr>
              <a:t>origins of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Allostatic Load:  </a:t>
            </a:r>
            <a:r>
              <a:rPr sz="1800" b="0">
                <a:solidFill>
                  <a:srgbClr val="373D42"/>
                </a:solidFill>
                <a:latin typeface="Segoe UI"/>
              </a:rPr>
              <a:t>physiological wear-and-tear from chronic stress.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Lead-Time Bias:  </a:t>
            </a:r>
            <a:r>
              <a:rPr sz="1800" b="0">
                <a:solidFill>
                  <a:srgbClr val="373D42"/>
                </a:solidFill>
                <a:latin typeface="Segoe UI"/>
              </a:rPr>
              <a:t>the illusion of increased survival time due to early screening.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Fundamental Cause:  </a:t>
            </a:r>
            <a:r>
              <a:rPr sz="1800" b="0">
                <a:solidFill>
                  <a:srgbClr val="373D42"/>
                </a:solidFill>
                <a:latin typeface="Segoe UI"/>
              </a:rPr>
              <a:t>SES as the root driver of health disparities.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Choice Architecture:  </a:t>
            </a:r>
            <a:r>
              <a:rPr sz="1800" b="0">
                <a:solidFill>
                  <a:srgbClr val="373D42"/>
                </a:solidFill>
                <a:latin typeface="Segoe UI"/>
              </a:rPr>
              <a:t>designing environments to make healthy choices the default.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(1 of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34/38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Link and Phelan (1995):  </a:t>
            </a:r>
            <a:r>
              <a:rPr sz="1800" b="0">
                <a:solidFill>
                  <a:srgbClr val="373D42"/>
                </a:solidFill>
                <a:latin typeface="Segoe UI"/>
              </a:rPr>
              <a:t>Social conditions as fundamental causes of disease. Journal of Health and Social Behavior, Spec No, 80 to 94, the founding statement of Fundamental Cause Theory.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Phelan, Link and Tehranifar (2010):  </a:t>
            </a:r>
            <a:r>
              <a:rPr sz="1800" b="0">
                <a:solidFill>
                  <a:srgbClr val="373D42"/>
                </a:solidFill>
                <a:latin typeface="Segoe UI"/>
              </a:rPr>
              <a:t>Social conditions as fundamental causes of health inequalities. Journal of Health and Social Behavior, 51(Suppl), S28 to S40, updates the theory with two decades of new evidence and policy implications.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Huber and colleagues (2011):  </a:t>
            </a:r>
            <a:r>
              <a:rPr sz="1800" b="0">
                <a:solidFill>
                  <a:srgbClr val="373D42"/>
                </a:solidFill>
                <a:latin typeface="Segoe UI"/>
              </a:rPr>
              <a:t>How should we define health? BMJ, 343, d4163, the peer-reviewed case for retiring the WHO's complete well-being definition.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Antonovsky (1996):  </a:t>
            </a:r>
            <a:r>
              <a:rPr sz="1800" b="0">
                <a:solidFill>
                  <a:srgbClr val="373D42"/>
                </a:solidFill>
                <a:latin typeface="Segoe UI"/>
              </a:rPr>
              <a:t>The salutogenic model as a theory to guide health promotion. Health Promotion International, 11(1), 11 to 18, Antonovsky's own last word on Sense of Coherence.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(2 of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35/38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Nutbeam (2000):  </a:t>
            </a:r>
            <a:r>
              <a:rPr sz="1800" b="0">
                <a:solidFill>
                  <a:srgbClr val="373D42"/>
                </a:solidFill>
                <a:latin typeface="Segoe UI"/>
              </a:rPr>
              <a:t>Health literacy as a public health goal. Health Promotion International, 15(3), 259 to 267, proves information alone is useless without the power to act on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Marmot and colleagues (1991):  </a:t>
            </a:r>
            <a:r>
              <a:rPr sz="1800" b="0">
                <a:solidFill>
                  <a:srgbClr val="373D42"/>
                </a:solidFill>
                <a:latin typeface="Segoe UI"/>
              </a:rPr>
              <a:t>Health inequalities among British civil servants, the Whitehall II study. Lancet, 337(8754), 1387 to 1393, the original data behind this lecture's health gradient claim.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Oliver (2013):  </a:t>
            </a:r>
            <a:r>
              <a:rPr sz="1800" b="0">
                <a:solidFill>
                  <a:srgbClr val="373D42"/>
                </a:solidFill>
                <a:latin typeface="Segoe UI"/>
              </a:rPr>
              <a:t>The social model of disability, thirty years on. Disability and Society, 28(7), 1024 to 1026, the model's own founder revisits it three decades later.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Kickbusch, Allen and Franz (2016):  </a:t>
            </a:r>
            <a:r>
              <a:rPr sz="1800" b="0">
                <a:solidFill>
                  <a:srgbClr val="373D42"/>
                </a:solidFill>
                <a:latin typeface="Segoe UI"/>
              </a:rPr>
              <a:t>The commercial determinants of health. Lancet Global Health, 4(12), e895 to e896, names the corporate playbook behind the Big Four.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In-Class Application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36/38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Scenario:  </a:t>
            </a:r>
            <a:r>
              <a:rPr sz="1800" b="0">
                <a:solidFill>
                  <a:srgbClr val="373D42"/>
                </a:solidFill>
                <a:latin typeface="Segoe UI"/>
              </a:rPr>
              <a:t>You are handed 10 real public-health interventions, a measles vaccination drive, a sugar tax, mammogram screening, diabetic foot-care clinics, paid parental leave, seatbelt laws, cardiac rehabilitation, fluoridated water, a universal basic income pilot, and an HPV vaccine campaign.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Task:  </a:t>
            </a:r>
            <a:r>
              <a:rPr sz="1800" b="0">
                <a:solidFill>
                  <a:srgbClr val="373D42"/>
                </a:solidFill>
                <a:latin typeface="Segoe UI"/>
              </a:rPr>
              <a:t>Sort each into Primordial, Primary, Secondary, or Tertiary prevention, and justify your placement in one sentence.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Deliverable:  </a:t>
            </a:r>
            <a:r>
              <a:rPr sz="1800" b="0">
                <a:solidFill>
                  <a:srgbClr val="373D42"/>
                </a:solidFill>
                <a:latin typeface="Segoe UI"/>
              </a:rPr>
              <a:t>A short table, intervention, level, justification, submitted before next class.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Twist:  </a:t>
            </a:r>
            <a:r>
              <a:rPr sz="1800" b="0">
                <a:solidFill>
                  <a:srgbClr val="373D42"/>
                </a:solidFill>
                <a:latin typeface="Segoe UI"/>
              </a:rPr>
              <a:t>Pick one intervention and argue it could defensibly sit at two levels at once. What does that tell us about how clean these categories really are?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Week's Teaser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37/38</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2:  </a:t>
            </a:r>
            <a:r>
              <a:rPr sz="1800" b="0">
                <a:solidFill>
                  <a:srgbClr val="373D42"/>
                </a:solidFill>
                <a:latin typeface="Segoe UI"/>
              </a:rPr>
              <a:t>Health, Disease, and Disability: A Critical Perspective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Medicalization of Society:  </a:t>
            </a:r>
            <a:r>
              <a:rPr sz="1800" b="0">
                <a:solidFill>
                  <a:srgbClr val="373D42"/>
                </a:solidFill>
                <a:latin typeface="Segoe UI"/>
              </a:rPr>
              <a:t>how normal human experiences, sadness, aging, get rebranded as diseases.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Sick Role:  </a:t>
            </a:r>
            <a:r>
              <a:rPr sz="1800" b="0">
                <a:solidFill>
                  <a:srgbClr val="373D42"/>
                </a:solidFill>
                <a:latin typeface="Segoe UI"/>
              </a:rPr>
              <a:t>Talcott Parsons and the social contract of being ill.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Social Construction of Mental Illness:  </a:t>
            </a:r>
            <a:r>
              <a:rPr sz="1800" b="0">
                <a:solidFill>
                  <a:srgbClr val="373D42"/>
                </a:solidFill>
                <a:latin typeface="Segoe UI"/>
              </a:rPr>
              <a:t>who gets to define madness?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Iatrogenesis:  </a:t>
            </a:r>
            <a:r>
              <a:rPr sz="1800" b="0">
                <a:solidFill>
                  <a:srgbClr val="373D42"/>
                </a:solidFill>
                <a:latin typeface="Segoe UI"/>
              </a:rPr>
              <a:t>how the medical system itself causes illness.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Come ready to challenge everything you think you know about doctors.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Stay Curious. Stay Critical. Look Upstream.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Email:  </a:t>
            </a:r>
            <a:r>
              <a:rPr sz="1800" b="0">
                <a:solidFill>
                  <a:srgbClr val="373D42"/>
                </a:solidFill>
                <a:latin typeface="Segoe UI"/>
              </a:rPr>
              <a:t>[Professor's Email]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Office Hours:  </a:t>
            </a:r>
            <a:r>
              <a:rPr sz="1800" b="0">
                <a:solidFill>
                  <a:srgbClr val="373D42"/>
                </a:solidFill>
                <a:latin typeface="Segoe UI"/>
              </a:rPr>
              <a:t>[Time/Location]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Action Item for this week:  </a:t>
            </a:r>
            <a:r>
              <a:rPr sz="1800" b="0">
                <a:solidFill>
                  <a:srgbClr val="373D42"/>
                </a:solidFill>
                <a:latin typeface="Segoe UI"/>
              </a:rPr>
              <a:t>walk through your neighborhood with new eyes. Look at the built environment, the food access, and the green spaces. Start brainstorming the target population for your Final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Paradigm Shift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