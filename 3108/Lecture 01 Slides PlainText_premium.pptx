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Introduction to the Paradigm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Course: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Promotion and Disease Prevention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Lecture 1: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Introduction to the Paradigm Shift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Instructor: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Prof. [Your Name]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Quote: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Medicine makes people live longer. Health promotion makes people live better.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CORE PHILOSOPHY OF THIS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Why Are We Here?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Limitation of Medicine: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Hospitals cannot cure poverty. Surgeons cannot operate on a lack of education. Pills cannot fix a toxic neighborhood.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Shift: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Moving from reacting to biological sickness to investing in societal vitality.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Big Question: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do we design a society where people never get sick in the first place?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 Focus: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 prepared to contrast the Medical Model (downstream, individual, biological treatment) with the Public Health Model (upstream, environmental, systemic intervention).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PARADIGM SHIFT IN HUMAN SURVIVAL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Tale of the Broad Street Pump (1854)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Crisis: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Cholera outbreak in London.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Medical Response: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Treating the sick, bleeding patients, blaming bad air (miasma).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Public Health Response (John Snow):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Mapped the deaths, identified the contaminated water pump, and removed the handle.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Lesson: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 did not invent a medicine; he changed the environment.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promotion is the science of removing the pump handle.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DEFINING HEALTH (THE 1948 WHO DEFINITION)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4/34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Revolutionary Concept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World Health Organization (1948):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is a state of complete physical, mental and social well-being and not merely the absence of disease or infirmity.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Why this mattered: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Broke the monopoly of the biological and medical model.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Introduced mental and social dimensions as equal to physical health.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Critical Flaw: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word "complete". If health requires complete well-being, then anyone with a mild headache, grief, or stress is technically unhealthy. It turns health into an unattainable utopia.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SALUTOGENESIS: A BETTER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5/34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Aaron Antonovsky’s Paradigm (1970s)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Instead of asking "What causes disease?" (Pathogenesis), Antonovsky asked: "What creates health?" (Salutogenesis).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is a Continuum, not a fixed state. We slide up and down the health continuum daily based on our resources.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Sense of Coherence (SOC):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1. Comprehensibility: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world makes sense.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2. Manageability: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 have the resources to cope.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3. Meaningfulness: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Life's challenges are worth the effort.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 Focus: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Use Salutogenesis to explain how a person with a chronic disability can still possess high health if their SOC and coping resources are strong.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HEALTH AS A RESOURCE FOR LIVING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6/34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Ottawa Charter Re-framing (1986)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Quote: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is a resource for everyday life, not the objective of living.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Car Analogy: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Gas is not the goal of driving; it is the resource that gets you to your destination.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Human Analogy: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is not the goal of life. The goals are to love, learn, work, and play. Health is the fuel that allows us to do those things.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Health Capital: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Like a bank account, it can be invested in or depleted by social conditions.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DECONSTRUCTING THE MEDICAL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7/34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Disease vs. Illness vs. Sickness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These are not synonyms. They represent three different realities: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1. Disease (The Doctor’s View):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biological pathology (e.g., a tumor, a virus, high blood pressure). Objective.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2. Illness (The Patient’s View):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subjective, lived experience of feeling unwell (e.g., pain, fatigue, fear).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3. Sickness (Society’s View):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social role granted by society (e.g., getting a doctor's note, disability benefits).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Paradox: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 can have a disease without an illness (asymptomatic hypertension), and an illness without a disease (chronic fatigue with normal labs).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ICEBERG MODEL OF DISEASE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8/34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Visual Concept: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An iceberg in the ocean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Above the Water (The Tip):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Recognized, diagnosed Disease. (What hospitals treat).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Just Below the Surface: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Undiagnosed conditions, sub-clinical symptoms, and risk factors.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Deep Below: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heavy burden of Illness that never gets a medical label.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Water Itself: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social environment that dictates who gets labeled with a Sickness and who is ignored.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Public health mostly treats the tip. Health promotion addresses the whole iceberg.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DEFINING DISABILITY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9/34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Medical Model vs. Social Model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Medical Model: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Disability is a broken body that needs to be fixed to fit into normal society.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Focus: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Curing the impairment.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Social Model (The HP Standard):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Impairment is the biological fact (e.g., inability to walk).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Disability is socially constructed (e.g., the building only has stairs).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Focus: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Removing societal barriers and utilizing Universal Design.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 Focus: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If a case study features a wheelchair user unable to enter a clinic, the stairs are the disability, not the legs.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FOOD FOR 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10/34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"Normal" Body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Myopia (nearsightedness) is a severe biological impairment. Yet, because society invented cheap eyeglasses, it is rarely considered a disability.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Question: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many disabilities exist today simply because society refuses to design environments for neurodivergent brains (e.g., ADHD, Autism)?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Reflection: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We do not need to fix the brain; we need to fix the fluorescent lights, the 8-hour desk requirements, and the rigid social norms.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HEALTH PROMOTION VS. DISEASE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11/34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Two Sides of the Same Coin?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Disease Prevention: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Focus: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Avoiding the bad (Pathogenic)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Target: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Specific risks and at-risk groups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Vaccines, cancer screenings, statins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Goal: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Stop a specific pathology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Promotion: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Focus: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Building the good (Salutogenic)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Target: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Whole populations and broad determinants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Paid maternity leave, safe parks, living wages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Goal: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Increase vitality and control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best public health programs seamlessly integrate both.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PARABLE OF THE 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12/34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Upstream vs. Downstream Thinking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Visual Concept: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river with people drowning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Downstream: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Diving in to rescue the drowning. (Emergency rooms, trauma care). Heroic, but exhausting and endless.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Midstream: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Pulling them out before the rapids. (Community clinics, behavior change).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Upstream: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Walking to the source to find out who is pushing them in and building a fence. (Policy, environment, systemic change).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Promotion is the science of walking upstream.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LEVEL 0: PRIMORDIAL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13/34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Preventing the Risk Factor from Emerging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Target: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Entire populations, societal norms, macro-environments.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Goal: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Stop the risk factor from ever existing in the culture.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Banning trans-fats in the national food supply; designing cities so walking is the default; universal basic income to prevent the chronic stress of poverty.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is the deepest, most powerful level of intervention.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LEVEL 1: PRIMARY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14/34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Preventing the Disease from Occurring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Target: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Healthy individuals or those with existing risk factors.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Goal: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Stop the biological pathology from starting.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Immunizations (Measles, HPV); condom distribution (HIV prevention); mandatory seatbelt laws and hard-hat regulations; fluoride in the water supply.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Shield of Public Health.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LEVEL 2: SECONDARY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15/34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Early Detection and Prompt Intervention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Target: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Asymptomatic individuals with early, sub-clinical disease.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Goal: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Halt progression before irreversible damage.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Mammograms, Pap smears, colonoscopies; routine blood pressure and cholesterol checks.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Critical Concept: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Lead-Time Bias. Finding a slow-growing, non-fatal tumor early does not always save a life; it may just prolong the time the person spends as an anxious patient.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LEVEL 3: TERTIARY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16/34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Reducing the Impact of Established Disease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Target: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Individuals with symptomatic, diagnosed, chronic disease.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Goal: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Prevent complications, restore function, improve Quality of Life (QoL).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Diabetic foot-care clinics (preventing amputation); cardiac rehabilitation post-heart attack; stroke recovery physiotherapy.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We are no longer preventing the disease; we are preventing the disability and premature death associated with it.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PREVENTION CONTINUUM (SUMMARY)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17/34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Visual Concept: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timeline arrow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1. Primordial: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 risk factors exist. (Policy/Environment)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2. Primary: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Risk factors exist, but no disease. (Behavior/Shields)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3. Secondary: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Disease exists, but no symptoms. (Screening)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4. Tertiary: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Symptoms and disease exist. (Rehab/Management)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 Focus: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 will be given 10 public health interventions on the midterm. You must categorize them into these four levels and justify your choice.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SOCIAL DETERMINANTS OF HEALTH (SDOH)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18/34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Your Zip Code is More Powerful Than Your Genetic Code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conditions in which people are born, grow, live, work, and age.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Income and Social Protection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Education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Housing and Neighborhood Design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Food Security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Early Childhood Development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Medicine accounts for only 10 to 20 percent of health outcomes. SDOH account for the rest.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FUNDAMENTAL CAUSE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19/34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Link and Phelan (1995)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Why do health- The Sick Role: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Talcott Parsons and the social contract of being ill.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gaps persist even when we cure diseases?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Theory: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Socioeconomic Status (SES) is a Fundamental Cause because it embodies flexible resources (Money, Knowledge, Power, Prestige, Social Networks).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Mechanism: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When a new health threat emerges (TB in 1920, HIV in 1990, Obesity today), the wealthy use their flexible resources to protect themselves.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Result: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mechanism of disease changes, but the inequity remains.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 Focus: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 cannot educate your way out of a fundamental lack of resources. Knowledge campaigns fail if the poor lack the money and time to act on them.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HEALTH GRADIENT AND THE WHITEHALL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20/34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It is Not Just Poverty vs. Wealth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Finding: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operates on a continuous step-by-step gradient. The middle class is sicker than the upper class; the working class is sicker than the middle class.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Whitehall Studies (British Civil Servants):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Everyone had a job. Everyone had the exact same universal healthcare. Yet, clerical workers had 3 times the heart disease mortality of top administrators.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Culprit: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Allostatic Load (biological wear-and-tear) caused by low autonomy, high stress, and lack of control over one's work environment.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SETTINGS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21/34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Where Health is Created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Hospitals are actually poor places for health promotion (stressful, pathogenic, expensive). Health must be integrated into everyday settings: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Schools: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Banning sugary drinks, designing active playgrounds.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Workplaces: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Flexible hours, ergonomic setups, psychological safety.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Cities (WHO Healthy Cities):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Active transport, green spaces, mixed-use zoning.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Prisons: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Addressing trauma, addiction, and social reintegration.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setting itself becomes the intervention.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OTTAWA CHARTER (1986)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22/34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Constitution of Health Promotion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Core Definition: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process of enabling people to increase control over, and to improve, their health.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Three Basic Strategies: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1. Advocate (for political and economic conditions)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2. Enable (reduce inequities, ensure equal opportunities)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3. Mediate (coordinate across different sectors, not just health)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OTTAWA ACTION AREAS 1 AND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23/34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Upstream Structural Change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1. Build Healthy Public Policy (Health in All Policies - HiAP)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must be on the agenda of all lawmakers (Agriculture, Transport, Finance).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Sugar taxes, minimum wage laws, urban zoning.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2. Create Supportive Environments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Altering the Choice Architecture so the healthy choice is the default.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Removing soda from checkout aisles; making stairwells bright and musical.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OTTAWA ACTION AREAS 3 AND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24/34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Human and Social Capital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3. Strengthen Community Action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Doing things WITH communities, not TO them.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Empowerment, ownership, and utilizing lived experience.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4. Develop Personal Skills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Moving beyond basic facts to Health Literacy and life skills (coping, cooking, navigating systems).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Warning: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Focusing only on skills Mental Illness: without changing the environment leads to Victim-Blaming.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OTTAWA ACTION AREA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25/34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Reorienting Health Services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Moving from Curative Care to Health-Promoting Care.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Social Prescribing: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Doctors prescribing community gardening, debt counseling, or art classes to address SDOH.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Systemic Shift: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Moving from Fee-For-Service (rewarding sickness) to Value-Based Care (rewarding wellness).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Hospitals must practice what they preach (e.g., paying their cleaners a living wage).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EQUITY VS. EQUALITY VS. JUSTICE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26/34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Moral Compass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Visual Concept: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Three people looking over a fence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Equality (Sameness):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Giving everyone the exact same size box to stand on. (Fails those who need more help).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Equity (Fairness):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Giving people the specific resources they need to reach the same outcome. (Levels the playing field).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Justice (Structural Change):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Removing the wooden fence entirely and replacing it with a chain-link fence. (Dismantling the systemic barrier).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 Focus: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Always design interventions for the most marginalized. If it works for them, it works for everyone.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COMMERCIAL DETERMINANTS OF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27/34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Corporate Playbook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Private sector activities that negatively impact public health.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Big Four: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Tobacco, Ultra-processed Food, Alcohol, Fossil Fuels.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Manufacturing Doubt: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Funding junk science to delay government regulation.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Health Washing:  </a:t>
            </a:r>
            <a:r>
              <a:rPr sz="1800" b="0">
                <a:solidFill>
                  <a:srgbClr val="373D42"/>
                </a:solidFill>
                <a:latin typeface="Segoe UI"/>
              </a:rPr>
              <a:t>Using Corporate Social Responsibility (e.g., funding a youth sports league) as a smokescreen to avoid marketing regulations.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True health promotion requires regulating corporate power, not just educating consumers.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PUZZLING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28/34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Critical Reflections for the Semester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1. If health is determined by zip code, is lifestyle education just a distraction from wealth redistribution?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2. Can a health promotion campaign ever be truly neutral, or is it always an imposition of dominant cultural values?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3. Is it ethical to use AI and digital surveillance to nudge citizens toward healthy behaviors?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4. How do we measure the success of a prevention program when the greatest victory is the complete absence of noticeable events?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Hold these tensions. They are the essence of our field.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COURSE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29/34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Health Promotion Report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Your Mission: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Design a comprehensive, evidence-informed, equitable intervention for a specific population.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Part 1 (Week 5):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Needs Assessment, Target Population, and Theoretical Framework.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Part 2 (Week 12):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Intervention Design, Logic Model, and Evaluation Plan.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Golden Rule: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ALIGNMENT.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Does the theory match the problem?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Does the intervention match the theory?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Does the evaluation measure the intervention?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HOW TO SUCCEED IN THIS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30/34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Expectations for Top-Tier Work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Move beyond the individual: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If your solution to a systemic problem is to hand out more pamphlets, you will lose points.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Use the Lexicon: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Speak the language of the field (Salutogenesis, SDOH, Upstream, Equity).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Embrace Complexity: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Acknowledge the unintended consequences and ethical dilemmas of your proposed interventions.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Read the Literature: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 not just summarize papers; synthesize them to justify your design choices.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KEY TERMS GLOSSARY (EXAM PREP)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31/34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Master the Vocabulary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Pathogenesis: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Origins of disease.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Salutogenesis: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Origins of health.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Allostatic Load: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Physiological wear-and-tear from chronic stress.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Lead-Time Bias: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illusion of increased survival time due to early screening.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Fundamental Cause: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SES as the root driver of health disparities.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Choice Architecture: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Designing environments to make healthy choices the default.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32/34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Required Journal Article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Nutbeam, D. (2000). Health literacy as a public health goal: A challenge for contemporary health education and communication strategies into the 21st century. Health Promotion International, 15(3), 259, 267.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Why read this?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It shifts the paradigm from patient compliance to community empowerment.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It defines the 3 levels of health literacy (Functional, Interactive, Critical).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It proves that information alone is useless without the power to act on it.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NEXT WEEK'S TEASER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33/34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Lecture 2: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Health, Disease, and Disability: A Critical Perspective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Medicalization of Society: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normal human experiences (sadness, aging) are rebranded as diseases.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Sick Role: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Talcott Parsons and the social contract of being ill.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Social Construction of Mental Illness: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 gets to define madness?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Iatrogenesis: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the medical system itself causes illness.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Come ready to challenge everything you think you know about doctors.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Stay Curious. Stay Critical. Look Upstream.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Contact: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Email: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[Professor's Email]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Office Hours: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[Time/Location]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Action Item for this week: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Walk through your neighborhood with new eyes. Look at the built environment, the food access, and the green spaces. Start brainstorming the target population for your Final Report.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See you next week.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Paradigm Shift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