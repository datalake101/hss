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Promotion for the Elderly - Rethinking the Later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Course: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and Disease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10: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for the Elderly - Rethinking the Later Years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Instructor: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Prof. [Your Name]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Quote: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Aging is not a disease to be cured, nor a burden to be managed. It is the ultimate triumph of public health, and a life stage demanding dignity, connection, and purpose.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WELCOME AND LECTURE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0">
                <a:solidFill>
                  <a:srgbClr val="373D42"/>
                </a:solidFill>
                <a:latin typeface="Segoe UI"/>
              </a:rPr>
              <a:t>Reframing the Later Years</a:t>
            </a:r>
          </a:p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0">
                <a:solidFill>
                  <a:srgbClr val="373D42"/>
                </a:solidFill>
                <a:latin typeface="Segoe UI"/>
              </a:rPr>
              <a:t>In previous lectures, we explored the life course, workplaces, and mental health.</a:t>
            </a:r>
          </a:p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0">
                <a:solidFill>
                  <a:srgbClr val="373D42"/>
                </a:solidFill>
                <a:latin typeface="Segoe UI"/>
              </a:rPr>
              <a:t>Today, we focus on the final, and often most misunderstood, stage of the life course: Older adulthood.</a:t>
            </a:r>
          </a:p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0">
                <a:solidFill>
                  <a:srgbClr val="373D42"/>
                </a:solidFill>
                <a:latin typeface="Segoe UI"/>
              </a:rPr>
              <a:t>Objectives for today:</a:t>
            </a:r>
          </a:p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0">
                <a:solidFill>
                  <a:srgbClr val="373D42"/>
                </a:solidFill>
                <a:latin typeface="Segoe UI"/>
              </a:rPr>
              <a:t>1. Deconstruct ageism as a lethal social determinant of health.</a:t>
            </a:r>
          </a:p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0">
                <a:solidFill>
                  <a:srgbClr val="373D42"/>
                </a:solidFill>
                <a:latin typeface="Segoe UI"/>
              </a:rPr>
              <a:t>2. Understand the WHO framework for Healthy Aging and Intrinsic Capacity.</a:t>
            </a:r>
          </a:p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0">
                <a:solidFill>
                  <a:srgbClr val="373D42"/>
                </a:solidFill>
                <a:latin typeface="Segoe UI"/>
              </a:rPr>
              <a:t>3. Analyze the built environment, social isolation, and polypharmacy.</a:t>
            </a:r>
          </a:p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0">
                <a:solidFill>
                  <a:srgbClr val="373D42"/>
                </a:solidFill>
                <a:latin typeface="Segoe UI"/>
              </a:rPr>
              <a:t>4. Shift the paradigm from "burden of care" to "aging in place" and intergenerational solidarity.</a:t>
            </a:r>
          </a:p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0">
                <a:solidFill>
                  <a:srgbClr val="373D42"/>
                </a:solidFill>
                <a:latin typeface="Segoe UI"/>
              </a:rPr>
              <a:t>5. Apply health promotion theories to the elderly population.</a:t>
            </a:r>
          </a:p>
          <a:p>
            <a:pPr marL="347472" indent="-347472">
              <a:lnSpc>
                <a:spcPct val="114000"/>
              </a:lnSpc>
              <a:spcAft>
                <a:spcPts val="927"/>
              </a:spcAft>
              <a:buNone/>
            </a:pPr>
            <a:r>
              <a:rPr sz="16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600" b="1">
                <a:solidFill>
                  <a:srgbClr val="952210"/>
                </a:solidFill>
                <a:latin typeface="Segoe UI"/>
              </a:rPr>
              <a:t>Exam Focus:  </a:t>
            </a:r>
            <a:r>
              <a:rPr sz="1600" b="0">
                <a:solidFill>
                  <a:srgbClr val="373D42"/>
                </a:solidFill>
                <a:latin typeface="Segoe UI"/>
              </a:rPr>
              <a:t>You must be able to critique the "medicalization of aging" and design interventions that optimize functional ability rather than just treating chronic diseases.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DEMOGRAPHIC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"Silver Tsunami" is a Triumph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global population is aging at an unprecedented rate. By 2050, the number of people aged 60 and older will double, reaching over 2 billion.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is not a crisis; it is a monumental public health success story. It reflects victories in sanitation, vaccination, maternal care, and chronic disease management.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However, our social structures, built environments, and economic models were designed for a demographic pyramid that no longer exists.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challenge of the 21st century is not just adding years to life, but adding life to years.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DEFINING "OLD"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Chronological vs. Biological vs. Social 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Chronological Age: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number of years since birth. Arbitrary and often a poor indicator of actual health or capability.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Biological Age: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physiological state of the body's cells and systems. Can be accelerated by chronic stress or decelerated by healthy behaviors.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Social Age: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roles, expectations, and norms society assigns to a person based on their perceived stage of life.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Public policy relies on chronological age (e.g., retirement at 65), but health promotion must focus on biological and social age to be effective and equitable.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AGEISM AS A SOCIAL DETERMINANT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Most Normalized Prejudice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Ageism is the stereotyping, prejudice, and discrimination against people on the basis of their age.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is the most socially normalized of any prejudice, often more accepted in media and daily conversation than racism or sexism.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Institutional Ageism: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Mandatory retirement ages, healthcare rationing by age, and urban planning that ignores mobility limitations.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Interpersonal Ageism: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Patronizing language ("elderspeak"), ignoring the older person in a room, or assuming cognitive decline.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Internalized Ageism: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When older adults accept negative stereotypes, believing they are inherently useless or burdensome.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BIOLOGICAL COST OF AGEISM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Stereotypes Get Under the Skin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Becca Levy's groundbreaking research demonstrates that ageism literally alters human biology.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Older adults with positive self-perceptions of aging live, on average, 7.5 years longer than those with negative self-perceptions.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Internalized ageism increases cardiovascular stress, reduces the will to live, and decreases engagement in preventive health behaviors.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Ageism is not just a social slight; it is a measurable, lethal pathogen that accelerates biological weathering.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PARADIGMS OF 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From "Successful" to "Healthy"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Successful Aging (Rowe &amp; Kahn):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Focuses on the absence of disease, high cognitive/physical function, and active engagement. Critiqued for being elitist and ignoring those living with chronic disabilities.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Active Aging: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Emphasizes continued participation in social, economic, and civic affairs. Sometimes critiqued for placing the burden of "staying active" entirely on the individual.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Healthy Aging (WHO):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process of developing and maintaining the functional ability that enables well-being in older age. This is the current, most inclusive gold standard.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WHO FRAMEWORK ON HEALTHY 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Optimizing Function Over Curing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Healthy aging is not about being free of disease. Many older adults live with multiple chronic conditions but still experience high well-being.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focus shifts from "curing pathology" to "optimizing function."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requires the alignment of two distinct elements: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1. The individual's Intrinsic Capacity.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2. The Environment they inhabit.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When capacity and environment align, the result is high Functional Ability.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INTRINSIC CAPACITY AND FUNCTIONAL 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Core Equation of Geriatric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Intrinsic Capacity: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composite of all the physical and mental capacities of an individual (e.g., locomotion, vitality, cognition, psychological well-being).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Environment: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external factors (built environment, social support, policies, assistive technologies).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Functional Ability: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interaction between capacity and environment.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person with low locomotion capacity can still have high functional ability to shop for groceries if they have a motorized wheelchair and live in a neighborhood with accessible stores and ramps.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PHYSICAL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Age-Friendly Cities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Urban design must accommodate the sensory, mobility, and cognitive changes associated with aging.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Features: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Longer pedestrian crossing times, abundant public seating, clear and large signage, well-lit streets, and accessible public transit.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The 8 Domains of the WHO Age-Friendly City: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Outdoor spaces, transportation, housing, social participation, respect and social inclusion, civic participation, communication, and community support.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city that is designed to be safe and accessible for an 80-year-old is a city that is safe and accessible for everyone.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AGING IN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Desire to Remain Home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strong preference of most older adults to remain in their own homes and communities as they age, rather than moving to institutional care.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Enablers of Aging in Place: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Home modifications (grab bars, stairlifts), community-based care (visiting nurses, meal delivery), and strong neighborhood social capital.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Barriers: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Large, multi-story homes that become physically unmanageable, lack of public transit leading to driving cessation and subsequent isolation.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HP Application: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must advocate for "visitability" and universal design in all new housing construction.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EPIDEMIC OF LONELINESS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Isolation vs. Loneliness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Social isolation (objective lack of social contacts) and loneliness (subjective feeling of being alone) are distinct but related crises.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Up to 25 percent of older adults experience severe social isolation.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Drivers: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Retirement, loss of a spouse, mobility limitations, hearing loss, and the geographic dispersion of families.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modern built environment, which prioritizes cars over pedestrians, severely limits the spontaneous social interactions that sustain older adults.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LONELINESS AS A BIOLOGICAL TOXIN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Mortality Risk of Disconnection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 loneliness triggers a persistent "fight or flight" stress response.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increases systemic inflammation (elevated C-reactive protein), impairs immune function, and accelerates cognitive decline.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Meta-analyses show that the mortality risk of chronic social isolation is equivalent to smoking 15 cigarettes a day, and exceeds the risks of obesity and physical inactivity.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Social connection is a fundamental biological need, not just a psychological preference.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INTERGENERATIONAL SOLIDARITY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Bridging the Age Gap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Segregating society by age (schools for the young, retirement communities for the old) destroys social cohesion and fuels ageism.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Intergenerational programs bring different age groups together in purposeful, mutually beneficial activities.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Co-locating preschools inside nursing homes, university students living rent-free in elder care facilities in exchange for companionship, and mentorship programs.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Outcomes: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Reduces ageism in youth, reduces depression and cognitive decline in elders, and builds community resilience.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POLYPHARMACY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Medication Regimen as a Hazard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Polypharmacy is the concurrent use of multiple medications (typically 5 or more) by a single individual.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Driven by the siloed nature of healthcare: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cardiologist prescribes for the heart, an endocrinologist for diabetes, a psychiatrist for sleep, without a central coordinator.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Risks: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Severe adverse drug reactions, drug-drug interactions, cognitive clouding, and high rates of falls due to dizziness or orthostatic hypotension.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Takeaway: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 the elderly, the medication regimen itself often becomes a primary determinant of poor health.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DEPRESCRIBING AS HEALTH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Doing Less to Achieve More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Deprescribing is the systematic, supervised process of tapering or stopping medications that are no longer beneficial or may be causing harm.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requires shifting the clinical mindset from "adding a pill for every symptom" to "optimizing the overall regimen."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promoters must empower older adults to ask their doctors: "Do I still need this? What are the risks of stopping?"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is a prime example of tertiary prevention and reorienting health services.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DEMENTIA AND COGNITIVE DECLINE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Public Health Approach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Dementia is not a normal part of aging; it is a syndrome caused by various brain illnesses (e.g., Alzheimer's, vascular dementia).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Historically viewed as an inevitable, untreatable biological decline.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modern public health paradigm views dementia through a life-course and preventive lens.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While we cannot yet cure the neuropathology, we can significantly delay the onset and reduce the overall population burden through upstream health promotion.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MODIFIABLE RISK FACTORS FOR DEMENTIA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Lancet Commission Findings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Lancet Commission identified 12 modifiable risk factors that account for roughly 40 percent of worldwide dementias.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Early life: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Less education.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Midlife: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Hearing loss, traumatic brain injury, hypertension, alcohol misuse, obesity.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Later life: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Smoking, depression, social isolation, physical inactivity, air pollution, diabetes.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HP Application: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Dementia prevention does not start at age 70; it starts in childhood education and midlife cardiovascular health.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MYTH OF THE "BURDEN"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Reframing the Economic Narrative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narrative that an aging population will bankrupt healthcare systems and crush the working-age generation.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narrative relies on the "dependency ratio," which assumes everyone over 65 is economically and physically dependent.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Reality: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Older adults are the largest providers of unpaid labor in society (childcare for grandchildren, volunteering, and caring for their own aging spouses).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Framing the elderly as a "burden" justifies ageist policies and ignores their massive economic and social contributions.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HIDDEN PATIENTS: INFORMAL CAREGIVERS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Cost of Caring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vast majority of care for older adults is provided by informal, unpaid caregivers (spouses, adult children).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Caregiver Burnout: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chronic stress of caregiving leads to severe depression, compromised immune function, and increased mortality for the caregiver.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must target the caregiver as a secondary patient.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Interventions: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Respite care, caregiver support groups, workplace policies allowing paid family leave, and financial subsidies.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ELDER ABUSE AND NEGLECT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Hidden Public Health Crisis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deeply underreported crisis affecting roughly 1 in 6 older adults globally.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Forms: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Physical, psychological, sexual, financial exploitation, and neglect (both by others and self-neglect).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Risk Factors: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Social isolation of the elder, caregiver stress, cognitive impairment, and financial dependency of the abuser on the elder.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HP Application: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Mandatory reporting training for healthcare workers, community awareness campaigns, and strengthening adult protective services.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INTERSECTIONALITY IN LATER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Cumulative Disadvantage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Aging does not erase earlier life disadvantages; it magnifies them.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An older adult who faced lifelong racial discrimination, gender pay gaps, or disability will enter old age with significantly less wealth, poorer housing, and worse baseline health.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LGBTQ+ elders often face the "crisis of care," fearing discrimination in long-term care facilities and lacking traditional family support networks.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for the elderly must be deeply intersectional to avoid only serving the privileged.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FALL PREVENTION THROUGH THE SEM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Multi-Level Approach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Falls are the leading cause of fatal and non-fatal injuries in older adults.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Intrapersonal: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Muscle weakness, poor vision, polypharmacy.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Interpersonal: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Lack of a caregiver to assist with risky transfers.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Institutional: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Hospitals discharging patients to unsafe home environments.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Community: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Lack of safe, paved sidewalks; poor street lighting.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Policy: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Lack of insurance coverage for home modifications and physical therapy.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DIGITAL DIVIDE IN 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Systemic Exclusion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 healthcare, banking, and social services move online, older adults without digital literacy or broadband access are systematically excluded.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digital exclusion exacerbates social isolation and limits access to telehealth and social benefits.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promotion must include digital literacy training, subsidized internet access, and the preservation of non-digital (analog) alternatives for essential services.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TRAP OF "AGE-TECH"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Technology vs. Human Connection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rapid proliferation of technologies designed for the elderly (e.g., fall-detection pendants, robotic companions, remote monitoring sensors).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Critique: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Tech is often used by governments and families as a cheap substitute for human care and social connection.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robotic seal might reduce agitation in dementia, but it does not replace the human need for touch and genuine relationship.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Technology should enable human connection, not replace it.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APPLYING PRECEDE-PROCEED TO THE ELDERLY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Diagnosing the Context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Phase 1 (Social):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desire to maintain independence, dignity, and connection to the community.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Phase 2 (Epidemiological):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 rates of falls, depression, and polypharmacy complications.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Phase 3 (Educational/Ecological):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Predisposing: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Fear of falling leading to self-restricted mobility; belief that depression is "normal" in old age.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Enabling: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Lack of accessible transport; unaffordable home modifications.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Reinforcing: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Ageist media portrayals; overworked caregivers lacking time to encourage physical activity.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APPLYING THE OTTAWA CHARTER TO 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Structural Interventions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Build Healthy Public Policy: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Pension adequacy, mandatory paid caregiver leave, and universal design building codes.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Create Supportive Environments: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Age-friendly cities, intergenerational housing, and accessible green spaces.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Strengthen Community Action: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Neighborhood volunteer networks for snow shoveling, grocery delivery, and social check-ins.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Develop Personal Skills: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Digital literacy classes, chronic disease self-management programs.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Reorient Health Services: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Shifting from acute, hospital-based care to comprehensive, home-based geriatric care teams.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FOOD FOR 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Anti-Aging Industry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multi-billion-dollar "anti-aging" industry sells creams, supplements, and extreme diets promising to reverse the clock.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industry is built entirely on the pathologizing and stigmatizing of natural aging.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It promotes a toxic, unattainable ideal of "agelessness" that fuels internalized ageism and diverts resources away from actual health-span extension and social support.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Reflection: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True health promotion embraces aging as a natural, valuable stage of life, rather than a cosmetic defect to be erased.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Ethics of Resource Allocation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Scenario: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new, highly effective but extremely expensive drug is developed that extends the life of 85-year-olds with advanced heart failure by an average of 6 months, but does not improve their daily quality of life or functional capacity.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Question: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From a public health and utilitarian perspective, should a universal healthcare system fund this drug, or redirect those funds to early childhood nutrition programs that yield a 50-year health span return?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do we balance the moral imperative to care for the vulnerable elderly with the population-level need for upstream prevention?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 OF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Takeaways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Aging is a public health triumph, not a demographic crisis.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Ageism is a lethal social determinant that accelerates biological decline.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Healthy aging is the interaction between Intrinsic Capacity and the Environment.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Social isolation is a biological toxin equivalent to smoking.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Polypharmacy is a major iatrogenic risk requiring active deprescribing.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Dementia prevention requires a life-course approach, starting in midlife.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KEY TERMS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Master the Vocabulary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Ageism: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Stereotyping, prejudice, and discrimination based on age.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Intrinsic Capacity: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composite of physical and mental capacities of an individual.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Functional Ability: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interaction between intrinsic capacity and the environment.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Aging in Place: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ability to live in one's own home and community safely and independently.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Polypharmacy: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concurrent use of multiple medications, increasing the risk of adverse events.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Deprescribing: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supervised process of tapering or stopping inappropriate medications.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Intergenerational Solidarity: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Purposeful, mutually beneficial interactions between different age cohorts.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32/34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Required Texts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World Health Organization. (2015). World Report on Ageing and Health.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Becca Levy. (2022). Breaking the Age Code: Your Health Will Grow Old With You.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read this?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WHO Report provides the definitive global framework for shifting from a disease-based model to a function-based model of aging.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Becca Levy's book synthesizes decades of rigorous research proving that changing societal beliefs about aging directly extends human lifespan.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Both are essential for designing respectful, effective, and structurally sound health promotion programs for older adults.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NEXT WEEK'S TEASER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33/34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Lecture 11: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School-Based Health Promotion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Moving to the foundational setting of the life course: The School.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schools are the ultimate engine for health equity.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Whole School, Whole Community, Whole Child (WSCC) model.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Moving beyond "health class" to integrate health into the physical, social, and policy environment of education.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Action Item: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Look at your own Final Report. If your target population includes older adults, ensure you are measuring "Functional Ability" and "Social Isolation," not just disease prevalence.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See you next week.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Honor the Past. Design for the Future.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Contact: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Email: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[Professor's Email]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Office Hours: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[Time/Location]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Quote to leave you with: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society that does not value its elders has forgotten its history. A society that does not design for its elders has forgotten its future. Because if we are lucky, we will all become them.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Have a wonderful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Promotion for the Elderly - Rethinking the Later Years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