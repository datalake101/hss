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Health, Disease, and Disability - A Critical Perspective</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Lecture 2:  </a:t>
            </a:r>
            <a:r>
              <a:rPr sz="1800" b="0">
                <a:solidFill>
                  <a:srgbClr val="373D42"/>
                </a:solidFill>
                <a:latin typeface="Segoe UI"/>
              </a:rPr>
              <a:t>Health, Disease, and Disability - A Critical Perspective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Instructor:  </a:t>
            </a:r>
            <a:r>
              <a:rPr sz="1800" b="0">
                <a:solidFill>
                  <a:srgbClr val="373D42"/>
                </a:solidFill>
                <a:latin typeface="Segoe UI"/>
              </a:rPr>
              <a:t>Prof. [Your Name]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The first step in healing a society is questioning what it has defined as a disease.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WELCOME AND LECTURE OBJECTIVES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Why a "Critical" Perspective?</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In Lecture 1, we learned how the medical model focuses on biology.</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Today, we question the medical model itself.</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Objectives for today:</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1. Understand the "Medicalization of Society."</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2. Analyze how medicine can sometimes cause harm (Iatrogenesis).</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3. Deconstruct the social rules of being sick (The Sick Role).</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4. Examine how mental illness and disability are socially constructed.</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5. Learn how power, politics, and corporate interests shape what we call a "disease."</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Exam Focus:  </a:t>
            </a:r>
            <a:r>
              <a:rPr sz="1650" b="0">
                <a:solidFill>
                  <a:srgbClr val="373D42"/>
                </a:solidFill>
                <a:latin typeface="Segoe UI"/>
              </a:rPr>
              <a:t>You must be able to explain how social and political forces influence medical diagnoses, and how this impacts health promotion program design.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MEDICALIZATION OF SOCIETY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What is Medicalization?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The process by which non-medical problems become defined and treated as medical problems, usually in terms of illnesses or disorders.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Historically, medicine dealt with broken bones and infections.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Today, medicine deals with sadness, aging, baldness, sexual performance, childhood energy, and childbirth.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Expansion of Medical Jurisdiction:  </a:t>
            </a:r>
            <a:r>
              <a:rPr sz="1800" b="0">
                <a:solidFill>
                  <a:srgbClr val="373D42"/>
                </a:solidFill>
                <a:latin typeface="Segoe UI"/>
              </a:rPr>
              <a:t>Doctors have become the ultimate moral and social authorities in modern society.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Medicalization is not inherently good or bad, but it shifts the focus from social solutions to biological treatments.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Medicalization of Normal Life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Consider the human experience of grief after losing a loved one.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For centuries, this was understood as a natural, albeit painful, human experience.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Today, if severe grief persists beyond a certain timeframe, it can be diagnosed as "Prolonged Grief Disorder" and treated with pharmaceuticals.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  </a:t>
            </a:r>
            <a:r>
              <a:rPr sz="1800" b="0">
                <a:solidFill>
                  <a:srgbClr val="373D42"/>
                </a:solidFill>
                <a:latin typeface="Segoe UI"/>
              </a:rPr>
              <a:t>At what point do we pathologize normal human suffering?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Reflection:  </a:t>
            </a:r>
            <a:r>
              <a:rPr sz="1800" b="0">
                <a:solidFill>
                  <a:srgbClr val="373D42"/>
                </a:solidFill>
                <a:latin typeface="Segoe UI"/>
              </a:rPr>
              <a:t>When we turn a social or emotional problem into a medical one, do we cure the pain, or do we just silence the sufferer?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IVAN ILLICH AND THE LIMITS OF MEDICINE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Medical Nemesis (1975)</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Ivan Illich was a philosopher who fiercely critiqued the modern medical establishment.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 argued that the medicalization of life ultimately destroys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 introduced the concept of "Iatrogenesis" (doctor-caused or medicine-caused illness).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Illich divided Iatrogenesis into three distinct levels: Clinical, Social, and Cultural.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To be a critical health promoter, you must recognize that the healthcare system itself can be a determinant of poor health.</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1 - CLINICAL IATOGENESIS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Harm Caused by Medical Care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Pain, sickness, or death caused directly by medical interventions.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Examples: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Adverse drug reactions and interactions.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Hospital-acquired infections (e.g., MRSA).</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Surgical errors and complications.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Overdiagnosis leading to unnecessary, harmful treatments.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Reality:  </a:t>
            </a:r>
            <a:r>
              <a:rPr sz="1800" b="0">
                <a:solidFill>
                  <a:srgbClr val="373D42"/>
                </a:solidFill>
                <a:latin typeface="Segoe UI"/>
              </a:rPr>
              <a:t>In many developed nations, medical errors and adverse events are among the top ten leading causes of death.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HP Application:  </a:t>
            </a:r>
            <a:r>
              <a:rPr sz="1800" b="0">
                <a:solidFill>
                  <a:srgbClr val="373D42"/>
                </a:solidFill>
                <a:latin typeface="Segoe UI"/>
              </a:rPr>
              <a:t>Health promotion must sometimes focus on "de-prescribing" and protecting patients from unnecessary medical interventions.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2 - SOCIAL IATOGENESIS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Medicalization of Life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The process where the medical system expands its control over everyday life, making people dependent on doctors for normal life events.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Examples: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medical management of natural childbirth.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pharmaceutical treatment of normal childhood behavioral variations (e.g., ADHD).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anti-aging industry treating natural decline as a disease to be fought.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Result:  </a:t>
            </a:r>
            <a:r>
              <a:rPr sz="1800" b="0">
                <a:solidFill>
                  <a:srgbClr val="373D42"/>
                </a:solidFill>
                <a:latin typeface="Segoe UI"/>
              </a:rPr>
              <a:t>People lose their autonomy and their ability to self-manage normal life transitions. They become perpetual "patients."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LEVEL 3 - CULTURAL IATOGENESIS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Destruction of Coping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The process by which professional medical care destroys the cultural and community resources people use to cope with pain, aging, and death.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Historically, communities, families, and spiritual practices helped people navigate suffering.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Today, we outsource suffering to professionals. We expect a pill for every emotional dip and a hospital for every death.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Result:  </a:t>
            </a:r>
            <a:r>
              <a:rPr sz="1800" b="0">
                <a:solidFill>
                  <a:srgbClr val="373D42"/>
                </a:solidFill>
                <a:latin typeface="Segoe UI"/>
              </a:rPr>
              <a:t>A society that is deeply terrified of pain, aging, and mortality, lacking the cultural resilience to face them naturally.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DISEASE MONGERING AND CORPORATE INFLUENCE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Who Defines Disease?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Disease Mongering:  </a:t>
            </a:r>
            <a:r>
              <a:rPr sz="1800" b="0">
                <a:solidFill>
                  <a:srgbClr val="373D42"/>
                </a:solidFill>
                <a:latin typeface="Segoe UI"/>
              </a:rPr>
              <a:t>The practice of widening the diagnostic boundaries of a disease to expand the market for a treatment.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Role of "Big Pharma":  </a:t>
            </a:r>
            <a:r>
              <a:rPr sz="1800" b="0">
                <a:solidFill>
                  <a:srgbClr val="373D42"/>
                </a:solidFill>
                <a:latin typeface="Segoe UI"/>
              </a:rPr>
              <a:t>Pharmaceutical companies do not just sell drugs; they actively help construct the diseases those drugs treat.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Tactics used: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Sponsoring medical conferences to lower diagnostic thresholds (e.g., lowering the blood pressure number that defines "hypertension").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Funding patient advocacy groups to demand new treatments.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Direct-to-consumer advertising that turns normal variations into medical crises.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CASE STUDY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Invention of "Female Sexual Dysfunction"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the late 1990s, following the massive financial success of Viagra for men, pharmaceutical companies sought a "pink pill" for women.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Problem:  </a:t>
            </a:r>
            <a:r>
              <a:rPr sz="1800" b="0">
                <a:solidFill>
                  <a:srgbClr val="373D42"/>
                </a:solidFill>
                <a:latin typeface="Segoe UI"/>
              </a:rPr>
              <a:t>There was no widely accepted medical consensus on a high prevalence of female sexual dysfunction.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Solution:  </a:t>
            </a:r>
            <a:r>
              <a:rPr sz="1800" b="0">
                <a:solidFill>
                  <a:srgbClr val="373D42"/>
                </a:solidFill>
                <a:latin typeface="Segoe UI"/>
              </a:rPr>
              <a:t>Industry-funded surveys and conferences redefined normal variations in female sexual desire as a "medical disorder" affecting up to 43 percent of women.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Result:  </a:t>
            </a:r>
            <a:r>
              <a:rPr sz="1800" b="0">
                <a:solidFill>
                  <a:srgbClr val="373D42"/>
                </a:solidFill>
                <a:latin typeface="Segoe UI"/>
              </a:rPr>
              <a:t>A massive new market was created, not by discovering a new biological pathology, but by shifting cultural expectations and medical definitions.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Use this case study to explain how commercial determinants of health influence the very definition of disease.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"SICK ROLE" (TALCOTT PARSONS)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Sociology of Being Ill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1951, sociologist Talcott Parsons argued that being "sick" is not just a biological state; it is a socially sanctioned role.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Society requires people to be productive. Illness disrupts society.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Therefore, society creates a "Sick Role" with strict rules to manage the disruption and ensure the person returns to productivity quickly.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Sick Role is a temporary, socially acceptable form of deviance.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RIGHTS AND OBLIGATIONS OF THE SICK ROLE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Social Contract of Illness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Rights of the Sick:</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Exemption from normal social roles (you do not have to go to work or school).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Exemption from moral responsibility (you are not blamed for catching the flu).</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Obligations of the Sick:</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You must define illness as an undesirable state that you want to get over.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You must seek technically competent help (go to a doctor) and cooperate with the treatment plan.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If a person does not fulfill the obligations (e.g., they refuse treatment, or their illness is stigmatized), society revokes their "rights" and labels them as "malingerers" or "difficult patients."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CRITIQUES OF THE SICK ROLE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Parsons' Model Fails Today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Chronic Illness:  </a:t>
            </a:r>
            <a:r>
              <a:rPr sz="1800" b="0">
                <a:solidFill>
                  <a:srgbClr val="373D42"/>
                </a:solidFill>
                <a:latin typeface="Segoe UI"/>
              </a:rPr>
              <a:t>Parsons designed the sick role for acute illnesses (like pneumonia). It fails for chronic conditions (like diabetes or arthritis) where the patient never fully recovers and cannot simply "return to normal."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Stigmatized Illnesses:  </a:t>
            </a:r>
            <a:r>
              <a:rPr sz="1800" b="0">
                <a:solidFill>
                  <a:srgbClr val="373D42"/>
                </a:solidFill>
                <a:latin typeface="Segoe UI"/>
              </a:rPr>
              <a:t>The sick role assumes society grants you sympathy. But what if your disease is stigmatized (e.g., HIV/AIDS, substance use disorder, obesity)? Society often blames the victim, denying them the "rights" of the sick role.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Socioeconomic Bias:  </a:t>
            </a:r>
            <a:r>
              <a:rPr sz="1800" b="0">
                <a:solidFill>
                  <a:srgbClr val="373D42"/>
                </a:solidFill>
                <a:latin typeface="Segoe UI"/>
              </a:rPr>
              <a:t>The obligation to "seek competent help" assumes you have the money, time, and access to do so. Poverty prevents people from fulfilling the sick role.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Who Gets to be "Legitimately" Sick?</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Scenario A:  </a:t>
            </a:r>
            <a:r>
              <a:rPr sz="1800" b="0">
                <a:solidFill>
                  <a:srgbClr val="373D42"/>
                </a:solidFill>
                <a:latin typeface="Segoe UI"/>
              </a:rPr>
              <a:t>A wealthy executive suffers from severe burnout and exhaustion. They are praised for "working too hard" and given a medical leave of absence to recover at a wellness retreat.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Scenario B:  </a:t>
            </a:r>
            <a:r>
              <a:rPr sz="1800" b="0">
                <a:solidFill>
                  <a:srgbClr val="373D42"/>
                </a:solidFill>
                <a:latin typeface="Segoe UI"/>
              </a:rPr>
              <a:t>A low-income single mother suffers from severe burnout and exhaustion. She is labeled "unreliable," denied sick leave, and threatened with termination.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  </a:t>
            </a:r>
            <a:r>
              <a:rPr sz="1800" b="0">
                <a:solidFill>
                  <a:srgbClr val="373D42"/>
                </a:solidFill>
                <a:latin typeface="Segoe UI"/>
              </a:rPr>
              <a:t>How do class, gender, and race dictate whose suffering is validated as a "legitimate medical condition" and whose suffering is dismissed as a "personal failure"?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SOCIAL CONSTRUCTION OF MENTAL ILLNESS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Beyond Biology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Physical diseases (like tuberculosis) have clear, observable biological pathogens.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Mental illnesses are largely defined by behavioral and emotional deviations from social norms.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What is considered "madness" or "mental illness" changes drastically across different cultures and historical eras.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Critical Perspective asks:  </a:t>
            </a:r>
            <a:r>
              <a:rPr sz="1800" b="0">
                <a:solidFill>
                  <a:srgbClr val="373D42"/>
                </a:solidFill>
                <a:latin typeface="Segoe UI"/>
              </a:rPr>
              <a:t>Are we treating a biological brain disease, or are we medicalizing social deviance and distress?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THOMAS SZASZ AND "THE MYTH OF MENTAL ILLNESS"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Radical Critique (1960)</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Psychiatrist Thomas Szasz argued that "mental illness" is a metaphor.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 stated that while the brain can have physical diseases (like tumors or syphilis), "problems in living" (like sadness, anxiety, or unconventional beliefs) are not medical diseases.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Szasz warned that labeling social and moral problems as "mental illnesses" strips individuals of their agency and responsibility.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He argued that involuntary psychiatric treatment is a form of social control, not medicine.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MICHEL FOUCAULT AND MADNESS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Power and Knowledge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Philosopher Michel Foucault analyzed how society historically dealt with "unreason."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the Middle Ages, the "mad" were integrated into society (the Ship of Fools).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the Enlightenment, society shifted to "The Great Confinement," locking away the mad alongside criminals and the poor.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Foucault argued that psychiatry did not "discover" mental illness and cure it; rather, it invented a new language of power to silence and control those who did not fit into the rational, capitalist, industrial workforce.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DSM AS A POLITICAL DOCUMENT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Diagnostic and Statistical Manual of Mental Disorders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DSM is the "bible" of psychiatry, used to diagnose mental illness globally.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Critical sociologists view the DSM not as a purely scientific text, but as a political and historical document.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Diagnoses are added, removed, or redefined based on committee votes, cultural shifts, and pharmaceutical lobbying, not just biological discoveries.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Every new edition of the DSM expands the boundaries of mental illness, increasing the number of people who qualify for psychiatric treatment.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CASE STUDY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Homosexuality in the DSM (1973)</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From the first edition of the DSM until 1973, homosexuality was officially classified as a "sociopathic personality disturbance" (a mental illness).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was treated with institutionalization, electroshock therapy, and chemical castration.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1973, following massive protests by gay rights activists, the American Psychiatric Association voted to remove homosexuality from the DSM.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Science Did Not Change:  </a:t>
            </a:r>
            <a:r>
              <a:rPr sz="1800" b="0">
                <a:solidFill>
                  <a:srgbClr val="373D42"/>
                </a:solidFill>
                <a:latin typeface="Segoe UI"/>
              </a:rPr>
              <a:t>No new biological evidence was discovered in 1973. The social and political climate changed.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This proves that psychiatric diagnoses are deeply intertwined with social movements, morality, and human rights.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NEURODIVERSITY PARADIGM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Modern Shift in Perspective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Pathology Paradigm:  </a:t>
            </a:r>
            <a:r>
              <a:rPr sz="1800" b="0">
                <a:solidFill>
                  <a:srgbClr val="373D42"/>
                </a:solidFill>
                <a:latin typeface="Segoe UI"/>
              </a:rPr>
              <a:t>Views conditions like Autism and ADHD as brain disorders, deficits, and diseases that need to be cured or normalized.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Neurodiversity Paradigm:  </a:t>
            </a:r>
            <a:r>
              <a:rPr sz="1800" b="0">
                <a:solidFill>
                  <a:srgbClr val="373D42"/>
                </a:solidFill>
                <a:latin typeface="Segoe UI"/>
              </a:rPr>
              <a:t>Views these conditions as natural, healthy variations of the human genome, much like differences in eye color or height.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Under neurodiversity, the "disability" arises from a society designed exclusively for neurotypical brains, not from the brain itself.</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HP Application:  </a:t>
            </a:r>
            <a:r>
              <a:rPr sz="1800" b="0">
                <a:solidFill>
                  <a:srgbClr val="373D42"/>
                </a:solidFill>
                <a:latin typeface="Segoe UI"/>
              </a:rPr>
              <a:t>Health promotion for neurodivergent populations should focus on environmental accommodation and acceptance, not behavioral compliance or "cures."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Loss of Sadness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Authors Allan Horwitz and Jerome Wakefield argue that modern psychiatry has confused "normal sadness" with "clinical depression."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True depressive disorder is a biological malfunction where sadness occurs without a triggering context.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Normal sadness is a proportional, healthy human response to loss, failure, or trauma.</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By diagnosing normal sadness as a medical disorder, we risk medicating the human condition and ignoring the social environments that are making people so deeply unhappy.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DISABILITY STUDIES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Moving Beyond the Social Model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Lecture 1, we discussed the Social Model of Disability (impairment vs. societal barriers).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Today, we look at the Cultural Model of Disability.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Cultural Model asks:  </a:t>
            </a:r>
            <a:r>
              <a:rPr sz="1800" b="0">
                <a:solidFill>
                  <a:srgbClr val="373D42"/>
                </a:solidFill>
                <a:latin typeface="Segoe UI"/>
              </a:rPr>
              <a:t>How do language, media, literature, and art create the very idea of the "normal" body?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examines how metaphors of disability (e.g., "blind to the truth," "crippled by debt," "lame excuse") reinforce the idea that disabled bodies are inherently tragic, broken, or lesser.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INTERSECTIONALITY AND DISABILITY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Crip Theory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"Crip Theory" borrows from Queer Theory to challenge the concept of "normalcy."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argues that "able-bodiedness" is a fragile, temporary state. Everyone will experience disability if they live long enough.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Intersectionality:  </a:t>
            </a:r>
            <a:r>
              <a:rPr sz="1800" b="0">
                <a:solidFill>
                  <a:srgbClr val="373D42"/>
                </a:solidFill>
                <a:latin typeface="Segoe UI"/>
              </a:rPr>
              <a:t>A disabled person's experience is fundamentally altered by their race, gender, and class.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A wealthy, white disabled person may be viewed as "brave" and receive top-tier care. A poor, Black disabled person may be viewed as "suspicious" or "burdensome" and face systemic neglect or police violence.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"SUPERCRIP" STEREOTYPE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Danger of Overcompensation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Media often portrays disabled individuals in two extremes: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The Tragic Victim (pitiful, needing a cure).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The Supercrip (overcoming their disability to achieve something "normal," like climbing a mountain).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is the Supercrip stereotype harmful?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implies that a disabled life is only valuable if the person "overcomes" their disability.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puts the burden of success entirely on the individual's willpower, ignoring systemic barriers.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makes everyday disabled people feel inadequate if they cannot perform "superhuman" feats.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INSPIRATION PORN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Objectification of the Disabled Body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Coined by disability rights activist Stella Young.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The use of people with disabilities as props to inspire, motivate, or make able-bodied people feel good about their own lives.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Examples:  </a:t>
            </a:r>
            <a:r>
              <a:rPr sz="1800" b="0">
                <a:solidFill>
                  <a:srgbClr val="373D42"/>
                </a:solidFill>
                <a:latin typeface="Segoe UI"/>
              </a:rPr>
              <a:t>Posters of a child with prosthetic legs running, with the caption: "What's your excuse?"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Harm:  </a:t>
            </a:r>
            <a:r>
              <a:rPr sz="1800" b="0">
                <a:solidFill>
                  <a:srgbClr val="373D42"/>
                </a:solidFill>
                <a:latin typeface="Segoe UI"/>
              </a:rPr>
              <a:t>It reduces disabled people to objects of inspiration for the non-disabled. It frames simply existing in a disabled body as an act of extraordinary bravery, rather than a normal way of living.</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STELLA YOUNG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 am not your inspiration, thank you very much."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"I am not here to inspire you. I am here to tell you that we have been lied to about disability. We have been sold this lie that disability is a Bad Thing, and to live with a disability makes you exceptional. It is not a Bad Thing, and it does not make you exceptional."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True Goal of Health Promotion:  </a:t>
            </a:r>
            <a:r>
              <a:rPr sz="1800" b="0">
                <a:solidFill>
                  <a:srgbClr val="373D42"/>
                </a:solidFill>
                <a:latin typeface="Segoe UI"/>
              </a:rPr>
              <a:t>Not to make disabled people "inspirational," but to make society accessible, equitable, and mundane for them.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do not need inspiration; we need ramps, equitable pay, and systemic justice.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EPISTEMIC INJUSTICE IN HEALTHCARE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Whose Knowledge Counts?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Philosopher Miranda Fricker introduced the concept of Epistemic Injustice: wrongs done to people specifically in their capacity as knowers.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healthcare, patients are often not believed about their own bodies and experiences.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disproportionately affects women, people of color, disabled individuals, and those with mental health conditions.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a system systematically ignores the lived experience of marginalized groups, it commits epistemic injustice.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TESTIMONIAL VS. HERMENEUTICAL INJUSTICE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Two Forms of Epistemic Harm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Testimonial Injustice: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a hearer gives less credibility to a speaker's word due to prejudice.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A doctor dismissing a woman's reports of severe pain as "anxiety" or "hysteria," leading to delayed diagnosis of endometriosis or heart disease.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Hermeneutical Injustice: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a group lacks the social vocabulary to even make sense of their own experience because the dominant culture has not named it.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Before the term "sexual harassment" was coined in the 1970s, women experienced it but were told it was just "flirting" or "part of the job." They lacked the conceptual tools to name the harm.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DECOLONIZING HEALTH AND DISEASE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Challenging Western Biomedical Dominance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Western biomedicine is often treated as the only "real" or "objective" way to understand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Indigenous and non-Western knowledge systems (which often view health holistically, integrating spiritual, community, and environmental well-being) are dismissed as "alternative" or "unscientific."</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Decolonizing health means recognizing that Western medicine is just one cultural system among many.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requires integrating Indigenous healing practices, respecting community elders, and acknowledging the historical trauma inflicted by colonial medical systems (e.g., forced sterilizations, unethical experimentation).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SUMMARY THE CRITICAL PERSPECTIVE FRAMEWORK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How to Analyze Any Health Issue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designing a health promotion program, ask these critical questions: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1. Medicalization:  </a:t>
            </a:r>
            <a:r>
              <a:rPr sz="1800" b="0">
                <a:solidFill>
                  <a:srgbClr val="373D42"/>
                </a:solidFill>
                <a:latin typeface="Segoe UI"/>
              </a:rPr>
              <a:t>Is this a biological disease, or a social problem wearing a medical mask?</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2. Iatrogenesis:  </a:t>
            </a:r>
            <a:r>
              <a:rPr sz="1800" b="0">
                <a:solidFill>
                  <a:srgbClr val="373D42"/>
                </a:solidFill>
                <a:latin typeface="Segoe UI"/>
              </a:rPr>
              <a:t>Could the proposed medical treatment cause more social or physical harm than the condition itself?</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3. The Sick Role:  </a:t>
            </a:r>
            <a:r>
              <a:rPr sz="1800" b="0">
                <a:solidFill>
                  <a:srgbClr val="373D42"/>
                </a:solidFill>
                <a:latin typeface="Segoe UI"/>
              </a:rPr>
              <a:t>Who is being granted legitimacy to be sick, and who is being stigmatized or blamed?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4. Epistemic Injustice:  </a:t>
            </a:r>
            <a:r>
              <a:rPr sz="1800" b="0">
                <a:solidFill>
                  <a:srgbClr val="373D42"/>
                </a:solidFill>
                <a:latin typeface="Segoe UI"/>
              </a:rPr>
              <a:t>Are we listening to the lived experience of the community, or just imposing clinical definitions upon them?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5. Structural Justice:  </a:t>
            </a:r>
            <a:r>
              <a:rPr sz="1800" b="0">
                <a:solidFill>
                  <a:srgbClr val="373D42"/>
                </a:solidFill>
                <a:latin typeface="Segoe UI"/>
              </a:rPr>
              <a:t>Are we trying to "fix" the marginalized individual, or are we trying to fix the oppressive environment?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 FOR REFLECTION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Critical Tensions to Hold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If we completely de-medicalize mental distress, do we risk abandoning people who genuinely find relief and stability through psychiatric medication?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How do we balance the need for early disease screening (Secondary Prevention) with the harms of overdiagnosis and medicalizing normal life?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3. If a patient refuses a life-saving medical treatment due to their cultural beliefs, at what point does respecting their autonomy become medical neglect?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4. Can the healthcare system ever truly be decolonized, or is it inherently built on Western, capitalist paradigms of productivity and bodily control?</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KEY TERMS GLOSSARY (EXAM PREP)</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Master the Vocabulary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Medicalization:  </a:t>
            </a:r>
            <a:r>
              <a:rPr sz="1800" b="0">
                <a:solidFill>
                  <a:srgbClr val="373D42"/>
                </a:solidFill>
                <a:latin typeface="Segoe UI"/>
              </a:rPr>
              <a:t>Turning non-medical problems into medical ones.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Iatrogenesis:  </a:t>
            </a:r>
            <a:r>
              <a:rPr sz="1800" b="0">
                <a:solidFill>
                  <a:srgbClr val="373D42"/>
                </a:solidFill>
                <a:latin typeface="Segoe UI"/>
              </a:rPr>
              <a:t>Illness caused by medical examination or treatment (Clinical, Social, Cultural).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Sick Role:  </a:t>
            </a:r>
            <a:r>
              <a:rPr sz="1800" b="0">
                <a:solidFill>
                  <a:srgbClr val="373D42"/>
                </a:solidFill>
                <a:latin typeface="Segoe UI"/>
              </a:rPr>
              <a:t>Parsons' theory of the rights and obligations of being ill.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Disease Mongering:  </a:t>
            </a:r>
            <a:r>
              <a:rPr sz="1800" b="0">
                <a:solidFill>
                  <a:srgbClr val="373D42"/>
                </a:solidFill>
                <a:latin typeface="Segoe UI"/>
              </a:rPr>
              <a:t>Expanding disease definitions to sell treatments.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Epistemic Injustice:  </a:t>
            </a:r>
            <a:r>
              <a:rPr sz="1800" b="0">
                <a:solidFill>
                  <a:srgbClr val="373D42"/>
                </a:solidFill>
                <a:latin typeface="Segoe UI"/>
              </a:rPr>
              <a:t>Undermining someone's capacity as a knower (Testimonial and Hermeneutical).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Neurodiversity:  </a:t>
            </a:r>
            <a:r>
              <a:rPr sz="1800" b="0">
                <a:solidFill>
                  <a:srgbClr val="373D42"/>
                </a:solidFill>
                <a:latin typeface="Segoe UI"/>
              </a:rPr>
              <a:t>The concept that neurological differences are normal human variations.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Inspiration Porn:  </a:t>
            </a:r>
            <a:r>
              <a:rPr sz="1800" b="0">
                <a:solidFill>
                  <a:srgbClr val="373D42"/>
                </a:solidFill>
                <a:latin typeface="Segoe UI"/>
              </a:rPr>
              <a:t>Objectifying disabled people to motivate able-bodied people.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Required Journal Article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Jutel, A. (2009). Sociology of diagnosis: A preliminary review. Sociology of Health and Illness, 31(2), 278-299.</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read this?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brilliantly explains that "diagnosis" is not just a medical fact; it is a social process.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shows how diagnosis organizes social reality, grants access to resources, and exerts social control.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provides the perfect theoretical bridge between the biological reality of disease and the sociological reality of illness.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Essential reading for Part 1 of your Final Report when you are defining your target population's health needs.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THANK YOU AND NEXT WEEK'S TEASER</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Stay Critical. Question the Norm.</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Contact:</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Email:  </a:t>
            </a:r>
            <a:r>
              <a:rPr sz="1650" b="0">
                <a:solidFill>
                  <a:srgbClr val="373D42"/>
                </a:solidFill>
                <a:latin typeface="Segoe UI"/>
              </a:rPr>
              <a:t>[Professor's Email]</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Office Hours:  </a:t>
            </a:r>
            <a:r>
              <a:rPr sz="1650" b="0">
                <a:solidFill>
                  <a:srgbClr val="373D42"/>
                </a:solidFill>
                <a:latin typeface="Segoe UI"/>
              </a:rPr>
              <a:t>[Time/Location]</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Next Week:  </a:t>
            </a:r>
            <a:r>
              <a:rPr sz="1650" b="0">
                <a:solidFill>
                  <a:srgbClr val="373D42"/>
                </a:solidFill>
                <a:latin typeface="Segoe UI"/>
              </a:rPr>
              <a:t>Lecture 3 - Theories in Health Promotion (SEM, HBM)</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Moving from critique to action.</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The Social Ecological Model (SEM):  </a:t>
            </a:r>
            <a:r>
              <a:rPr sz="1650" b="0">
                <a:solidFill>
                  <a:srgbClr val="373D42"/>
                </a:solidFill>
                <a:latin typeface="Segoe UI"/>
              </a:rPr>
              <a:t>Mapping the layers of influence.</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The Health Belief Model (HBM):  </a:t>
            </a:r>
            <a:r>
              <a:rPr sz="1650" b="0">
                <a:solidFill>
                  <a:srgbClr val="373D42"/>
                </a:solidFill>
                <a:latin typeface="Segoe UI"/>
              </a:rPr>
              <a:t>Why do people accept or reject health advice?</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How to use theory to design interventions that actually work.</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Action Item:  </a:t>
            </a:r>
            <a:r>
              <a:rPr sz="1650" b="0">
                <a:solidFill>
                  <a:srgbClr val="373D42"/>
                </a:solidFill>
                <a:latin typeface="Segoe UI"/>
              </a:rPr>
              <a:t>Read the Jutel (2009) article and identify one condition in modern society that you believe is currently undergoing "medicalization." Be ready to discuss it in the seminar.</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See you next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Disease, and Disability - A Critical Perspective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