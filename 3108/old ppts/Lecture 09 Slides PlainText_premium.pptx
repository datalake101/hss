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Health, Health Systems, and Health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promotion/prevention don't happen in a vacuum, they operate within systems shaped by policy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Examines how health systems are structured, how policy shapes prevention outcomes, how global institutions coordinate across borders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tool from earlier lectures requires underlying infrastructure to actually reach real people at scale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brilliant vaccine does nothing without manufacturing, distribution, and a funded workforce to deliver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Sets up directly for Lecture 10's complete program design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the core components of a functioning health system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Compare different national approaches to health system financing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the role of major global health institutions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Discuss universal health coverage and its relationship to prevention (connects to Lecture 2's access determinant)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Evaluate real policy case studies affecting population-level prevention outcomes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What Is a Health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organizations, people, and actions whose primary purpose is to promote, restore, or maintain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Includes hospitals, clinics, public health agencies, health workers, financing mechanisms, supply chains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delivering a childhood vaccine (Lecture 6) requires manufacturing, transport, trained workers, and a functioning clinic network all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any single component fails, the vaccine never actually reaches the child who needs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Nearly every course example (David's rehab, Priya's patches, North Karelia's screening) depended on a system rarely examined directly until now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WHO's Six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Service delivery, health workforce, health information systems, access to essential medicines, financing, leadership/governance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excellent hospitals (service delivery) mean little without a trained community workforce for rural vaccination (Lecture 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Service delivery = David's cardiac rehab; workforce = who delivered Priya's counseling; information systems = tracking North Karelia's declining mortality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Access to medicines = nicotine patches, insulin; financing = affordability; governance = coordinating all five blocks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widely used organizing framework for understanding any country's health system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Financing Models: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Major models: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tax-funded universal systems, social health insurance, private insurance, out-of-pocket payment systems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Financing structure strongly shapes access to prevention services specifically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Tax-funded vaccination removes cost as a barrier entirely (connects to Lecture 5's perceived barriers)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genuinely different real-world examples covered next: UK (tax-funded), Germany (social insurance), out-of-pocket dominant lower-income systems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underlying goal (providing care) pursued through meaningfully different structures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Universal Health Coverage: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people can access needed health services, including prevention, WITHOUT financial hardship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free childhood immunizations and free cancer screening remove cost barriers across all income groups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"Without financial hardship" is a specific standard, care could be theoretically available yet still bankrupt someone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Protects against choosing between health and financial ruin (echoes Family B's dilemma, 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central concept in modern global health policy discussions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Universal Health Coverage and Prevention: The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is easy to postpone/skip when it carries a cost, since skipping rarely feels urgent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Free preventive screening programs show consistently higher participation than pay-out-of-pocket systems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with full belief in a test's value plus a reminder cue (Lecture 5), cost can override motivation at the last moment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Explains why national screening programs in UHC countries specifically remove cost for preventive services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Lecture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prevention's invisible, delayed rewards make it especially vulnerable to any added friction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UK's National Health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Tax-funded universal system; free-at-point-of-use preventive services including immunizations and organized screening invitations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Automatic invitations (rather than requiring patients to initiate) meaningfully increase population-level participation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"Free-at-point-of-use" means funded collectively through taxation, not free in an absolute sense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Removes the moment-of-decision cost weighing that Family B faced in Lecture 2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three financing models compared in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Social Health Insurance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Germany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employers and employees jointly fund a regulated insurance system covering nearly the entire population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Blends universal coverage principles with decentralized, non-government-run delivery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Funding flows through employment-linked contributions rather than general taxation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Care delivered through a mix of private and public providers, unlike the UK's centrally run system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multiple viable institutional paths toward the same universal coverage goal, shaped by each country's history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Out-of-Pocket Dominant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Common in some lower-income countries: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large share of health spending paid directly by patients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family delaying a child's vaccination due to transport and clinic fees (Lecture 6's vaccination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Compounds with existing income-related determinants (Lecture 2), adding a direct financial barrier every time care is sought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Strongly associated globally with lower preventive care utilization and worse outcomes, even controlling for national wealth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Stands in genuine contrast to the UK and German models just discussed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Health Workforce: A Critical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well-funded programs fail without adequate trained health workers to deliver them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health worker programs extend reach into areas with severe doctor/nurse shortages (Lecture 6's polio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"Brain drain": trained workers migrate toward wealthier countries/urban areas offering better pay/conditions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leave rural/lower-resource regions understaffed even when national workforce numbers look adequate on paper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genuinely persistent global challenge, not easily solved by funding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Task-Shifting: A Workforce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Redistributes tasks from scarce, highly trained professionals to adequately trained, less specialized workers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pharmacists administering flu vaccines/blood pressure checks without requiring a full doctor's appointment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3's blood pressure screening discussion, a task "essentially anyone can learn in a few minutes"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Expands effective workforce capacity without requiring years of additional physician training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practical policy response to the bottleneck identified on the previous slide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Reliable data systems track disease patterns, vaccination coverage, screening participation to guide resources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immunization registry flags children who missed scheduled doses, enabling targeted outreach (cue to action, 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Often receives less funding/attention than visible components (hospitals, medicines) despite being essential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Produces no visible treatment itself, enables everything else to be better targeted and evaluated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the "primary prevention" of health system management: invisible but foundational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 Institutions: World Health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Coordinates international health policy, sets global guidelines, leads cross-border emergency response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Coordinated the smallpox eradication campaign (Lecture 6): achieved outcomes no single country could accomplish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Appears throughout the entire 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Ottawa Charter (Lecture 1), herd immunity guidance (Lecture 6), NCD Progress Monitor (Lecture 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Functions as a genuine hub connecting nearly every domain covered in this course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Mandate spans the entire field of global public health, not one narrow slice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 Institutions: Gavi, the Vaccine Alliance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Public-private partnership funding and delivering vaccines to lower-income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Dramatically expanded childhood immunization access; introduced vaccines like rotavirus and pneumococcal disease vaccines to previously unaffordable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Pools funding from governments, foundations, and manufacturers to negotiate lower prices and guarantee supply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Solves the out-of-pocket financing barrier (Slide 10) specifically for vaccines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Complements, rather than duplicates, the WHO's broader coordinating role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 Institutions: The Global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Pools international resources to fight HIV/AIDS, tuberculosis, and malaria in lower-income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Funds bed nets, testing programs, and treatment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Bed net distribution has contributed to substantial malaria mortality declines across multiple African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6's vector-borne disease discussion, funds the distribution logistics, not just the nets themselves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Ties together financing, workforce, service delivery, and information systems for one specific disease category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International Health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WHO-administered regulations requiring countries to report certain outbreaks promptly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Enables faster global response and resource sharing (previewed in Lecture 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Countries may have economic incentives (tourism, trade, reputation) to delay reporting, regulations counteract this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Legally binding agreement protects collective global interest even when it conflicts with a country's short-term interest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Reflects the individual-vs-collective tension seen with quarantine and individual liberty (Lecture 6)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in All Policies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Recognizes decisions OUTSIDE the health sector (transportation, housing, education, agriculture) significantly affect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transportation ministry's bike infrastructure decision has real public health consequences (Lecture 4's active transport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Nearly every course example reflects this: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grocery store rezoning (Lecture 2), folic acid fortification (Lecture 4), redlining (Lecture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None of these decisions were made by a health ministry, this framework gives formal language for this pattern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formalization of an insight this course has demonstrated repeatedly without naming it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Health in All Policies in South Australia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Formally required government departments across sectors to consider health impacts in planning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urban planning decisions evaluated partly on impact to physical activity and social connection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Genuinely difficult to implement: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embedding health impact into standard approval processes, not offering optional advice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sustained political commitment across years, echoing North Karelia's multi-decade effort (Lecture 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this framework is genuinely achievable, not just theoretical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Policy Case Recap: Tobacco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Revisits Lecture 1/4/7's tobacco control example through today's systems lens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Required every building block from Slide 4: legislative capacity, financing for cessation services, information systems, sustained political leadership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Sustained across multiple election cycles and government changes despite industry pressure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Viewing it as a systems achievement (not just a strategy example) shows the institutional capacity a policy success actually requires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public health policy's most studied and successful examples worldwide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Policy Case Recap: Seatbelt and Road Safety 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Revisits Lecture 1's seatbelt 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simple, low-cost regulatory policy producing large population health gains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paired public education AND consistent enforcement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Enforcement dimension: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law only changes behavior at scale with functioning police/legal system capacity behind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Slide 4's leadership/governance building block, passing a law is only step 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genuine institutional capacity is required even for a "simple" policy success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Politics of Prevention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policy faces resistance because costs are immediate/concentrated while benefits are diffuse/delayed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industry lobbying has slowed soda taxation despite strong evidence (Lecture 7's commercial determinants)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industry facing a proposed tax has clear, organized, immediate financial motivation to fight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diffuse future public benefiting from reduced disease has no equivalent organized advocate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structural asymmetry, more than lack of evidence, explains why good prevention policy can still struggle politically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Evidence-Based Policy: The Role of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Strong prevention policy relies on rigorous effectiveness and cost-effectiveness research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economic analyses showing every dollar spent on childhood vaccination saves multiple future treatment dollars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Cost-effectiveness arguments speak directly to the budgetary trade-offs policymakers actually face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Echoes Lecture 3's cost-effectiveness argument for primary prevention specifically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Used successfully to justify sustained public vaccination funding to legislators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Impact Assessments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Formal, systematic evaluation of potential health consequences BEFORE major policy/infrastructure decisions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proposed highway expansion assessed for air quality, noise, pedestrian safety before construction approval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parallels Lecture 4's evaluation discussion, but predicts outcomes before a decision is made rather than measuring after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Catches potential harms during planning, when adjustments are still possible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2's redlining/pollution example, this tool aims to prevent that pattern from repeating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 Inequities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Substantial gaps remain between wealthier and lower-income countries in prevention access, workforce, and outcomes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Vaccination coverage and life expectancy still vary dramatically between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Zip-code-vs-genetic-code logic (Lecture 2) stretches to global scale: countries can show 20+ year life expectancy gaps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determinant from Lecture 2 has a global-scale equivalent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Institutions like WHO, Gavi, and the Global Fund exist because these gaps require resources no single lower-income country could mobilize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Climate Change as an Emerging Health Policy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Affects infectious disease patterns, food security, and extreme weather injury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 health ministries now incorporate climate adaptation directly into public health strategy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6's discussion question about vector-borne disease range expansion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surveillance systems (Slide 13, Lecture 6) to monitor diseases appearing in newly affected regions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workforce training to prepare providers for conditions not previously seen in their local context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Systems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Recent emergencies highlight the need for systems that maintain ROUTINE prevention services during major disruptions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mobile/drive-through clinics maintained childhood immunization during COVID-19 (Lecture 6's pandemic case study)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Herd immunity (Lecture 6) requires sustained coverage, even a temporary crisis-driven interruption can drop coverage below threshold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resilient system protects ongoing, less visible prevention work throughout a crisis, not just the immediate emergency response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Prevents a secondary crisis (e.g., resurging measles) layered on top of the original emergency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systems consist of workforce, financing, information systems, service delivery, and governance working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Universal health coverage removes financial barriers reducing prevention uptake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institutions (WHO, Gavi, Global Fund) coordinate cross-border prevention no single country could achieve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financing models (UK, Germany, out-of-pocket dominant) show multiple paths to similar goals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policy faces genuine political headwinds, countered by cost-effectiveness research and health impact assessments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inequities, climate change, and systems resilience are emerging priority areas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wealthier nations be obligated to fund Gavi/Global Fund at a fixed, guaranteed level?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universal health coverage realistically achievable in every country regardless of economic development?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health systems balance prevention investment against urgent treatment capacity with limited budgets?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"Health in All Policies" be legally mandated, or remain a voluntary best practice?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"Health Systems Building Blocks" framework document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"Universal Health Coverage" fact sheets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Gavi, the Vaccine Alliance, annual progress reports; the Global Fund's annual results report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"Health in All Policies" training manual and the South Australian case study report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global institutions like the WHO be reformed to respond faster during future emergencies?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health impact assessments be legally required for all major infrastructure worldwide, like environmental assessments?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wealthy countries balance domestic prevention spending against global health equity contributions?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Julio Frenk et al., "Health Professionals for a New Century," The Lancet (2010)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"World Health Report" on health systems financing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World Bank's Universal Health Coverage data portal, country-by-country coverage and financing comparisons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Health, Health Systems, and Health Policy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