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Program Planning, Implementation,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Final capstone lecture: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designing a complete real prevention program from start to finish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Follows one continuous case study, the town of "Riverside": through the entire process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Pulls together every concept from this ten-lecture course: models, determinants, prevention levels, strategies, behavior change, infectious/chronic disease, lifespan/settings, and health systems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Not new theory, the practical skill of applying everything already learned to one real, resource-constrained situation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Mirrors the closing case study first previewed back in Lecture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Describe the stages of program planning using an established planning model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Conduct a basic community needs assessment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Write measurable program goals and objectives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Distinguish process, outcome, and impact evaluation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Apply concepts from across the entire course to design one complete prevention program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Structured Planning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Good intentions alone don't guarantee effective programs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nutrition education program that ignores lack of grocery access (Lecture 2's food desert determinant) may fail despite excellent materials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echoes Mr. Thompson's diabetes case (Lecture 2), where education alone failed to address the real underlying barrier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Structured planning exists specifically to catch this kind of mistake BEFORE resources are spent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Sets up the formal planning model covered on the next slide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PRECEDE-PROCEED Model: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Widely used planning model working BACKWARD from desired outcomes, then FORWARD through implementation/evaluation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Combines determinants (Lecture 2), behavior theory (Lecture 5), and prevention levels (Lecture 3) into one structured framework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the synthesis this entire course has been building toward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Five assessment steps precede the implementation phase (covered on the following slides)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Named PRECEDE (planning phase) and PROCEED (implementation/evaluation phase)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Step 1: Social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Planners understand a community's quality-of-life concerns DIRECTLY from community members, not outside assumptions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Avoids the "designing without community input" pitfall flagged in Lecture 2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listening sessions held BEFORE any program design begins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Ensures the intervention addresses what the community actually identifies as priorities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First of five sequential assessment steps in the PRECEDE-PROCEED model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Step 2: Epidemiological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Planners identify specific health problems using data: disease rates, hospitalizations, mortality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reviewing a city's childhood asthma hospitalization data showing rates above regional average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2's data-driven mapping discussion (overlaying disease data with pollution maps)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Provides concrete evidence to justify and target a specific program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Works alongside Step 1's community voice, data AND lived experience, together, not either alone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Step 3: Behavioral and Environmental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Planners identify which behaviors AND environmental factors contribute to the identified problem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 asthma rates might reveal nearby industrial pollution (environmental) and low prescribed inhaler use (behavioral)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Environmental factor echoes Lecture 2's redlining/pollution example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Behavioral factor echoes Lecture 5's action-stage support needs (sustained adherence is genuinely hard)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Both dimensions must be addressed together, not just one or the other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Step 4: Educational and Ecological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Examines predisposing (knowledge/attitudes), enabling (skills/access/resources), and reinforcing (social support/policy) factors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maps onto Lecture 2's ecological model layers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low inhaler use might stem from limited technique knowledge, no regular doctor, and no family reminder system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reminder system gap echoes Lecture 5's "cues to action" concept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Identifies WHY a behavior is or isn't happening, beyond simply noting that it is or isn't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Step 5: Administrative and Policy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Assesses available resources, organizational capacity, and existing policy environment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 the health department have sufficient staff/funding? Do school medication rules need adjustment?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Lecture 9's discussion of health system financing and workforce constraints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Final assessment step before moving into actual program design and implementation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Completes the five-step PRECEDE assessment phase before the PROCEED implementation phase begins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 Study Introduction: The Riverside Asthma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Hypothetical mid-sized town with unusually high childhood asthma hospitalization rates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mirrors the closing case study first introduced in Lecture 1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Now built out properly, step by step, using the actual PRECEDE-PROCEED framework rather than just describing an outcome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Followed through every remaining slide of this lecture as our running example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Demonstrates the full planning process applied to one realistic, resource-constrained community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Riverside: Social and Epidemiological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Listening sessions (Step 1) reveal parents frustrated by frequent ER visits and missed school days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Data (Step 2) confirms Riverside's asthma hospitalization rate is significantly above regional average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Problem concentrated in one neighborhood near an aging industrial facility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Both Steps 1 and 2 point toward the same underlying problem, from two independent sources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 voice and hard data together give planners genuine confidence in the priority identified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Riverside: Behavioral and Environmental Factors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Investigation (Step 3) reveals: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aging factory pollution in the affected neighborhood, mold in older housing from plumbing issues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Also reveals: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many affected families lack a regular doctor for ongoing asthma management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mirrors the Lecture 1 closing case study, now grounded in structured investigation rather than assumption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Environmental factors (pollution, mold) and behavioral/access factors (no regular doctor) identified together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Sets the stage for goal-setting on the next slide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Setting Goals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Goals are broad, long-term aspirations; objectives are SMART (Specific, Measurable, Achievable, Relevant, Time-bound)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"Reduce childhood asthma hospitalizations in Riverside"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Objective: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"Reduce asthma-related ER visits among children in the target neighborhood by 25% within three years"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Goals provide direction; objectives provide a concrete, checkable target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Distinction matters enormously for the evaluation work covered later in this lecture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SMART Objectives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Vague objectives like "improve asthma outcomes" cannot genuinely be evaluated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Better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"Increase documented asthma action plans from 40% to 75% within 18 months"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Gives planners and evaluators a clear, measurable, time-bound target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Lecture 4's before-and-after measurement discipline for evaluating strategies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Without SMART objectives, it becomes impossible to determine whether a program actually succeeded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Designing the Intervention: Applying Course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Riverside's plan applies concepts from across this entire course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Policy advocacy for factory emissions controls (Lecture 4's policy strategy)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Housing program addressing mold (Lecture 2's determinants)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 health workers connecting families to care (Lecture 9's workforce discussion)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Individualized asthma action plans (Lecture 3's secondary and tertiary prevention combined)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Selecting Strategies: Multiple Levels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Recall Lecture 4: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combined strategies consistently beat single approaches used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Riverside works simultaneously at four levels: policy (emissions regulation), environment (housing repairs), community (health worker outreach), individual (asthma action plans)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comprehensive, multi-layered design rather than a single narrow intervention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Mirrors the tobacco control and North Karelia combined-strategy success patterns (Lectures 1, 4, 7)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Each level reinforces the others rather than acting in isolation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Stakeholder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Successful implementation requires genuine buy-in from families, school officials, local government, providers, and even the factory itself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involving the factory early in emissions discussions, rather than only after regulations finalize, reduces resistance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Early involvement can identify feasible, cost-effective solutions both sides can genuinely accept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9's discussion of the politics of prevention policy and industry resistance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 partnership, not just notification, improves the odds of sustained cooperation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Resource Planning and Budgeting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Programs require realistic budgeting for staff, materials, outreach, and evaluation activities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Riverside allocates funds across: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worker salaries, home repair grants, educational materials, a data tracking system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Every budget line is tied directly back to a specific objective from Slide 13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9's health financing discussion, no program succeeds without realistic, sustained funding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Budgeting completes the planning phase before implementation begins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Implementation: Phasing the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Large programs often launch in phases rather than all at once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Riverside pilots community health worker outreach in one neighborhood block first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Refines the approach based on early feedback before expanding citywide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Reduces the risk of large-scale failure from an untested design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deliberately cautious, evidence-gathering approach to scaling up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Implementation Challenges: Fidelity vs.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Programs must balance following the original evidence-based design (fidelity) against adapting to local realities (adaptation)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health workers find home visits work better on weekends, adapting the schedule while keeping core content preserves effectiveness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Fidelity without adaptation risks ignoring genuine, practical community constraints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Adaptation without fidelity risks losing the elements that made the original design evidence-based in the first place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genuine, ongoing tension requiring judgment throughout implementation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Types of Evaluation: Process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Asks: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was the program implemented as planned?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tracking how many home visits community health workers actually completed compared to the target number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Also tracks whether materials were distributed as intended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Reveals implementation problems, distinct from problems with the program design itself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first of three distinct evaluation types covered in this lecture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Types of Evaluation: Outcome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Asks: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did the program change the intended behaviors or immediate health measures?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did documented asthma action plans actually rise from 40% to 75% as targeted (Slide 14's SMART objective)?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Measures the specific, near-term objective directly, not the broader long-term goal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Second of three evaluation types; sits between process and impact evaluation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the baseline data established before the program launched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Types of Evaluation: Impact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Asks: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did the program achieve its broader, longer-term GOAL?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did Riverside's overall childhood asthma hospitalization rate actually decline over the following years?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Goes beyond the shorter-term behavioral objectives measured by outcome evaluation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final, most demanding evaluation type, requires the most time to observe genuine results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1's discussion of prevention's delayed, hard-to-measure rewards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Choosing Evaluation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Good indicators are specific, measurable, and directly tied to program objectives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Riverside's indicators: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ER visit counts, documented asthma action plan rates, self-reported missed school days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Concrete, trackable data, not vague impressions or anecdotes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Poor indicator selection undermines the entire evaluation process, regardless of program quality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be identified during planning (Slide 13), not invented after the fact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Common Evaluation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Pitfall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evaluating too soon, before long-term outcomes have had time to change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Pitfall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measuring only what's easy to count rather than what actually matters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Pitfall 3: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failing to establish baseline data before launch, making it impossible to measure genuine change afterward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All three pitfalls can make an effective program look like a failure, or a failing program look successful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Avoiding these requires the same discipline emphasized in Lecture 4's evaluation discussion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Sustainability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Programs should plan from the start how they continue beyond initial grant funding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training local residents as certified health workers ensures outreach continues with local government funding once external grants end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Lecture 9's workforce and financing discussion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Sustainability must be designed in from the beginning, not addressed only when funding is about to run out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program with excellent short-term results but no sustainability plan may simply disappear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Disseminating Results and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Successful programs share results, BOTH successes and failures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Publishing which strategies worked best lets other similarly affected towns adapt proven approaches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Prevents other communities from starting entirely from scratch on the same problem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Honest reporting of failures is genuinely as valuable to the field as reporting successes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Completes the full program cycle: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assessment, design, implementation, evaluation, dissemination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Bringing the Whole Course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capstone applied concepts from every previous lecture into one integrated plan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models and determinants (Lecture 2), prevention levels (Lecture 3), strategies (Lecture 4), behavior change (Lecture 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Infectious and chronic disease prevention (Lectures 6-7), lifespan/settings (Lecture 8), health systems/policy (Lecture 9)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Recurring characters across the course (Carlos, Amara, David, Priya, Mr. Thompson) all connect to Riverside's complete plan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Central course lesson: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and disease prevention require biology, psychology, environment, strategy, and policy together, never any single piece alone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planners balance community priorities against epidemiological data when they point to different problems?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it ethical to pilot in only one neighborhood, delaying help to other affected areas?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long should evaluators wait before concluding a program has failed?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funding ever be tied strictly to outcome targets, given how many factors are outside a program's control?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Lawrence Green &amp; Marshall Kreuter, "Health Program Planning: An Educational and Ecological Approach": foundational PRECEDE-PROCEED text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CDC, "Framework for Program Evaluation in Public Health"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"Monitoring and Evaluation of Health Systems Strengthening" guidance document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planners handle conflicts between community priorities and funder requirements?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rigid SMART objectives discourage adapting to unexpected community needs discovered mid-implementation?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Final course reflection: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which single concept from this entire ten-lecture course will be most useful in your own future career, and why?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Peter Rossi, Mark Lipsey, &amp; Howard Freeman, "Evaluation: A Systematic Approach"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W.K. Kellogg Foundation, "Logic Model Development Guide"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Recommended: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revisit Lecture 1's closing Riverside-style case study now that the full planning/evaluation framework is understood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Planning, Implementation, and Evaluation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