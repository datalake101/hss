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Understanding Health: Concepts, Models, and Determinants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Two-part lecture: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three models of health (first half), social determinants of health (second half)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Central question: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why do some people get sick and others stay well, even with similar genetics?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Three models build on each other in order of increasing complexity: biomedical, biopsychosocial, ecological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 ecological model (four nested layers) becomes the conceptual bridge into social determinants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Builds directly on Lecture 1's definitions of health and prevention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Compare the biomedical and biopsychosocial models and explain what the second adds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the ecological model's four nested layers of influence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Identify and describe major social determinants of health with concrete examples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Explain how determinants interact and compound rather than act independently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Apply these models together to analyze a real community health scenario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 able to explain why "zip code predicts health as strongly as genetic code"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Biomedical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Health = purely biology: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organs, cells, genes, germs, physical damage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If sick, there is a biological cause; fix the cause biologically, patient recovers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cough/fever → X-ray → pneumonia diagnosis → antibiotics → recovery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Genuinely powerful: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underlies antibiotics, surgery, vaccines, has saved enormous numbers of lives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Limitation: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treats the body like a machine, ignoring psychology and social context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mechanic fixes brakes without needing to know if the car's owner is stressed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Biopsychosocial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Developed by George Engel, 1977, adds psychological and social layers to biology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"Bio" = body, "psycho" = thoughts/feelings, "social" = relationships/circumstances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Mr. Thompson, type 2 diabetes, biology (insulin issue) + psychology (depression draining motivation) + social (financial stress limiting healthy food access)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Treating only medication dose while ignoring depression/stress leads to persistently poor control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Better approach: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refer to counseling, connect to food assistance, ask directly about stress at home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Medication is still necessary, this model adds layers, it doesn't replace biology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Ecological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Four nested layers of influence: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individual, interpersonal, community/organizational, societal/policy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Layers act like Russian nesting dolls, each larger layer surrounding the last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teen smoking risk shaped simultaneously by curiosity (individual), friends who smoke (interpersonal), weak school enforcement (community), lax advertising laws (policy)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program targeting only one layer (e.g., a single classroom lecture) fights three other active layers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Programs working across multiple layers at once have dramatically higher success rates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Why Models Matter in Practice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Choosing the wrong model leads to interventions that fail despite good intentions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child's asthma flare-up requires biomedical response (inhaler, urgent) first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Biopsychosocial follow-up: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the child under stress? How is the family coping?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Ecological/determinants follow-up: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there mold in the apartment? nearby industrial pollution?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Skilled practitioners move fluidly between all three models depending on the situation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Bridges directly into the social determinants discussion for the rest of the lecture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Social Determinants of Health: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Biggest factor shaping most people's health: NOT genetics, healthcare quality, or personal choice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Definition: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determinants = everyday conditions in which people are born, grow, live, work, and age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Includes income, education, housing, healthcare access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Key fact: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person's zip code can predict life expectancy almost as strongly as genetic code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Two people a few miles apart in the same city can differ by 10+ years in life expectancy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Seven determinants covered in the remainder of this lecture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Determinant: Income and Employment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Family A (stable job, paid leave, insurance) vs. Family B (part-time, no benefits, tight budget)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Both children develop the same ear infection on the same 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Family A: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sees doctor same day (paid leave), antibiotics, recovers in days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Family B: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delays care (missing a shift = lost pay), infection worsens, may need ER visit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disease, same city, same parental love, different outcome purely due to income/job stability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Illustrates that determinants shape available choices, not effort or knowledge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Determinant: 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Connects to "health literacy":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ability to understand and use health information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two new mothers given the same prescription with dosing instructions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Mother with strong education reads/understands label correctly, doses accurately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Mother without the same educational opportunity struggles with dense print, gives incorrect dose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NOT about intelligence, about unequal access to quality education across a lifetime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Education shapes both career opportunity and safe navigation of the healthcare system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Determinant: Housing and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older apartment with chipping lead paint → real risk of childhood lead poisoning → permanent developmental delays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Newer, well-maintained housing carries essentially none of this risk, neither family "chose" this outcome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"food desert": no full grocery store nearby, only gas stations/fast food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parent with strong nutrition knowledge still struggles to feed a family fresh food in a food desert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Knowledge doesn't disappear, it becomes far harder to act on given the physical environment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Determinant: Social Support and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Mr. Ellis, elderly, lives alone, few nearby friends/family, vs. Mr. Alvarez, socially connected, weekly community center visits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Isolated individuals show measurably higher risk of depression and physical decline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Some research compares chronic loneliness's health impact to smoking a moderate number of cigarettes daily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Human beings are deeply social; isolation takes a measurable physical toll, not just an emotional 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connection is a genuine determinant of health, not merely a "nice to have"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Revisited in Lecture 8 regarding older adulthood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Determinant: Access to Healthcare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person in a city with nearby low-cost clinics feels chest pain, seeks care same 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Person in a rural area, 2-hour drive to nearest clinic, decides to "wait and see" instead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Minor, treatable issue in the first case; genuine risk of emergency in the second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Access isn't just whether care exists, it's whether a person can realistically and practically reach it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Interacts directly with income (stable job = time/car to make that 2-hour drive)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Determinant: Race and Structural Discrimination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Requires examining history, not just present circumstances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Historical "redlining":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banks marked certain (often minority) neighborhoods as risky for loans, blocking wealth-building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Property values kept artificially low → cheaper for polluting industrial facilities to locate nearby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Result: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residents of historically redlined neighborhoods today show measurably higher asthma/respiratory rates, generations later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Current residents had nothing to do with the original policy, the exposure was built into the neighborhood's structure decades before they were born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Determinant: Early Childhood Development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Adverse Childhood Experiences (ACEs) research: studies neglect, abuse, household addiction/violence during childhood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Finding:  </a:t>
            </a:r>
            <a:r>
              <a:rPr sz="1800" b="0">
                <a:solidFill>
                  <a:srgbClr val="373D42"/>
                </a:solidFill>
                <a:latin typeface="Segoe UI"/>
              </a:rPr>
              <a:t>higher ACE counts predict measurably higher adult risk of heart disease, diabetes, depression, anxiety, even decades later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Mechanism: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chronic early stress can alter how a child's stress-response systems develop biologically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Connects biopsychosocial model (Slide 4):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social/psychological cause producing a genuinely biological consequence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Investing early (child welfare, family support) produces some of the largest long-term returns in public health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The Interaction of Determinants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Determinants rarely act alone, they stack and compound each other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single low-wage mother → unstable housing → chronic family stress → food desert access → no time for her own preventive care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Each factor reinforces the others simultaneously, not in isolation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single narrow intervention (e.g., a free nutrition class) fails to fix a multi-layered, compounding problem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Real solutions often need to address more than one determinant at the same time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Health Equity vs. Health Equality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Equality = identical resources for everyone; equity = resources matched to individual need for a similar outcome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identical $1,000 nutrition budget for a wealthy school and a food-desert school = equality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Equity: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food-desert school gets $3,000 plus a food bank partnership and transportation help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Analogy: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three people of different heights need different-sized boxes to see over the same fence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Modern public health increasingly emphasizes equity, since equal treatment doesn't always produce equal outcomes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Measuring Determinants: Data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Tools: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Area Deprivation Index, census data, community health needs assessments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overlaying a city's asthma hospitalization map with an industrial pollution map often reveals striking overlap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Turns an abstract determinant (pollution exposure) into something visible and location-specific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Guides where limited public health resources should actually be targeted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Data is essential for practicing genuine equity (Slide 16): you must know where the greatest need lies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Case: "Zip Code vs. Genetic Code"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Researchers find 10+ year life expectancy gaps between neighborhoods just a few miles apart, in the same city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gap cannot be explained by genetics, DNA doesn't vary that much over such short distances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Nearly entirely explained by income, housing, food access, pollution, healthcare access, and chronic stress compounding together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Implication: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improving population health requires addressing neighborhood conditions, not just individual medical treatment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One of the most important findings in modern public health research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Determinants and Chronic Disease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19/32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Two people with identical genetic diabetes risk can have very different outcomes based on environment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Person A:  </a:t>
            </a:r>
            <a:r>
              <a:rPr sz="1800" b="0">
                <a:solidFill>
                  <a:srgbClr val="373D42"/>
                </a:solidFill>
                <a:latin typeface="Segoe UI"/>
              </a:rPr>
              <a:t>walkable neighborhood, grocery access, stable insurance for regular check-ups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Person B: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food desert, no safe exercise space, no health insurance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Memorable phrase: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"genetics loads the gun, but environment and determinants often pull the trigger"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Directly foreshadows Lecture 7's noncommunicable disease prevention content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Determinants and Mental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Financial stress and unstable housing strongly linked to higher rates of depression and anxiety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parent facing eviction is significantly more likely to develop clinical anxiety, independent of biology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Effective mental health promotion sometimes requires housing/financial support, not just expanded therapy access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Treating anxiety symptoms alone while the eviction threat remains unresolved treats a symptom, not the root cause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Reinforces the biopsychosocial model's insight that social causes have real biological/psychological effects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Role of Policy in Shaping Determinants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Minimum wage laws affect income; zoning laws affect housing/food access; education funding affects school quality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city rezoning law allowing a grocery store into a food desert changes the nutrition determinant directly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individual resident needs to change behavior, the policy changes what's available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These decisions are made outside the health sector entirely (city planning, not health departments)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Preview of Lecture 4 (policy as strategy) and Lecture 9's "Health in All Policies" framework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Addressing Determinants: Community-Level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22/32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community land trust helps low-income families access stable, affordable housing long-term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Indirect results: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better school attendance for children, less parental chronic stress-related illness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housing intervention becomes a genuine health intervention, run by non-medical staff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Hallmark of effective, determinant-focused public health work happening in many cities today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Echoed again in Lecture 8's discussion of community organizations as a health setting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Addressing Determinants: Individual-Level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23/32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Systemic change matters most long-term, but individual-level support helps right now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 social worker connects a struggling family to food assistance and a free clinic today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Broader housing/zoning policy reform takes years; a family facing eviction cannot wait that long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Both levels are necessary simultaneously, not competing priorities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Immediate individual support + longer-term systemic advocacy work together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Common Pitfalls in Determinant-Focused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24/32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Pitfall 1:  </a:t>
            </a:r>
            <a:r>
              <a:rPr sz="1800" b="0">
                <a:solidFill>
                  <a:srgbClr val="373D42"/>
                </a:solidFill>
                <a:latin typeface="Segoe UI"/>
              </a:rPr>
              <a:t>"victim blaming": criticizing a parent's food choices without asking about real access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Pitfall 2: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assuming one intervention (a nutrition class) fixes a multi-layered, compounding problem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Pitfall 3: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designing programs without asking the affected community what they actually need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Avoiding these requires humility, genuine community partnership, and recognizing structural limits on individual effort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These pitfalls apply directly to nearly every case example covered earlier in this lecture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Global Perspective on Determinants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25/32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Determinants operate differently across countries at different resource levels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Lower-income countries: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clean water access often the primary determinant of infectious disease rates (see Lecture 6)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Higher-income countries: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food environment and chronic stress dominate as determinants of chronic disease (see Lecture 7)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Strategies effective in one context may not transfer directly to a different setting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Local context must always be understood before designing an intervention, revisited in Lecture 9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Applying the Models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26/32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Real-world practice blends biomedical, biopsychosocial, and ecological models simultaneously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Case recap:  </a:t>
            </a:r>
            <a:r>
              <a:rPr sz="1800" b="0">
                <a:solidFill>
                  <a:srgbClr val="373D42"/>
                </a:solidFill>
                <a:latin typeface="Segoe UI"/>
              </a:rPr>
              <a:t>child's asthma flare-up, medication (biomedical), stress/family coping (biopsychosocial), housing mold/air quality (ecological)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Skilled practitioners move fluidly between all three depending on the situation's needs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This integrated thinking is the same approach used for full program design in Lecture 10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No single model is sufficient alone for complex, real-world health problems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27/32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results from biological, psychological, and social factors interacting, not biology alone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Ecological model:  </a:t>
            </a:r>
            <a:r>
              <a:rPr sz="1800" b="0">
                <a:solidFill>
                  <a:srgbClr val="373D42"/>
                </a:solidFill>
                <a:latin typeface="Segoe UI"/>
              </a:rPr>
              <a:t>individual → interpersonal → community → policy, all influencing one behavior at once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Social determinants (income, education, housing, social support, healthcare access, discrimination, early childhood) often predict health as strongly as genetics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Determinants stack and compound rather than acting independently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Health equity (matching resources to need) differs meaningfully from health equality (identical treatment)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Zip code can predict health almost as strongly as genetic code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Case Recap: Two Families, One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28/32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Recall Family A (stable/insured) vs. Family B (uninsured/strained) from Slide 8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Same disease, same city, different outcome due entirely to income and job stability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Discussion task: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 one realistic, local intervention that could have changed Family B's outcome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Example solutions:  </a:t>
            </a:r>
            <a:r>
              <a:rPr sz="1800" b="0">
                <a:solidFill>
                  <a:srgbClr val="373D42"/>
                </a:solidFill>
                <a:latin typeface="Segoe UI"/>
              </a:rPr>
              <a:t>nurse hotline, evening walk-in clinic hours, school-based early screening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Good solutions address the actual determinant (income/job stability), not just "better choices"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29/32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should limited public health funding split between medical research and social support programs?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a wealthy country still have significant, determinant-driven health disparities within its own borders?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Is it truly possible to separate "personal choice" from the determinants shaping those choices?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might climate change become an entirely new social determinant of health in coming decades?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Designed for open discussion, not single correct answers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30/32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1">
                <a:solidFill>
                  <a:srgbClr val="952210"/>
                </a:solidFill>
                <a:latin typeface="Segoe UI"/>
              </a:rPr>
              <a:t>Michael Marmot, "The Health Gap" (2015):  </a:t>
            </a:r>
            <a:r>
              <a:rPr sz="1800" b="0">
                <a:solidFill>
                  <a:srgbClr val="373D42"/>
                </a:solidFill>
                <a:latin typeface="Segoe UI"/>
              </a:rPr>
              <a:t>accessible exploration of health inequality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George Engel, "The Need for a New Medical Model," Science (1977): biopsychosocial model's origin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fact sheets on social determinants of health (freely available online)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 resource page on Adverse Childhood Experiences (ACEs)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Robert Wood Johnson Foundation's County Health Rankings tool (free county-level health data)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Extended Tricky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26364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spc="150">
                <a:solidFill>
                  <a:srgbClr val="F0D5D2"/>
                </a:solidFill>
                <a:latin typeface="Segoe UI"/>
              </a:rPr>
              <a:t>31/32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Should health insurance cover social determinants (e.g., housing support), not just medical treatment?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How can researchers study health disparities without further stigmatizing the communities being studied?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Can technology (telehealth, food delivery apps) close determinant-driven health gaps, or does it widen them for those without reliable access?</a:t>
            </a:r>
          </a:p>
        </p:txBody>
      </p:sp>
      <p:pic>
        <p:nvPicPr>
          <p:cNvPr id="6" name="Picture 5" descr="uOttawa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06261" y="6080760"/>
            <a:ext cx="598058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9522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731520"/>
            <a:ext cx="2926080" cy="5303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</a:pPr>
            <a:r>
              <a:rPr sz="2800" b="1">
                <a:solidFill>
                  <a:srgbClr val="FFFFFF"/>
                </a:solidFill>
                <a:latin typeface="Lovelo"/>
              </a:rPr>
              <a:t>Further Reading (Extended)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0" y="658368"/>
            <a:ext cx="7315200" cy="5440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Paula Braveman, "What Are Health Disparities and Health Equity?" (2014): clarifies the equity/equality distinction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Richard Wilkinson &amp; Kate Pickett, "The Spirit Level" (2009): inequality and population health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WHO Commission on Social Determinants of Health, "Closing the Gap in a Generation" (2008)</a:t>
            </a:r>
          </a:p>
          <a:p>
            <a:pPr marL="347472" indent="-347472">
              <a:lnSpc>
                <a:spcPct val="114000"/>
              </a:lnSpc>
              <a:spcAft>
                <a:spcPts val="1044"/>
              </a:spcAft>
              <a:buNone/>
            </a:pPr>
            <a:r>
              <a:rPr sz="1800" b="0">
                <a:solidFill>
                  <a:srgbClr val="373D42"/>
                </a:solidFill>
                <a:latin typeface="Segoe UI"/>
              </a:rPr>
              <a:t>🌱  </a:t>
            </a:r>
            <a:r>
              <a:rPr sz="1800" b="0">
                <a:solidFill>
                  <a:srgbClr val="373D42"/>
                </a:solidFill>
                <a:latin typeface="Segoe UI"/>
              </a:rPr>
              <a:t>CDC's Social Vulnerability Index, map-based determinant exploration tool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Understanding Health: Concepts, Models, and Determinants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