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Introduction to Health Promotion and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Foundations of Public Health Practice, Lecture 1 of 10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building the vocabulary and historical foundation for the whole course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Two central concepts introduced today: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prevention and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Course spans models, determinants, prevention levels, strategies, behavior change, infectious and chronic disease, lifespan/settings, health systems, and program evaluation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Recurring characters (Carlos, Amara, David) will reappear across later lectures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 both the "what" and the "why" of public health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Define health, health promotion, and disease prevention in plain language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Trace the historical evolution of public health thinking from 1796 to 1986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Distinguish disease prevention from health promotion using concrete examples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why the rise of chronic disease reshaped modern public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Identify at least six stakeholder groups responsible for community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 why prevention's benefits are often invisible, and why that matters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What Is Health? (WHO Definition)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Common myth: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= absence of diagnosed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WHO definition: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"a state of complete physical, mental, and social well-being," not merely the absence of disease or infirmity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Carlos, 45, no diagnosis, but smokes a pack/day, sleeps 4-5 hrs, eats fast food daily, chronic financial stress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Carlos looks "healthy" by the narrow definition but is on a path toward heart disease, diabetes, or lung cancer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is a positive state, not just the absence of a negative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Three Dimensions of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Physical health: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organs, heart, lungs, and muscles are functioning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Mental health: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ability to cope with stress, feel calm, function day to 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Social health: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relationships, sense of belonging, support system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Amara, new mother, physically fit but isolated after moving cities, ~10 min/day of adult conversation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Amara is physically healthy but socially and mentally struggling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All three dimensions must be reasonably balanced for true health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Disease Prevention: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Targeted action against one specific disease, injury, or condition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Has a clear, identifiable target (a virus, a cancer type, an injury)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flu shot targets influenza only, not general wellness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dental sealant targets cavities in one tooth only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narrow scope makes it easy to measure (did the disease occur, yes/no?)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Contrast this narrow, targeted approach with health promotion on the next slide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Promotion: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Broader process of building overall capacity for wellness across a population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aimed at any single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city bike lanes/sidewalks indirectly reduce obesity, diabetes, heart disease, and depression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with fresh fruit + normalized mental health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Changes environments and empowers people rather than targeting one threat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Wide in scope; harder to measure directly than disease prevention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Comparing the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Memory rule: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stops something bad; promotion builds something good so bad things become less likely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Garden 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= pulling one weed; promotion = enriching the whole soil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Rich soil (promotion) makes it harder for any weed (disease) to take root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Best real-world programs combine both: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e.g., vaccination campaign + community education + improved clinic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Quick classification test: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tetanus shot = prevention; new city trees = promotion; handwashing rule = mostly prevention; free gym membership = mostly promotion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History: Early Public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Year: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1854, London cholera outbreak, in the era before germ theory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Leading theory at the time: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"miasma" (bad air/smells) caused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Dr. John Snow mapped cholera cases and traced them to the Broad Street water pump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removed the pump handle; new cases dropped sharply afterward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Achieved without understanding the actual bacterial cause (germ theory came later)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Considered one of the first true population-level public health interventions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Rise of Vaccination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1796: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Edward Jenner observed dairy workers who caught mild cowpox rarely got deadly smallpox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Jenner tested deliberate cowpox exposure, created the first vaccine (name derives from Latin "vacca," cow)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1980: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declared smallpox eradicated worldwide, the only human disease ever fully eliminated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Achieved via a coordinated global vaccination campaign using "ring vaccination" around new cases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secure lab samples remain for research; disease no longer exists in nature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Demonstrates primary prevention succeeding at the largest possible scale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Ottawa Charter (1986)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Published by WHO in 1986; first formal framework defining modern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Five action areas: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(1) build healthy public policy, (2) create supportive environments, (3) strengthen community action, (4) develop personal skills, (5) reorient health services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Still the foundation for nearly all modern health promotion programs, ~40 years later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Will be revisited in detail in Lecture 4 (strategies)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Timeline recap: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1854 (Snow) → 1796 (Jenner) → 1980 (smallpox eradicated) → 1986 (Ottawa Charter)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From Infectious to Chronic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~100 years ago: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infections (TB, pneumonia) were the leading causes of death worldwide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Today: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chronic/noncommunicable diseases (heart disease, cancer, diabetes, lung disease) lead in most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Drivers of the shift: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improved sanitation, vaccines, and 20th-century antibiotics reduced infection deaths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 people lived longer, lifestyle factors (diet, activity, smoking, stress) became the new dominant threats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shift is called the "epidemiologic transition"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Explains why this course devotes separate lectures (6 and 7) to infectious vs. chronic disease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Chronic Disease Changed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Infections announce themselves quickly (fever within 1-2 days); chronic disease is often "silent"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blood pressure can exist for years with zero symptoms until it causes a stroke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disease requires ongoing, decades-long management, not a single intervention like a vaccine shot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Prevention's reward is invisible: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20 years of healthy habits produces "nothing happening," not a visible trophy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invisibility makes sustained motivation and funding genuinely difficult, a recurring course theme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Easier to fund visible treatment than invisible prevention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Levels of Prevention: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Three levels: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(before disease starts), secondary (early detection), tertiary (managing existing disease)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Quick 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vaccine = primary; mammogram = secondary; cardiac rehab = tertiary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 preview: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David, 50, at 40, diet/exercise counseling (primary); at 45, routine screening caught silent high cholesterol (secondary); at 48, mild heart attack led to cardiac rehab (tertiary)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three-level framework covered in depth in Lecture 3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prevention as a continuous, adapting process across a life, not a one-time choice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Social Determinants: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shaped heavily by income, education, housing, and environment, not just personal choice or medical care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claim: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person's zip code can predict life expectancy almost as strongly as genetic code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people a few miles apart in the same city can differ by 10+ years in life expectancy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topic covered in Lecture 2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Explains why health promotion must address social/economic systems, not only individual behavior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Key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Most people default to "doctors" when asked who's responsible for community health, incomplete answer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Six groups share responsibility: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individuals, families, schools, employers, healthcare providers, government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single group alone achieves population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child's asthma control depends on the child (inhaler use), family (smoke-free home), school (nurse support), and government (air quality regulation)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of the six groups gets its own dedicated discussion in the following slides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Individual's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Daily choices: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diet, activity, sleep, substance use, and whether to seek care when something feels off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Small choices compound enormously across a lifetime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walk after dinner instead of the couch; finally scheduling an overdue check-up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 choice never happens in a vacuum, it operates within income and environmental constraints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personal choice matters, but is not the whole story of population health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Family's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Families shape lifelong habits through modeling, not lecturing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children who cook and grocery shop with parents absorb food habits without ever being taught directly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family that bikes together on weekends normalizes physical activity for children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observational learning mechanism is formalized later in Lecture 5 (Social Cognitive Theory)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Family influence is often the single strongest early determinant of a child's health trajectory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Healthcare Providers'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Providers deliver both treatment and prevention within the same visit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doctor who asks about smoking, stress, and home life during a routine check-up, not just blood pressure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called "prevention-oriented medicine": using an existing visit as a broader opportunity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Combines secondary prevention (screening) with health promotion (counseling) in one encounter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Routine visits function as a critical, repeatable touchpoint for population health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Government's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and maintains infrastructure that makes prevention possible at massive scale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water treatment, restaurant food safety inspections, childhood immunization funding, smoke-free workplace laws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individual willpower can protect a person from contaminated municipal water, only regulation can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Government policy often produces bigger population health gains than any single clinical visit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Reaches an entire population automatically, without requiring individual awareness or effort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Measuring Success: Key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Public health tracks: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life expectancy, infant mortality rate, disease incidence/prevalence, risk factor rates (smoking, obesity)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declining infant mortality over decades reflects combined effects of prenatal care, sanitation, and vaccination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Indicators tell researchers whether prevention/promotion efforts are working at a population level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Measurement and evaluation methods are covered in full depth in Lecture 10 (capstone)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numbers are how public health "keeps score" beyond any single patient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Prevention Is Often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Unlike a broken bone (clear injury → cast → visible healing), prevention has no visible reward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20 years of healthy habits resulting in "no heart attack" produces zero visible trophy or moment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invisibility makes sustained individual motivation and sustained government funding genuinely difficult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Real, serious challenge acknowledged across this entire field, not just a minor inconvenience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tension recurs throughout the course, especially regarding funding decisions (see Lecture 9)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Seatbelt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Before mandatory seatbelt laws, traffic fatality rates (per mile driven) were far higher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Laws were combined with public education campaigns (TV/radio ads, memorable slogans)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seatbelt usage rose sharply; fatality rates dropped significantly afterward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Combined three tools: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(the belt) + policy (the law) + health promotion (education)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Lesson: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combining strategies produced a bigger result than any single tool alone would have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Tobacco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Multi-decade, multi-strategy programs combining: higher cigarette taxes, graphic warning labels, advertising restrictions, smoke-free public spaces, education campaigns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Countries adopting this comprehensive approach saw substantial declines in smoking rates over 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Lung cancer and heart disease rates eventually declined too, after a significant time lag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Same core lesson as seatbelt laws: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combined, layered strategies beat any single strategy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strategy framework covered in Lecture 4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Misconception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"Health = not being sick": false (see Carlos, Slide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Misconception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"Prevention is only personal responsibility": false; six stakeholder groups share responsibility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Misconception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"Health promotion and disease prevention are the same thing": false, though related (garden analogy)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three misconceptions are a common, often unconscious source of confusion in public conversation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Correcting them is foundational for understanding the rest of this course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Burden of Disease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Chronic/noncommunicable diseases account for the majority of deaths worldwide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Cardiovascular disease (heart disease + stroke) causes the single largest share of any category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 disease still causes significant deaths in lower-income regions with weaker sanitation/vaccination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Modern public health workers need skill in both infectious AND chronic disease control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More complex dual challenge than public health faced a century ago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This Course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Gives practical tools to reduce suffering before it starts, catch problems early, and support people already sick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Relevant beyond medicine: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nurses, teachers, city planners, policymakers, business owners, and informed parents all use these concepts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ideas will shape real decisions across your entire life and career, whether or not you notice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 goal: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 a practical toolkit, not just abstract theory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Course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concepts/models and social determinants in depth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primary, secondary, tertiary prevention (David's full story)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4: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5: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behavior change theory (psychology of habit change)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Lectures 6-7: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 disease and chronic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8: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lifespan and settings-based approaches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9: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health systems and policy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10: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program design and evaluation capstone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= physical + mental + social well-being, not just absence of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Disease prevention targets one threat; health promotion builds broad well-being; they work best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Public health has deep roots: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Snow's 1854 map through the 1986 Ottawa Charter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Infectious-to-chronic shift reshaped the entire field over the last century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Six stakeholder groups share responsibility; no single group succeeds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is invisible but proven effective (seatbelts, tobacco control) when strategies are combined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someone be "healthy" while managing a chronic illness like diabetes? Defend your answer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it fair to hold individuals responsible for outcomes shaped by poverty or environment?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is a successful prevention program harder to fund politically than a successful treatment program?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you identify a modern equivalent of John Snow's contaminated water pump, a hidden environmental cause of illness today?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questions have no single correct answer; they're designed for discussion and reasoning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"Ottawa Charter for Health Promotion" (1986): original source document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CDC, "A History of Public Health" (online archive)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Steven Johnson, "The Ghost Map" (2006):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full narrative of the 1854 cholera outbreak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"Noncommunicable Diseases Fact Sheet" (current global chronic disease statistics)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Global Health Observatory, public data portal for country-level health statistics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a country cannot fund both universal vaccination and universal cancer screening, how should it choose?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health campaigns ever restrict personal freedom (e.g., a soda tax) to improve population outcomes? Where is the ethical line?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might climate change create entirely new categories of prevention challenge not addressed by traditional public health history?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Geoffrey Rose, "The Strategy of Preventive Medicine" (1992): classic population vs. individual prevention 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Michael Marmot, "The Health Gap" (2015):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accessible exploration of health inequality (revisited in 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Global Report tracking progress since the 1986 Ottawa Charter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UCLA Department of Epidemiology, digitized original John Snow cholera maps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Health Promotion and Disease Prevention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