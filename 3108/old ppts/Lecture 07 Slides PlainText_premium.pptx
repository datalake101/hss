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Noncommunicable Disease Prevention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Chronic diseases cause the majority of deaths worldwide (established in Lecture 1)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Focus:  </a:t>
            </a:r>
            <a:r>
              <a:rPr sz="1800" b="0">
                <a:solidFill>
                  <a:srgbClr val="373D42"/>
                </a:solidFill>
                <a:latin typeface="Segoe UI"/>
              </a:rPr>
              <a:t>the major risk factors behind these conditions and proven prevention strategies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Revisits David's story from Lecture 3 one final time, from a risk-factor lens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Genuinely synthesizes nearly the entire course: prevention levels, strategies, behavior change, and determinants all converge here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Chronic disease develops slowly, shaped by biology, behavior, environment, and policy simultaneously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2/32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Identify the four major modifiable risk factors driving noncommunicable disease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Describe prevention strategies for tobacco, poor nutrition, physical inactivity, and harmful alcohol use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Explain the role of cancer screening (secondary prevention, Lecture 3)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Discuss chronic stress as an emerging risk factor (connects to Lecture 2's determinants)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Evaluate real-world programs including Finland's North Karelia Project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What Are Noncommunicable Diseases?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3/32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NCDs are not spread person-to-person; typically develop slowly over years/decades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Four main categories:  </a:t>
            </a:r>
            <a:r>
              <a:rPr sz="1800" b="0">
                <a:solidFill>
                  <a:srgbClr val="373D42"/>
                </a:solidFill>
                <a:latin typeface="Segoe UI"/>
              </a:rPr>
              <a:t>cardiovascular disease, cancer, chronic respiratory disease, diabetes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Driven by long-term lifestyle, environmental, and genetic factors, not germs (contrast with Lecture 6)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No "chain reaction" to interrupt the way infectious disease has, each person's risk accumulates somewhat independently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Timescale difference: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infectious outbreaks unfold in days/weeks; NCDs develop over years/decades, requiring equally sustained prevention effort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The Four Major Modifiable Risk Factors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4/32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Tobacco use, unhealthy diet, physical inactivity, harmful alcohol use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Addressing these four could prevent a substantial share of global cardiovascular disease, cancer, diabetes, and respiratory disease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"Modifiable" = shaped by behavior/environment/policy, unlike genetics or age which cannot be changed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Genuinely have the most developed prevention toolkit of any risk factor category, due to decades of sustained research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Today's lecture returns to nearly every earlier lecture in explaining how to address each factor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Risk Factor 1: Tobacco 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5/32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Single largest preventable cause of death worldwide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Contributes to lung cancer, heart disease, stroke, chronic lung disease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Quitting at age 40 significantly reduces risk, with measurable benefit within just a few years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Connects to Priya's Stages of Change journey (Lecture 5) and Lecture 1's seatbelt/tobacco combined-strategy success stories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"Never starting" remains the single most effective intervention (pure primary prevention, Lecture 3)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Tobacco Control Strategies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6/32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Cigarette taxation, warning labels, advertising restrictions, smoke-free spaces, accessible cessation support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Countries combining multiple strategies simultaneously see larger, faster smoking rate declines than single-strategy countries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Taxation/advertising restrictions = policy change (Lecture 4); labels = mass media/education; cessation support = Stages of Change action-stage support (Lecture 5)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Genuinely demonstrates how multiple course frameworks converge around one real-world problem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Many countries sequence policies:  </a:t>
            </a:r>
            <a:r>
              <a:rPr sz="1800" b="0">
                <a:solidFill>
                  <a:srgbClr val="373D42"/>
                </a:solidFill>
                <a:latin typeface="Segoe UI"/>
              </a:rPr>
              <a:t>labels/ad restrictions first (less resistance), taxation/bans later (after public opinion shifts)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Risk Factor 2: Unhealthy Diet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7/32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Diets high in processed food, added sugar, sodium, unhealthy fats contribute to obesity, heart disease, type 2 diabetes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Shifting to home-cooked meals with vegetables/whole grains/lean protein improves outcomes within months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Connects to Mr. Thompson (Lecture 2): diet cannot be separated from income/food access determinants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Global dietary shift toward processed food over recent decades has tracked closely with rising chronic disease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Diet-related NCD risk is inseparable from perceived barriers (Lecture 5's Health Belief Model)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Nutrition Prevention Strategies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8/32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Nutrition labeling requirements, sugar-sweetened beverage taxes, marketing restrictions to children, improved fresh produce access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Front-of-package warning labels (used in some countries) require less nutrition literacy than standard nutrition facts panels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Spans nearly every Lecture 4 strategy category: policy (taxes/labeling), environment (grocery access), education (nutrition literacy)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A nutrition class alone, without addressing food access, is likely to fall short (Mr. Thompson's exact situation)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Combined strategies again outperform any single approach used alone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Risk Factor 3: Physical Inactivity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9/32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Sedentary lifestyles increase risk of heart disease, diabetes, certain cancers, depression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30 min of brisk walking, 5 days/week, lowers risk and improves sleep/mood within weeks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Connects to Lecture 1's three dimensions of health (physical, mental, social all touched by activity)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Modern jobs/commutes/leisure have made inactivity the structural default for many people, not an active daily choice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Directly echoes Carlos's story (Lecture 1) and the bike lane/walking group examples from Lecture 4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Physical Activity Prevention Strategies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10/32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Walkable/bike-friendly urban design, workplace movement breaks, school PE requirements, community recreation programs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Recommended target:  </a:t>
            </a:r>
            <a:r>
              <a:rPr sz="1800" b="0">
                <a:solidFill>
                  <a:srgbClr val="373D42"/>
                </a:solidFill>
                <a:latin typeface="Segoe UI"/>
              </a:rPr>
              <a:t>~150 minutes/week moderate activity (~30 min most days)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Doesn't require intense exercise, walking, gardening, stairs all count toward the target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Community recreation programs (like a walking group) also address social isolation simultaneously (Lecture 2)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Reflects how today's lecture continually draws on nearly every prior lecture's material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Risk Factor 4: Harmful Alcohol 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11/32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Increases risk of liver disease, several cancers, high blood pressure, injury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Campaigns clarifying "one standard drink" help people moderate accurately (many underestimate home pours)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Connects to Lecture 5's subjective norms discussion (misperception of "normal" drinking amounts)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Broader harm profile than the other three factors: also contributes to injury and social harm, not just chronic disease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Prevention strategies therefore combine health-focused AND public-safety-focused approaches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Alcohol Prevention Strategies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12/32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Minimum pricing policies, restricted sales hours/locations, taxation, primary care screening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A simple standardized screening question during a routine visit catches risky drinking early (secondary prevention, Lecture 3)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Minimum pricing targets cheapest/highest-alcohol products specifically; restricted hours change availability, not price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Each tool targets a genuinely distinct mechanism (price, access, or early detection)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Reflects Lecture 4's lesson that different strategies compensate for each other's specific weaknesses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Cardiovascular Disease: The Leading Global Killer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13/32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Heart attacks and strokes remain the world's leading cause of death (Lecture 1's global burden discussion)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Prevention combines all four modifiable risk factors PLUS secondary prevention (blood pressure/cholesterol screening, Lecture 3)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The circulatory system has no built-in pain receptors alerting to gradually rising pressure or plaque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This silent development makes regular screening especially critical for this disease category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Risk factors interact multiplicatively when combined (smoking + high blood pressure + diabetes together is worse than adding each separately)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Case Recap: David's Heart Disease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14/32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Full recap:  </a:t>
            </a:r>
            <a:r>
              <a:rPr sz="1800" b="0">
                <a:solidFill>
                  <a:srgbClr val="373D42"/>
                </a:solidFill>
                <a:latin typeface="Segoe UI"/>
              </a:rPr>
              <a:t>primary prevention (diet/exercise counseling, age 40), secondary prevention (cholesterol screening, age 45), tertiary prevention (cardiac rehab after heart attack, age 48)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Primary prevention efforts specifically targeted diet and inactivity, two of today's four risk factors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Under LESS favorable circumstances (no insurance, inflexible employer, unaffordable medications), David's outcome would likely have been considerably worse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Shows how prevention success reflects both personal effort AND supportive circumstances (Lecture 2's determinants)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Occurred entirely within "middle adulthood" (formally covered in Lecture 8)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Cancer: Prevention Through Multiple Pathways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15/32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~1/3 of common cancers linked to tobacco, poor diet, inactivity, excess body weight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Reducing tobacco alone lowers lung, throat, and several other cancer risks simultaneously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The four risk factors overlap across multiple diseases, not one-to-one, a single tobacco program reduces heart disease, stroke, AND lung disease risk together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Remaining ~2/3 of cancers:  </a:t>
            </a:r>
            <a:r>
              <a:rPr sz="1800" b="0">
                <a:solidFill>
                  <a:srgbClr val="373D42"/>
                </a:solidFill>
                <a:latin typeface="Segoe UI"/>
              </a:rPr>
              <a:t>genetic predisposition, infections (like HPV), or environmental/occupational exposures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Requires a genuinely broad toolkit combining lifestyle change, vaccination, screening, and environmental regulation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Cancer Screening Programs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16/32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Mammograms, Pap smears, colonoscopies catch cancer early or prevent it entirely (removing precancerous growths, Lecture 3)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Organized national programs sending reminder letters increase participation vs. relying on individual initiative alone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Reminder letters function as a "cue to action" (Lecture 5's Health Belief Model)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Screening age guidelines balance catching genuine disease early against causing unnecessary anxiety/procedures (overdiagnosis, Lecture 3)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Younger, lower-risk populations screened too early would produce more false positives than genuine benefit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HPV Vaccination and Cancer Prevention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17/32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HPV vaccine prevents infection responsible for most cervical cancers and several other cancer types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Countries with high adolescent HPV coverage show substantial declines in cervical cancer precursor rates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Rare, clean example of primary prevention directly preventing a cancer (rather than only reducing risk factors indirectly)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Recommended during early adolescence, before likely exposure, matches the primary prevention timing principle (Lecture 3, Lecture 6)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An even cleaner example than colonoscopy's primary/secondary blend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Diabetes: A Rapidly Growing Global Burden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18/32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Type 2 diabetes rates have risen sharply worldwide, closely linked to obesity, diet, inactivity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Structured prevention programs (nutrition + activity + modest weight loss) significantly reduce progression from prediabetes to full diabetes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Rates have more than doubled within a single generation in some regions, reflects environment/behavior shift, not genetics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Connects directly to Mr. Thompson (Lecture 2) and diabetes self-management education (Lecture 4)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Requires addressing diet AND inactivity simultaneously, not as separate issues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Chronic Respiratory Disease Prevention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19/32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COPD driven primarily by tobacco smoke and, in some regions, indoor air pollution from cooking fuels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Cleaner-burning cookstove programs reduce indoor air pollution exposure, especially benefiting women and children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Outdoor pollution (vehicle emissions, industry) also contributes, connecting to Lecture 2's redlining/pollution example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Requires addressing environmental/housing conditions directly, not just individual smoking cessation alone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Historically disadvantaged neighborhoods often face elevated pollution AND elevated respiratory disease burden together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Obesity as a Cross-Cutting Risk Factor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20/32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Increases risk across nearly all major NCDs: heart disease, diabetes, several cancers, joint disease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Community-wide childhood programs combining nutrition policy, activity requirements, and family education show modest but meaningful reductions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Sits at the intersection of diet and inactivity, showing risk factors compound rather than act separately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Requires the most genuinely comprehensive, multi-strategy approach of any single risk factor discussed today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Connects to the childhood obesity group activity from Lecture 3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Chronic Stress: An Emerging Risk Factor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21/32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Chronic, unmanaged stress increasingly linked to high blood pressure, weakened immunity, heart disease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Stress-reducing habits (exercise, meditation, therapy, protected rest time) are genuine disease prevention, even though they don't look medical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Directly echoes Carlos (Lecture 1) and Mr. Thompson's depression (Lecture 2)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Mechanism:  </a:t>
            </a:r>
            <a:r>
              <a:rPr sz="1800" b="0">
                <a:solidFill>
                  <a:srgbClr val="373D42"/>
                </a:solidFill>
                <a:latin typeface="Segoe UI"/>
              </a:rPr>
              <a:t>chronic stress hormone activation contributes to elevated blood pressure, inflammation, and disrupted sleep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Connects to Lecture 2's Adverse Childhood Experiences research, roots can trace back to childhood circumstances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Workplace Stress and Chronic Disease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22/32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High-stress, low-control work environments are associated with higher cardiovascular risk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Workplace policies increasing autonomy and mental health support show modest cardiovascular risk marker improvements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Connects to Lecture 4's paid sick leave example: policy decisions function as genuine disease prevention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"Demand-control model": stress is most damaging when high demands combine with low control over the work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Increasing autonomy, even without reducing demands, can meaningfully improve health outcomes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Sleep as an Overlooked Prevention Factor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23/32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Chronic sleep deprivation increasingly linked to obesity, diabetes, cardiovascular disease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Shift workers with irregular sleep show measurably higher metabolic disease rates than daytime workers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Directly connects to Carlos (Lecture 1), sleeping 4-5 hrs/night due to financial worry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Often overlooked compared to diet/exercise since it lacks a dedicated professional field and is easily sacrificed under time pressure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Growing research base suggests sleep deserves equal standing alongside the four traditional risk factors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Case: Finland's North Karelia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24/32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Started 1970s; combined nutrition change, tobacco control, and cholesterol screening in a high-cardiovascular-mortality region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Result:  </a:t>
            </a:r>
            <a:r>
              <a:rPr sz="1800" b="0">
                <a:solidFill>
                  <a:srgbClr val="373D42"/>
                </a:solidFill>
                <a:latin typeface="Segoe UI"/>
              </a:rPr>
              <a:t>dramatic declines in cardiovascular mortality over subsequent decades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Locally initiated, driven by genuine community concern over the region's known high mortality rates, not imposed externally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Maps onto nearly the entire course: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nutrition (risk factor 2), tobacco (risk factor 1), screening (Lecture 3), community mobilization (Lecture 4)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Real-world proof of concept for sustained, multi-decade, multi-strategy prevention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Case Recap: Comprehensive Tobacco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25/32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Taxation + warning labels + advertising bans + smoke-free spaces + education campaigns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Substantial smoking rate declines over decades; lung cancer/heart disease declines followed years later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Both North Karelia and tobacco control required sustained multi-decade effort AND multiple combined strategies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Confirms this is a genuinely repeatable pattern, not an isolated success story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Echoes Lecture 1's discussion of prevention's invisible, delayed rewards requiring patience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Barriers to Noncommunicable Disease Prevention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26/32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Powerful industry marketing, political resistance to regulation, high cost of healthy food/recreation, invisible/delayed rewards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Barriers compound:  </a:t>
            </a:r>
            <a:r>
              <a:rPr sz="1800" b="0">
                <a:solidFill>
                  <a:srgbClr val="373D42"/>
                </a:solidFill>
                <a:latin typeface="Segoe UI"/>
              </a:rPr>
              <a:t>political resistance is often actively funded by the very industry marketing being challenged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Lower-income communities face a harder combination of these barriers simultaneously (Lecture 2's equity discussion)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None of these barriers are new information, this slide names them explicitly, together, as a collective obstacle set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Connects directly back to Lecture 1's discussion of prevention's political vulnerability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The Role of Industry: Commercial Determinants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27/32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"Commercial determinants of health": corporate practices (marketing, lobbying, product design) shaping population risk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Extends Lecture 2's social determinants framework into deliberate commercial decisions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Example: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sustained lobbying has historically slowed tobacco and sugar-sweetened beverage regulation for years, sometimes decades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Some processed foods are deliberately engineered for "hyper-palatability," designed to override natural fullness cues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A genuinely active, evolving area of public health research and debate, revisited in Lecture 9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28/32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Four modifiable risk factors:  </a:t>
            </a:r>
            <a:r>
              <a:rPr sz="1800" b="0">
                <a:solidFill>
                  <a:srgbClr val="373D42"/>
                </a:solidFill>
                <a:latin typeface="Segoe UI"/>
              </a:rPr>
              <a:t>tobacco, diet, inactivity, alcohol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Prevention combines policy, screening, HPV vaccination, and individual behavior support drawing on the whole course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Chronic stress and poor sleep are emerging risk factors deserving more attention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North Karelia and tobacco control show sustained, multi-strategy programs achieve dramatic, lasting results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Barriers include industry marketing, political resistance, cost, and prevention's invisible/delayed rewards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Tricky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29/32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Should governments regulate food marketing to children as aggressively as tobacco marketing?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How should prevention address genetic risk factors that cannot be modified through lifestyle alone?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Is it fair to tax sugary drinks/alcohol given the disproportionate impact on lower-income consumers?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Could workplace wellness programs cross an ethical line pressuring employees on personal health choices?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Further Reading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30/32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WHO, "Noncommunicable Diseases Progress Monitor" (latest edition)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Pekka Puska, "The North Karelia Project:  </a:t>
            </a:r>
            <a:r>
              <a:rPr sz="1800" b="0">
                <a:solidFill>
                  <a:srgbClr val="373D42"/>
                </a:solidFill>
                <a:latin typeface="Segoe UI"/>
              </a:rPr>
              <a:t>From North Karelia to National Action"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American Cancer Society, "Cancer Prevention and Early Detection Facts and Figures"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WHO "Best Buys" report, most cost-effective NCD prevention interventions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Extended Tricky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31/32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Could "commercial determinants of health" become as central as social determinants in public health discussion?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How should low-resource health systems prioritize infectious vs. rising noncommunicable disease burden with limited budgets?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Should health insurance premiums ever be adjusted based on lifestyle risk factors like smoking or inactivity?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Further Reading (Extended)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Rob Moodie et al., "Profits and Pandemics," The Lancet (2013): origin of the commercial determinants concept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Michael Kelly et al., "Health at Every Turn," WHO Europe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Global Burden of Disease study, current global risk factor ranking data visualizations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Noncommunicable Disease Prevention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