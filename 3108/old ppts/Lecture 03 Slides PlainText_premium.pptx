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Levels of Prevention: Primary, Secondary, and Tertiary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Three-part structure: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primary, secondary, tertiary prevention, each with multiple real examples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David's full story (introduced briefly in Lecture 1) walked through in complete detail today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Second half covers gray areas, an emerging fourth category, and real policy applications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practical, frequently applied frameworks in all of public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classify any real health action into the correct level and explain why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Define primary, secondary, and tertiary prevention precisely, in your own words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Correctly classify real-world interventions into the appropriate level, with reasoning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Understand why classification sometimes genuinely overlaps, even among trained experts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Apply the framework to design a basic three-level prevention plan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Understand "primordial prevention" as an emerging fourth category, earlier than primary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Primary Prevention: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Action taken BEFORE disease or injury happens, so it never gets the chance to start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"Primary" = first line of defense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Castle 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wall built before the enemy arrives, so the battle never happens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Generally the most cost-effective level long-term (a vaccine dose vs. hospitalization cost)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Hardest level to see or notice, success looks like "nothing happened"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invisibility is a recurring tension across public health funding decisions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Primary Example: Vaccination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Vaccine trains the immune system in advance, before real exposure to the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later exposed, the body already knows how to fight it off quickly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Cleanest, most textbook example of primary prevention that exists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Foundation of the smallpox eradication (1980) and polio near-eradication stories from Lecture 1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disease process never gets started at all, timing is everything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Primary Example: Seatbelts and Helmets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Physical protective equipment, not a biological mechanism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Doesn't treat an injury, prevents it or reduces severity before the crash causes harm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logic applies to motorcycle and bicycle helmets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Mandatory helmet laws linked to significant drops in head injury/fatality rates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primary prevention can be mechanical, not just biological (contrast with vaccination)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Primary Example: Clean Water and Sanitation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Water treatment removes bacteria/contaminants before water reaches anyone's home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Prevents cholera and typhoid before they can ever enter the body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Protects an entire population automatically, no individual action required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John Snow's 1854 story (Lecture 1): the systematic, permanent version of his pump-handle fix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equitable prevention tools in public health history (protects rich and poor equally)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Primary Example: Not Smoking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Never starting = lungs never exposed to cancer-causing chemicals at all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Different from quitting after years of smoking (still valuable, covered later as a "gray area")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Never starting = purest possible form of primary prevention (zero exposure, ever)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Pattern across all four primary 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disease/injury never gets the chance to begin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That single principle defines primary prevention as a category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Secondary Prevention: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Occurs AFTER a disease process has silently begun, but BEFORE symptoms appear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catch it early, while small and easier to treat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Castle 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lookout towers spotting the enemy who slipped past the wall, while still small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Relies heavily on screening tests, even for people who feel completely healthy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Key timing distinction from primary: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 is present but silent, not yet begun and not yet symptomatic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Secondary Example: Mammograms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done because of a felt lump, done specifically because early-stage cancer is far easier to treat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Catches disease before symptoms would have naturally appeared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trusting a test over one's own physical symptoms, a genuine behavioral challenge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5's behavior change theory regarding why people do or don't seek preventive screening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Undetected cancer can grow/spread (metastasize); early detection avoids more invasive treatment later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Secondary Example: Blood Pressure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blood pressure very often causes ZERO symptoms for years or decades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Person can feel completely fine right up until a stroke or heart attack occurs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Even a free pharmacy kiosk check can catch this "silent killer" years before catastrophe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Simple, cheap, and remarkably powerful, one of the best examples of secondary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previews David's story (Slide 17): his high cholesterol was caught this exact way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Secondary Example: Newborn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Heel-prick blood test shortly after birth, screens for dozens of rare genetic/metabolic conditions at once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Most conditions show zero visible symptoms at birth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Undetected/untreated conditions can cause permanent, irreversible damage within weeks or months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Allows treatment to begin before any damage occurs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Extremely cost-effective: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cost of one test vs. lifetime cost of untreated complications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Secondary Example: Colonoscopy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Primarily secondary prevention: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camera searches for early cancer signs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Twist: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doctor can remove a precancerous "polyp" during the SAME procedure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Removing the polyp before it becomes cancer = crosses into primary prevention territory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that secondary and primary categories can blend within a single real-world procedure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Sets up the "gray areas" discussion later in this lecture (colonoscopy example revisited)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Tertiary Prevention: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Occurs AFTER a person already has a diagnosed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 shifts: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manage the condition, prevent further complications, improve quality of life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Castle 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enemy has already breached part of the castle, contain damage, protect the rest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Especially important for chronic disease, which usually cannot be fully cured, only managed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Common mistake: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thinking tertiary is "less important" than primary, false; millions currently live with chronic disease and need this level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Tertiary Example: Cardiac Rehabilitation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Structured, medically supervised program after a heart attack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Combines supervised exercise, nutrition education, and emotional support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Doesn't undo the heart attack, meaningfully reduces risk of a second, potentially fatal 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Emotional support matters because untreated anxiety/depression can interfere with following the recovery plan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the biopsychosocial model from Lecture 2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Tertiary Example: Diabetes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Newly diagnosed patients learn to monitor blood sugar, adjust diet, take medication consistently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Doesn't cure diabetes (lifelong condition for most): dramatically reduces complication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Untreated complications: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nerve damage, vision loss, kidney failure, amputation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Mr. Thompson's case from Lecture 2 (biology + depression + financial stress all shape management success)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tertiary prevention requires the same biopsychosocial/determinants thinking as earlier lectures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Tertiary Example: Stroke Rehabilitation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Physical and speech therapy help regain lost function: walking, speaking, hand coordination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Caregiver education prevents falls, medication errors, and further crises at home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Previews Lecture 8's fall prevention discussion for older adults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Tertiary prevention working hard to minimize further harm after the stroke has already happened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Multidisciplinary team required: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physical therapists, speech therapists, social workers, family caregivers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One Story, All Three Levels: Meet David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David, age 40: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doctor's diet/exercise counseling despite feeling fine = PRIMARY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David, age 45: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routine annual bloodwork catches high cholesterol with zero symptoms = SECONDARY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David, age 48: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mild heart attack anyway, despite doing "everything right": prevention reduces risk, never eliminates it entirely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David, post-heart attack: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cardiac rehab, medication, ongoing nutrition counseling = TERTIARY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David is 50 today, doing well, two years post-heart attack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Story shows prevention as continuous and adapting, not a single one-time choice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One Person Needs All Three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single level, by itself, guaranteed David's complete protection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reduced risk but didn't eliminate it; secondary caught a problem but didn't prevent the eventual heart attack; tertiary now protects him going forward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Real prevention thinking must hold all three levels in mind simultaneously, for one person or an entire population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David's ability to access all three levels was itself shaped by determinants (insurance, flexible employer, transportation): connects back to Lecture 2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Overlap and Debate: Gray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quitting smoking after a lung cancer diagnosis, tertiary (managing existing disease) OR primary (preventing a second, separate cancer)? Both answers have merit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Colonoscopy polyp removal (Slide 12) similarly blends secondary and primary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Common mistake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assuming ALL vaccines = primary (rabies shot after a bite = urgent secondary)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Common mistake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assuming ALL screening = secondary (colonoscopy polyp removal = primary)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Lesson: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reason through timing/purpose rather than applying a rigid formula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Primordial Prevention: A 4th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Newer concept: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prevents risk factors from ever developing in an entire population, even earlier than primary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policy restricting junk food marketing to children on TV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Doesn't vaccinate or screen any individual child, works at a societal level to prevent future risk factors from forming at all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More academic/less commonly used than the three main levels, but shows the framework continues evolving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Distinct from primary prevention, which still targets individual-level risk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Applying the Framework: Program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Program planners ask three questions: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primary, secondary, and tertiary tools are available for this issue?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diabetes program = free exercise classes (primary) + free blood sugar screening days (secondary) + diabetes support groups (tertiary)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program addresses the same disease from three angles, reaching three different groups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exactly the kind of three-level thinking real public health program designers apply daily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Cost-Effectiveness Across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prevention is generally most cost-effective long-term (vaccine dose cost vs. hospitalization cost)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Connects to Lecture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primary's invisibility makes it easy to underfund despite being cheapest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Tertiary prevention remains essential and valuable for millions already living with chronic conditions today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Cost-effectiveness should inform, but never excuse abandoning, people who are already sick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Balanced funding across all three levels is the genuine policy goal (revisited in Lecture 9)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Tuberculosis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Primary: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BCG vaccine for infants/children in high-risk regions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Secondary: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skin/blood test screening of high-risk groups (healthcare workers, close contacts) for "latent" TB before it becomes active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Tertiary: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closely supervised, multi-month medication program for active TB patients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Incomplete treatment risks both personal relapse AND drug-resistant TB strains spreading to others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TB control genuinely requires all three levels operating continuously and simultaneously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Skin Cancer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Primary: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sunscreen and shade-seeking before UV damage occurs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Secondary: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regular dermatologist or self-checks catch a suspicious mole early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Tertiary: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ongoing treatment and follow-up scans for diagnosed melanoma, monitoring for recurrence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Considered the cleanest, easiest-to-remember example spanning all three levels in sequence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Melanoma = the most serious, dangerous type of skin cancer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Student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Biggest mistake: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treating the framework as a rigid formula instead of a reasoning tool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"Vaccine = primary" and "screening = secondary" are useful rules of thumb, NOT universal laws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Exceptions: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rabies vaccine after exposure (secondary-like); colonoscopy polyp removal (primary-like)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Correct approach: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ask about timing and purpose, before exposure? silent disease present? diagnosed condition?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Reasoning through each case beats memorizing a fixed rule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This Framework Matters for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Government health budgets must be distributed across all three levels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national budget funds childhood vaccination (primary) + national cancer screening (secondary) + chronic disease clinics (tertiary)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Framework gives future policymakers language to argue for balanced funding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Risk: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funding gets pulled toward visible tertiary care (hospital wings) while underfunding invisible primary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connects to Lecture 1's discussion of prevention's invisibility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Primary: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stops disease before it starts (vaccines, seatbelts, clean water, never smoking)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Secondary: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catches disease early, before symptoms (mammograms, BP checks, newborn screening, colonoscopy)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Tertiary: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manages existing disease, prevents complications (cardiac rehab, diabetes management, stroke rehab)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David's story shows all three levels working together across a decade of one real life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Gray areas exist; primordial prevention is an emerging fourth category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Framework shapes both individual care and national policy funding decisions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Discussion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Group task: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 a complete 3-level prevention plan for rising childhood obesity in a city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Must identify at least one primary, one secondary, and one tertiary strategy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 answers: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improved grocery/park access (primary); school-based screening + private follow-up (secondary); family nutrition counseling for affected children (tertiary)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Draws on Lecture 2's determinants material (food access, neighborhood environment) alongside today's framework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 the exact primary-vs-tertiary classification of quitting smoking after a cancer diagnosis actually matter practically?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governments spend more on primary prevention even if it means fewer resources for people already sick?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primordial prevention realistically be measured and evaluated like the other three levels?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are tertiary prevention programs often politically easier to fund than primary prevention programs?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Hugh Leavell &amp; E. Gurney Clark, "Preventive Medicine for the Doctor in His Community" (1965): original source of the three-level framework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educational materials on levels of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 and U.S. Preventive Services Task Force (USPSTF): current, evidence-based screening guidelines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Reviewing your own country's current immunization and cancer screening schedules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the framework adapt during a pandemic, where "primary prevention" (lockdowns) affects nearly everyone?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Are mental health interventions harder to classify using this framework than physical health interventions?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over-reliance on secondary prevention (screening) sometimes cause overdiagnosis and unnecessary treatment?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Leon Gordis, "Epidemiology" (latest edition): chapter on prevention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H. Gilbert Welch, "Overdiagnosed: Making People Sick in the Pursuit of Health" (2011): critical view of secondary prevention's limits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U.S. Preventive Services Task Force website, current, evidence-graded screening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Levels of Prevention: Primary, Secondary, and Tertiary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