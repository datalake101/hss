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Behavior Change Theories and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Focus: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psychology behind why people do or don't act on what they already know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Running 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Priya, a woman in her late 30s trying to quit smoking after ~15 years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Four major models covered: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Stages of Change, Health Belief Model, Social Cognitive Theory, Theory of Planned Behavior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Bridges every strategy from Lecture 4 (all ultimately depend on real people changing behavior)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Self-efficacy will emerge as a common thread running through nearly every model today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Explain the Stages of Change (Transtheoretical) Model with real examples per stage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Describe the Health Belief Model and its core components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Explain Social Cognitive Theory and the concept of self-efficacy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Compare individual-focused theories against social/environmental theories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Apply at least one model to design a realistic behavior change intervention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Why Knowledge Alone Isn't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Most people already know vegetables &gt; fried food, exercise is good, yet knowledge rarely produces action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smoker knows smoking causes cancer (printed on packaging for decades) but still struggles to quit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Called the "knowledge-action gap":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space between what someone knows and what they do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back to Mr. Thompson (Lecture 2): his knowledge wasn't the missing piece; depression and financial stress were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Behavior change theory exists precisely to explain and close this gap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Transtheoretical Model, Stages of Change: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4/32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Developed by James Prochaska and Carlo DiClemente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Behavior change is a gradual PROCESS through stages, not a single event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Five stages: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precontemplation, contemplation, preparation, action, maintenance; relapse loops back to an earlier stage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"Transtheoretical" = "across theories": built by studying many different therapy approaches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Understanding a person's current stage determines the right kind of support to offer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Stage 1: Precontemplation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5/32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Person isn't thinking about changing at all; may not see the behavior as a problem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Priya genuinely enjoys smoking; part of her routine and stress coping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"Quit Smoking Today" pamphlet won't work, she's not ready to engage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Pressure/lecturing at this stage often backfires, making the person defend the behavior more strongly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Appropriate approach:  </a:t>
            </a:r>
            <a:r>
              <a:rPr sz="1800" b="0">
                <a:solidFill>
                  <a:srgbClr val="373D42"/>
                </a:solidFill>
                <a:latin typeface="Segoe UI"/>
              </a:rPr>
              <a:t>gentle awareness-raising, no pressure, support offered without judgment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Stage 2: Contemplation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6/32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Person begins considering change but hasn't committed; genuine ambivalence (both wanting and not wanting change)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Priya's trigger: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persistent cough makes her think "maybe I should quit"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Can last months or years, this is normal, not a sign of weak willpower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Appropriate approach:  </a:t>
            </a:r>
            <a:r>
              <a:rPr sz="1800" b="0">
                <a:solidFill>
                  <a:srgbClr val="373D42"/>
                </a:solidFill>
                <a:latin typeface="Segoe UI"/>
              </a:rPr>
              <a:t>open questions exploring both sides honestly, without judgment or pressure toward action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Sign of real progress compared to precontemplation, even without visible outward change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Stage 3: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7/32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Actively getting ready to act soon, though not yet acting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Priya researches quit programs, tells her husband her plan, buys nicotine patches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Concrete preparatory steps, different from just weighing pros/cons mentally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Appropriate support: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concrete tools, quit-line numbers, support group schedules, nicotine replacement info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Telling her husband creates accountability and future social reinforcement (previewed for Social Cognitive Theory)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Stage 4: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8/32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Person has actually begun changing behavior, Priya's quit date arrives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Requires the MOST intensive support of all stages, new habits are fragile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Old triggers (stress, social situations, habitual times of day) remain present even though behavior changed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Nicotine withdrawal produces real physical symptoms (irritability, poor sleep, appetite changes), typically peaking in the first few days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Needs frequent check-ins and practical coping strategies for specific triggering situations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Stage 5: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9/32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Sustaining new behavior over time, actively preventing relapse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Six months later, Priya hasn't smoked; built new habits (after-dinner walk, gum during stress)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Avoids a bar she used to frequent with old smoking friends, deliberate environment management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Requires ongoing vigilance even as craving intensity generally decreases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Genuine psychological shift: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identity moves from "smoker who quit" toward "non-smoker"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Relapse: Not Failure, Just a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10/32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Priya smokes one cigarette during a stressful week, does this mean total failure? NO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Relapse means returning to an earlier stage, not a permanent verdict on the whole effort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Research: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most people who eventually quit successfully go through several relapses first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Framing relapse as normal (not moral failure) genuinely improves long-term success rates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Support response should identify the trigger and plan around it, not simply judge the slip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Why This Model Matters for Practitioners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11/32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Good health promotion meets people where they are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Core mistake avoided:  </a:t>
            </a:r>
            <a:r>
              <a:rPr sz="1800" b="0">
                <a:solidFill>
                  <a:srgbClr val="373D42"/>
                </a:solidFill>
                <a:latin typeface="Segoe UI"/>
              </a:rPr>
              <a:t>offering intensive action-stage support to someone still in precontemplation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Mismatched support causes frustration and disengagement on both sides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Matching intervention intensity/type to actual readiness stage significantly improves effectiveness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Applies across smoking cessation, weight management, medication adherence, and nearly any health behavior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Health Belief Model: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12/32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Focuses on WHAT BELIEFS drive health action, distinct from the Stages of Change model's focus on WHEN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Four core beliefs: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perceived susceptibility, perceived severity, perceived benefits, perceived barriers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Two additional factors: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cues to action, self-efficacy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Beliefs help explain WHY someone moves from one Stage of Change to the next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Complements, rather than contradicts, the Stages of Change model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Health Belief Model Example: Flu Vaccination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13/32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Susceptibility: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 I believe I'm actually at risk this season?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Severity: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 I believe the flu could seriously disrupt my life?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Benefit: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 I believe the vaccine actually works?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Barriers: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are cost/clinic hours/inconvenience standing in my way?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All four must line up reasonably well for action to occur; low susceptibility alone can block action even if everything else is favorable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Perceived Barriers: The Most Underestimated Factor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14/32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Even with strong benefit/susceptibility/severity beliefs, practical barriers often stop action anyway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parent believes in the flu vaccine but skips it, clinic only open during work hours, no childcare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back to Lecture 2's determinants (income, access shape whether beliefs translate to action)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Removing practical barriers is often more effective than repeating educational messaging about benefits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One of the most practically important insights in the entire Health Belief Model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Cues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15/32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small trigger converting existing intention into actual behavior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reminder text the day before a scheduled colonoscopy appointment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friend's cancer diagnosis prompts finally scheduling one's own overdue screening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Often the missing piece between genuine intention and actual follow-through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Cheaper and simpler to implement than trying to change someone's underlying beliefs from scratch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Self-Efficacy: A Bridge Between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16/32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Belief in one's OWN ability to successfully perform a specific behavior (different from believing the behavior is beneficial)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Developed by Albert Bandura; reappears across nearly every theory in this lecture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Someone who quit smoking once before, even temporarily, often has higher self-efficacy trying again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relapse is framed (Slide 10) directly affects self-efficacy for future attempts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Treating a slip as "total failure" can lower self-efficacy and reduce future attempts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Social Cognitive Theory: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17/32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Developed by Albert Bandura (same researcher behind self-efficacy)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Behavior shaped by ongoing interaction of personal factors, behavioral factors, and environmental factors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Called "reciprocal determinism":  </a:t>
            </a:r>
            <a:r>
              <a:rPr sz="1800" b="0">
                <a:solidFill>
                  <a:srgbClr val="373D42"/>
                </a:solidFill>
                <a:latin typeface="Segoe UI"/>
              </a:rPr>
              <a:t>each factor continuously influences the other two, in a loop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to the ecological model from Lecture 2 (behavior emerges from person-environment interaction)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Priya's decision to quit (personal) → avoiding a bar (behavioral) → new environment (environmental) → strengthened self-efficacy (personal again)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Observational Learning and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18/32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People learn behaviors partly by observing others, especially respected role models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Connects to Lecture 1: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children absorb food habits by watching parents cook/shop, not from lectures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teens more likely to exercise if parents model consistent physical activity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Behavior spreads through observed example, not just direct instruction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to Lecture 4's use of trusted local messengers in public health campaigns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Environmental Reinforcement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19/32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Behavior is more likely to be sustained when the surrounding environment actively reinforces it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office celebrating fitness milestones creates ongoing social reinforcement; a neutral office doesn't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Priya's bar-avoidance during maintenance (Slide 9) is deliberate environmental management, not luck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Distinct from Lecture 4's environmental design strategy: reinforcement is individual psychology, design is population-level strategy, two sides of the same coin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Reciprocal determinism in action: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behavior shapes environment, which reinforces future behavior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Theory of Planned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20/32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Intention is the strongest predictor of whether someone performs a behavior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Intention shaped by: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attitude toward the behavior, subjective norms, perceived behavioral control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"Perceived behavioral control" closely resembles self-efficacy, different researchers converging on similar ideas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intends to exercise if positive attitude + belief friends approve + confidence it fits their schedule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Multiple independent theories landing on similar core insights strengthens confidence in the underlying finding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Subjective Norms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21/32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college students overestimate how much peers actually drink (based on visible party behavior)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Social norms campaigns correcting this misperception ("most students have 4 or fewer drinks") reduce risky drinking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Doesn't require changing underlying attitudes or restricting alcohol access at all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Simply corrects a misperception about what others are actually doing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Genuinely elegant, low-cost intervention; revisited in Lecture 7's alcohol prevention discussion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Ecological Model Applied to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22/32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Recall Lecture 2's four layers: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individual, interpersonal, community, policy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healthy eating shaped by personal taste (individual) + family cooking habits (interpersonal) + grocery access (community) + food labeling laws (policy) simultaneously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Today's four theories mostly operate at individual/interpersonal layers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Individual-level theory cannot fully substitute for addressing community/policy layers when THEY are the root cause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Limitation revisited directly in the "behavior change and health equity" discussion later today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Motivational Interviewing: A Practical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23/32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Counseling technique drawing directly on today's theories, widely taught to doctors/nurses/counselors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Helps people explore and resolve their OWN ambivalence, rather than being told what to do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Instead of "you need to quit," ask:  </a:t>
            </a:r>
            <a:r>
              <a:rPr sz="1800" b="0">
                <a:solidFill>
                  <a:srgbClr val="373D42"/>
                </a:solidFill>
                <a:latin typeface="Segoe UI"/>
              </a:rPr>
              <a:t>"What would be different in your life if you quit?"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Self-generated motivation is more durable than externally imposed pressure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Techniques: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reflective listening, affirmations, "rolling with resistance" instead of direct argument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Nudge Theory and Behavioral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24/32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Uses research on predictable, non-purely-rational decision-making patterns to design better default choices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automatic retirement plan enrollment (opt-out) produces far higher participation than requiring opt-in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Functions as an ultimate "cue to action":  </a:t>
            </a:r>
            <a:r>
              <a:rPr sz="1800" b="0">
                <a:solidFill>
                  <a:srgbClr val="373D42"/>
                </a:solidFill>
                <a:latin typeface="Segoe UI"/>
              </a:rPr>
              <a:t>zero effort required to follow through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 applied to Priya: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an automatically scheduled follow-up appointment, rather than requiring her to book one herself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Especially powerful for behaviors people already agree are beneficial but tend to procrastinate on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Combining Models in Real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25/32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Real programs draw on multiple theories simultaneously, not just one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diabetes prevention program uses Stages of Change (tailored messaging), Health Belief Model (address cost barriers), Social Cognitive Theory (peer support groups)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Mirrors Lecture 4's lesson about combining strategies for stronger overall results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No single theory perfectly explains all human behavior alone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comprehensive support plan for Priya would combine all four models together, plus motivational interviewing and nudges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Common Mistakes When Applying Behavior Theories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26/32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Mistake 1:  </a:t>
            </a:r>
            <a:r>
              <a:rPr sz="1800" b="0">
                <a:solidFill>
                  <a:srgbClr val="373D42"/>
                </a:solidFill>
                <a:latin typeface="Segoe UI"/>
              </a:rPr>
              <a:t>one intervention approach applied to everyone regardless of readiness stage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Mistake 2:  </a:t>
            </a:r>
            <a:r>
              <a:rPr sz="1800" b="0">
                <a:solidFill>
                  <a:srgbClr val="373D42"/>
                </a:solidFill>
                <a:latin typeface="Segoe UI"/>
              </a:rPr>
              <a:t>focusing only on individual psychology while ignoring environmental/structural barriers (a food desert resident's motivation cannot conjure a grocery store)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Mistake 3:  </a:t>
            </a:r>
            <a:r>
              <a:rPr sz="1800" b="0">
                <a:solidFill>
                  <a:srgbClr val="373D42"/>
                </a:solidFill>
                <a:latin typeface="Segoe UI"/>
              </a:rPr>
              <a:t>expecting permanent change from a single conversation, without ongoing reinforcement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Mistake 4: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assuming maintenance means support is no longer needed, relapse can happen even after months of success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Behavior Change and Health Equity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27/32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Theories must account for structural constraints, not just individual psychology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telling a low-income parent working two jobs to "just cook healthier" ignores genuine "time poverty"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High self-efficacy and positive attitude can still be blocked by real-world constraints outside a person's control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Using theory without acknowledging these constraints risks "victim blaming" (Lecture 2's pitfall)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Priya's success depended partly on supportive circumstances (husband, job flexibility) beyond her own psychology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28/32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Stages of Change: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gradual process (precontemplation → contemplation → preparation → action → maintenance), relapse is normal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Health Belief Model: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susceptibility, severity, benefits, barriers, cues to action, self-efficacy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Social Cognitive Theory: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environment, observational learning, self-efficacy, reciprocal determinism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Theory of Planned Behavior: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intention shaped by attitude, subjective norms, perceived behavioral control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Effective interventions combine multiple models AND account for structural barriers alongside psychology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Tricky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29/32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Can nudge-based strategies be manipulative even when they produce genuinely better outcomes?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Should public health messaging ever use fear-based tactics, given mixed evidence on long-term effectiveness?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should practitioners handle someone permanently stuck in precontemplation for a serious health risk?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Is self-efficacy something that can genuinely be taught, or is it mostly shaped by past experience?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30/32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James Prochaska &amp; Carlo DiClemente, "Stages and Processes of Self-Change of Smoking" (1983)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Albert Bandura, "Self-Efficacy: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Exercise of Control" (1997)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Irwin Rosenstock, "Historical Origins of the Health Belief Model" (1974)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William Miller &amp; Stephen Rollnick's book on Motivational Interviewing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Extended Tricky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31/32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Could heavy reliance on individual behavior theory distract from needed policy-level solutions?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might these theories need to adapt for family/group-level decisions rather than a single individual?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 gamified health apps (streaks, badges) build lasting self-efficacy, or just temporary engagement?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Further Reading (Extended)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Karen Glanz, Barbara Rimer, &amp; K. Viswanath (eds.), "Health Behavior: Theory, Research, and Practice"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Richard Thaler &amp; Cass Sunstein, "Nudge" (2008), revisited from today's psychological angle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Icek Ajzen, "The Theory of Planned Behavior" (1991): original source material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Behavior Change Theories and Models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