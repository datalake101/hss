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Promotion Strategies and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Six major strategy categories covered today: education, policy, environmental design, community mobilization, workplace programs, mass media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Each covered with real examples plus strengths and limitations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like a chef learning six cooking techniques, each has its best use case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Builds directly on Lecture 2's ecological model and Lecture 3's prevention levels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Central lesson previewed: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combining strategies produces stronger results than any single one alone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Describe all six major health promotion strategy categories in plain words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Give a real-world example for each category and explain why it fits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why combining multiple strategies outperforms any single strategy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Weigh strengths/limitations of education-based vs. policy-based approaches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 able to design a basic multi-strategy plan for a real community issue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Ottawa Charter's Five Action Areas (Recap)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From Lecture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(1) build healthy public policy, (2) create supportive environments, (3) strengthen community action, (4) develop personal skills, (5) reorient health services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Today's six strategies map onto these five 1986 action areas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Education → personal skills; Policy → public policy; Environmental design → supportive environments; Community mobilization → community action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Workplace programs and mass media serve multiple areas depending on design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Still the backbone of modern health promotion programs, ~40 years later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Strategy 1: Health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Gives people knowledge/skills to make informed choices, without forcing behavior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Weak version: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handing someone a pamphlet (passive information transfer)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Strong version: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interactive, hands-on skill-building (e.g., teaching teens to read a nutrition label together)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builds lasting knowledge, respects individual autonomy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Limitation: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knowledge alone doesn't overcome real barriers like cost (see Mr. Thompson, Lecture 2)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Most commonly misused strategy on this list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Education Example: Diabetes Self-Management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Weak: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doctor hands newly diagnosed patient a printed brochure on the way out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Strong: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diabetes educator teaches hands-on carb counting, supervised glucose monitor practice, symptom recognition for low blood sugar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Patient builds real, immediately usable skills, not vague memories of being told facts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Confident self-management genuinely reduces emergency complications and hospital visits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Key distinction: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passive information transfer vs. active, skill-based education (reappears throughout the course)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Strategy 2: Policy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Alters laws/rules to make the healthy choice automatic for an entire population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Contrast with education: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policy doesn't require individual learning or convincing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smoke-free workplace laws → measurable drops in heart attack rates within a couple of years, protecting workers regardless of their own awareness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reaches everyone automatically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Limitation: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politically difficult to pass, can face resistance framed as restricting personal freedom; effects can take years to become measurable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Policy Example: Sugar-Sweetened Beverage Taxes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Small added tax on sugary drinks in several cities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measurable drop in soda purchases, especially pronounced among lower-income households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Shifts population behavior automatically, no individual nutrition knowledge or willpower required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Criticism: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disproportionately affects lower-income consumers who continue purchasing anyway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Genuine, ongoing ethical tension in health policy design (discussed further today)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Policy Example: Folic Acid Fortification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Folic acid reduces risk of neural tube birth defects but is needed VERY early in pregnancy, often before a woman knows she's pregnant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Policy solution: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mandate folic acid added directly to bread flour/cereal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measurable, significant drop in these birth defects nationally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individual action or awareness required at all, protection built silently into the food supply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the most cost-effective policies in public health history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Strategy 3: Environmental and Structural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Redesigns physical spaces so the healthy choice becomes the easy, default choice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Also called "choice architecture" or "nudging" (formalized further in 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bright, visible stairwell near the entrance vs. hidden elevator → more stair use, with no signage at all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works passively, doesn't require conscious effort or awareness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Limitation: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expensive to implement at scale; results show up gradually, over months or years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Environmental Example: Active Transportation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City builds connected, protected bike lanes linking neighborhoods to downtown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Removes the safety barrier that previously stopped potential commuters from biking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increased cycling, plus measurable reductions in community obesity and improved cardiovascular fitness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in the broad sense from Lecture 1, not targeting one disease, touching many outcomes at once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Even touches mood/mental health, since outdoor activity is linked to improved mood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Environmental Example: Food Placement Nudges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Hospital cafeteria moves fruit to eye-level near checkout, moves desserts to a less visible shelf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Purchasing shifts toward fruit, not from changed knowledge, but from changed physical layout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Dessert remains fully available; freedom of choice is genuinely preserved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Called shifting the "path of least resistance," distinct from a full ban (which removes choice entirely)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Ethical question revisited in discussion: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influencing behavior without conscious awareness acceptable?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Strategy 4: Community Mobilization and Social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Builds relationships and community bonds alongside a health goal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Lecture 2's social support/isolation determinant (Mr. Ellis vs. Mr. Alvarez)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weekly retiree walking group addresses BOTH physical activity AND loneliness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Sometimes the most effective health promotion doesn't look like a medical intervention at all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Revisited in Lecture 8 regarding older adulthood's isolation risk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Community Example: New Parent Support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Weekly clinic-hosted group where new parents share honest experiences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New parenthood is a genuinely vulnerable period; postpartum depression risk rises with isolation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Realizing "I'm not alone in this" genuinely helps protect against postpartum depression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medication or diagnosis involved, simply structured space for connection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Amara's story from Lecture 1 (isolated new mother after a city move)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Strategy 5: Workplace Wellness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Workplaces reach large numbers of adults consistently, often 40 hrs/week for years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manufacturing company adds mandatory stretching breaks every 2 hours + annual on-site health screening 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reduced repetitive strain injuries and undiagnosed high blood pressure caught early (secondary prevention, Lecture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embedded into an existing routine, requiring no separate appointment or extra time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Revisited in depth as a "setting" in Lecture 8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Workplace Example: Paid Sick Leave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Paid sick leave lets employees stay home when contagious without losing income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Without it: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financial pressure pushes sick employees to work, spreading illness to coworkers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Blends two strategy categories: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policy change AND workplace program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 economic decision (how employees are paid) functions as a genuine public health intervention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Family B's story from Lecture 2 (missed shift = lost income)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Strategy 6: Mass Media and Public Campaigns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Uses TV, radio, social media, advertising to shift attitudes at massive scale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Different from education: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one-directional, no hands-on interaction, reaches millions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graphic anti-smoking ads measurably reduce smoking, especially preventing teens from ever starting (primary prevention)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reaches enormous audiences quickly, low cost per person reached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Limitation: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single exposure rarely changes deeply established behavior alone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Media Example: Public Health Emergency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Outbreak scenario requiring rapid public communication of handwashing/cough etiquette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Effective campaigns are: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simple, repeated often, delivered by trusted messengers, free of overly technical language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health literacy discussion from Lecture 2 (complex messaging fails a significant portion of the population)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Clear, simple, trusted, repeated messaging measurably slows community spread of illness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Fully developed in Lecture 6's infectious disease discussion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Combining Strategies Works Best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Single most important lesson of this lecture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Tobacco control example maps onto FIVE of six categories at once: taxation (policy), warning labels (policy+media+education), advertising restrictions (policy), smoke-free spaces (policy+environment), education campaigns (media/education)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Different strategies reach different people through different channels, compensating for each other's weaknesses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Layered strategies create multiple paths toward the same outcome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echoes Lecture 1's seatbelt and tobacco control success stories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Choosing the Right Strategy: Key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Four planning questions: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is the target population? What resources exist? Short-term or long-term goal? Is there political will for policy change?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Low-resource community programs often rely more on community mobilization and grassroots education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Well-funded governments can pursue large-scale policy or environmental infrastructure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Environmental/policy strategies take longer to show results than education/mass media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single "right" strategy, depends on the specific situation's constraints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Strengths/Limitations: Education-Based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builds lasting knowledge, respects individual autonomy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Limitation: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smaller population-level impact; depends on individual follow-through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Struggles against structural barriers like poverty or unsafe environment (Mr. Thompson example)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Rarely sufficient alone to solve problems rooted primarily in access or affordability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Best paired with other strategy categories rather than used in isolation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Strengths/Limitations: Policy-Based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reaches entire populations automatically (folic acid fortification example)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Limitation: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politically difficult to pass; often faces resistance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Industry opposition can be well-funded and sustained (tobacco industry historically fought smoke-free laws for years)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sustained, patient, long-term advocacy, sometimes across decades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political dynamics revisited in Lecture 9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Strengths/Limitations: Environmental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works passively, doesn't require ongoing conscious individual effort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Limitation: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expensive to implement (infrastructure/construction costs)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Results show up gradually, over months or years, not immediately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Pattern across all three reviewed categories: each strength compensates for another category's weakness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complementary pattern is exactly why combining strategies (Slide 18) works so well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Motorcycle Helmet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Combined three tools: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legal requirement (policy), safety awareness campaigns (mass media), helmet-lending programs at rental shops (environmental design)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measurable drop in motorcycle-related head injury deaths in regions using all three together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Law alone might be ignored; awareness alone doesn't overcome lack of a helmet in the moment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Combined, all three reinforce each other for a genuinely strong result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combined-strategy pattern seen with seatbelts (Lecture 1) and tobacco control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School-Based Health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Three simultaneous changes: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daily PE built into schedule (environment), healthier cafeteria menu (environment+policy), age-appropriate health education (education)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Schools reach children consistently for years (ages ~5-18), an extraordinary amount of repeated influence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Shapes lifelong habits during exactly the years those habits are still forming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Not temporary facts, genuinely durable, comprehensive habit formation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Revisited in Lecture 8's "settings-based" approach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Evaluating Whether a Strategy Is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tracking clear, measurable indicators BEFORE and AFTER implementation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measure bike commuting rates and obesity data before/after building a bike lane network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Good intentions never guarantee real results, some well-designed programs simply don't work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Careful evaluation is the only reliable way to know if a strategy needs adjustment or redesign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evaluation methodology covered in Lecture 10 (capstone)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Mistakes in Program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Mistake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relying only on education, expecting knowledge alone to change deeply rooted behavior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Mistake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designing programs without community input, missing crucial cultural context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Mistake 3: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failing to sustain funding long enough to see results (especially for policy/environmental change)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Programs can lose funding after 1-2 years, even when on track, because results weren't yet visible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Lecture 1's discussion of prevention's invisible rewards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Emerging Strategy: Digital and Mobile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Mobile apps, automated text reminders, telehealth platforms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text reminder for a scheduled vaccine appointment modestly improves attendance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Functions as a "cue to action" (formalized in Lecture 5's Health Belief Model) converting existing intention into actual behavior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useful, low-cost supplement to the six traditional categories, not a full seventh category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Raises equity concerns for those without reliable internet access (revisited in Lecture 8)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Six strategies: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education (knowledge/skills), policy (automatic population reach), environmental design (passive, easy-choice), community mobilization (relationships+health), workplace programs (consistent adult reach), mass media (fast, wide reach)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Each has genuine strengths and limitations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Central lesson: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combining multiple strategies consistently outperforms any single strategy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Effective design requires understanding target population, available resources, and a realistic timeline for results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it ethical to use "nudge" strategies that influence behavior without conscious awareness?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workplace wellness programs ever be mandatory, or does that undermine employee autonomy?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mass media campaigns backfire via the "forbidden fruit" effect, especially among teenagers?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limited public health budgets split between education-focused and policy-focused strategies?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Richard Thaler &amp; Cass Sunstein, "Nudge: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Improving Decisions About Health, Wealth, and Happiness" (2008)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health promotion strategies toolkit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Lawrence Green &amp; Marshall Kreuter, "Health Program Planning: An Educational and Ecological Approach" (revisited in Lecture 10)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 "Winnable Battles" initiative, real combined-strategy program case studies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environmental design (new bike lanes) increase health inequity if built first in wealthier neighborhoods?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social media companies be regulated as public health actors given their influence and misinformation spread?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do you sustain community mobilization momentum after initial excitement fades?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Michael Rothschild, "Marketing Communications in Nonbusiness Situations": foundational social marketing theory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National Institutes of Health guide on "Community-Based Participatory Research"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"Health in All Policies" framework document (revisited fully in Lecture 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Promotion Strategies and Approaches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