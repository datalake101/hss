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Health Promotion Across the Lifespan and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Two organizing principles: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TIME (life stages, prenatal to older adulthood) and PLACE (settings: schools, workplaces, healthcare, community, digital)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First half walks through an entire human lifespan; second half walks through five delivery settings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brilliant intervention accomplishes nothing if it never reaches the right person, at the right life stage, in the right setting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Builds directly on Lecture 4's strategies, applying them to specific ages and locations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Genuinely practical lecture: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most real public health work comes down to exactly these two questions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Describe health promotion priorities at each major life stage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Explain the settings-based approach to health promotion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Provide examples of school-based, workplace-based, and community-based programs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Discuss health promotion needs specific to older adults (fall prevention, social isolation)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Evaluate how life stage and setting interact to shape effective program design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Why Life Stage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Priorities differ dramatically across a lifespan (newborn immunization vs. teen mental health vs. older adult fall prevention)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Vaccination (Lecture 6) matters differently in infancy (untrained immune system) vs. older age (weakened immune system)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Behavior change work (Lecture 5) is especially relevant in adolescence/young adulthood when habits are still forming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Primary prevention dominates early life; tertiary prevention becomes more common later (Lecture 3's David example)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Effective programs are tailored to the specific life stage they target, not one-size-fits-all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Life Stage: Prenatal and Early Infancy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4/32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Priorities: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prenatal care, maternal nutrition, avoiding alcohol/tobacco during pregnancy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Folic acid fortification (Lecture 4) exists precisely because the critical developmental window often occurs before a woman knows she's pregnant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Regular prenatal check-ups catch complications like gestational diabetes before serious harm (secondary prevention, Lecture 3)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Connects to Lecture 2's ACE research: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developmental shaping begins even before birth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Supporting the mother during this window is one of the most powerful prevention tools for the child's entire future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Life Stage: Infancy and Early Childhood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5/32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Priorities: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childhood immunization schedules, safe sleep practices, breastfeeding support, developmental screening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Herd immunity (Lecture 6) matters directly here, newborns too young for vaccines depend on surrounding community immunity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Safe sleep guidance (back sleeping, no soft bedding) is a clean primary prevention example, reducing SIDS risk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Developmental screening (speech, movement milestones) catches delays early, when intervention is most effective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Nearly all priorities here are primary/secondary prevention, since chronic disease hasn't had time to develop yet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Life Stage: School-Age Children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6/32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Priorities: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healthy habits (activity/food), dental care, vision/hearing screening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Daily recess/PE builds lifelong activity habits (connects to Lecture 7's physical inactivity discussion)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School-based dental sealant programs remove access barriers entirely (no separate appointment/transport/cost needed)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Undetected vision problems can masquerade as learning/behavioral issues if not caught by screening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First life stage where the SCHOOL SETTING becomes genuinely central (previewing the second half of this lecture)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Life Stage: Adolescence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7/32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Priorities: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mental health support, substance use/tobacco prevention, healthy relationship education, driving safety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School-based confidential mental health screening catches struggles teens might not volunteer directly to a parent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Most long-term smokers begin during adolescence (directly connects to Priya's origin story, Lecture 5)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Ecological model example (Lecture 2):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teen smoking shaped by curiosity, peers, school enforcement, and ad laws simultaneously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Graduated licensing (restricting nighttime driving/passengers for new drivers) is genuine primary prevention unique to this stage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Life Stage: Young Adulthood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8/32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Priorities: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reproductive health, mental health, workplace safety, establishing lifelong habits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Often underserved: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aging out of pediatric care, no established provider, navigating insurance independently for the first time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College health centers help fill exactly this access gap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Habits formed during this period of independent decision-making (diet, exercise, substance use) often become lifelong defaults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pivotal, genuinely underappreciated window compared to childhood/older adulthood attention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Life Stage: Middle Adulthood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9/32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Priorities: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chronic disease screening, stress management, maintaining activity amid peak career/family demands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David's entire Lecture 3 story occurred within this life stage (all three prevention levels)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Where Lecture 7's four modifiable risk factors become most urgently relevant, after years of accumulation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"Sandwich generation" caregiving (children + aging parents) creates peak chronic stress risk (Lecture 7)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to Lecture 5's "time poverty" discussion, busy schedules genuinely limit healthy behavior capacity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Life Stage: Older Adulthood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10/32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Priorities: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fall prevention, chronic disease management, cognitive health, social connection, vaccination (pneumonia, shingles)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Same vaccine tool, different purpose than infancy: protecting an immune system weakened by age, not undeveloped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Many older adults manage multiple chronic conditions simultaneously, creating genuine medication/coordination complexity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Cognitive health includes both disease monitoring AND simple ongoing mental engagement (reading, puzzles, social interaction)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Two priorities (fall prevention, isolation) get dedicated deep-dive slides next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Fall Prevention: A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11/32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Leading cause of injury among older adults; caused by muscle weakness, vision problems, medication side effects, home hazards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Home safety assessment (loose rugs, poor lighting) = environmental design (Lecture 4) + primary prevention (Lecture 3)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Strength-building class also addresses social isolation if delivered in a group setting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Medication review matters: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blood pressure drug's dizziness side effect can increase fall risk even while treating the underlying condition correctly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Requires holistic, coordinated geriatric care, not single-condition-focused treatment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Loneliness and Isolation in Older Adulthood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12/32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Full deep-dive on Lecture 2's Mr. Ellis vs. Mr. Alvarez determinant example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This life stage is precisely when isolation risk becomes most acute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Causes: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retirement removes daily workplace contact; friends/family pass away; mobility limits make it harder to get out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Senior centers offering activities, meals, transportation function as genuine health promotion, not just recreation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Directly echoes Lecture 4's walking group example, now applied to the specific life stage where it matters most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Settings-Based Approach: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13/32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Second organizing principle: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embed health promotion into environments where people ALREADY spend time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Extension of Lecture 4's environmental design strategy, applied to entire institutional settings, not just physical spaces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Core logic: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make healthy behavior part of the everyday environment, not a separate task requiring extra effort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Five settings covered: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schools, workplaces, healthcare facilities, community organizations, digital environments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For each: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which populations does it naturally reach, and which priorities can it realistically deliver?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Setting: Schools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14/32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Reach children consistently for years, near-universal, sustained contact unmatched by any other setting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"Health Promoting Schools" framework combines curriculum education, healthy cafeteria food, PE requirements, tobacco-free policy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Pulls together strategy (Lecture 4), disease prevention, and settings thinking into one integrated institutional approach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Spans multiple life stages simultaneously (age ~5-18), requiring flexibility for very different needs across that range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Already referenced multiple times earlier in this lecture (recess, dental sealants, mental health screening)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School Example: Comprehensive Sexual Health Education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15/32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Age-appropriate, medically accurate education associated with delayed sexual initiation AND increased contraceptive use vs. abstinence-only approaches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Comprehensive education doesn't accelerate the timing of sexual activity onset, but better equips those who do become active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to Lecture 4's active/skill-based education distinction (contrast the diabetes brochure vs. hands-on example)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Curriculum design choices carry measurable, long-term public health consequences beyond the classroom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Reaches nearly every teenager in a community, regardless of family resources or comfort discussing the topic at home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School Example: Anti-Bullying and Mental Health Programs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16/32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Structured anti-bullying programs + genuine counselor access show measurable improvements in student mental health indicators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Peer mentor programs (older students paired with younger ones) build belonging and reduce bullying incidents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Directly demonstrates Social Cognitive Theory's observational learning (Lecture 5): mentors function as genuine role models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Same underlying mechanism as parents modeling exercise (Lecture 5), applied to peer kindness modeling instead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Cost-effective mental health tool, especially compared to adult-only messaging that doesn't leverage peer influence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Setting: Workplaces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17/32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Reach large numbers of adults consistently over long periods, especially relevant during middle adulthood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Comprehensive wellness programs (screenings + stress resources + activity incentives) show measurable employee health improvements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Recall Lecture 4's manufacturing company example: stretching breaks + annual screening days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Pairs especially well with middle adulthood's chronic disease screening needs and "time poverty" barriers (Lecture 5)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Brings screening directly to where the person already is, removing separate-appointment barriers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Workplace Example: Ergonomic and Injury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18/32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Ergonomic assessments/equipment for desk workers reduce chronic back/neck pain, an often-overlooked occupational health issue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Adjustable standing desks, proper monitor positioning, posture training linked to reduced musculoskeletal complaints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Clean primary prevention 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addressing the physical environment before injury develops, not after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Shows health promotion doesn't always target dramatic diseases, chronic everyday pain matters too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Strong return on investment for both employee quality of life and employer healthcare costs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Workplace Example: Mental Health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19/32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Confidential counseling access (employee assistance programs) + reduced stigma around mental health days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manager openly discussing their own mental health resource use normalizes help-seeking for the whole team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Directly demonstrates observational learning (Lecture 5) applied to an adult, workplace-specific context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Employees may fear real or perceived professional consequences of disclosure, creating a genuine practical barrier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Connects to subjective norms (Lecture 5):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willingness to use resources is shaped by perceived colleague/leadership behavior, not just policy on paper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Setting: Healthcare Facilities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20/32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to the Ottawa Charter's fifth action area (Lecture 1): "reorient health services"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pediatric clinic screening for food insecurity during routine visits, connecting families to food assistance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Directly echoes the biopsychosocial model (Lecture 2) and David's doctor asking about stress/smoking, not just blood pressure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Uniquely comprehensive reach across the ENTIRE lifespan (prenatal through end-of-life), unlike age/employment-limited settings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Still limited by unequal access to healthcare itself (Lecture 2's determinant), requiring other settings to fill gaps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Healthcare Setting Example: Brief Interventions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21/32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Short, focused conversations (2 minutes) embedded within an otherwise routine, unrelated visit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single brief conversation rarely changes deeply established behavior alone (knowledge-action gap, Lecture 5)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SAME brief conversation repeated consistently across multiple visits over years functions like sustained maintenance-stage support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Embedding prevention into a visit already happening removes the "separate appointment" barrier entirely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Same settings-based logic as the entire lecture: meet people where they already are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Setting: Community Organizations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22/32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Community centers, faith-based organizations, local nonprofits reach populations formal healthcare misses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faith-based org hosting free blood pressure screening after weekly services reaches people who rarely see a doctor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to Lecture 6's trusted community messengers discussion (vaccine hesitancy)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Community organizations carry accumulated social trust built over years, which the exact same program from an unfamiliar institution would lack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Effective public health work often partners with existing organizations rather than building new infrastructure from scratch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Community Example: Farmers Markets and Food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23/32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Free weekend farmers market in a lower-income neighborhood accepting food assistance benefits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Directly addresses the food desert determinant (Lecture 2) and could have genuinely helped Mr. Thompson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Community organizations can be genuinely responsive to a specific neighborhood: location, hours, culturally familiar vendors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Avoids the "designing without community input" pitfall flagged in Lecture 2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Bridges health promotion theory and lived, practical reality for real families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Setting: Digital and Online Environments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24/32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Mobile apps, social media, telehealth reach people otherwise isolated from other settings entirely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mental health app with meditation/mood tracking reaches those who'd never attend an in-person program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Raises genuine equity concerns for people without reliable internet access or digital literacy (Lecture 2's health literacy discussion)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Can expand reach dramatically but should never replace the other four settings entirely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Genuinely valuable ADDITION to the toolkit, not a complete substitute for in-person settings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Combining Life Stage and Setting: A Practical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25/32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Case: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adolescent mental health reached through FOUR settings simultaneously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School: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counselors/curriculum; Family: parent communication programs; Healthcare: routine depression screening; Digital: crisis text lines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Mirrors Lecture 4's combined-strategy lesson, now applied to combining settings instead of strategies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Different channels reach different people, or the same person at different moments/circumstances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If a teen slips through one setting's gaps, another setting can still successfully connect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Equity Considerations Across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26/32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Not everyone has equal access to every setting discussed today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Workplace programs miss the unemployed/informal workers; schools miss chronically absent children; healthcare facilities miss the uninsured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Effective strategy uses multiple settings together so one setting's gap gets filled by another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Someone facing multiple compounding barriers (unemployed + uninsured + no reliable internet) could fall through every setting at once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directly to Lecture 2's compounding determinants discussion, settings-based approach helps but isn't a perfect safety net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Transitions Between Life Stages: A Vulnerable Period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27/32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Major transitions (starting school, entering workforce, retiring, new parenthood) disrupt existing routines/settings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Create both genuine risk AND genuine opportunity for targeted intervention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New parent support groups (Lecture 4) specifically target the parenthood transition's isolation/stress risk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Directly echoes Amara's story (Lecture 1):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new motherhood + city move = existing settings disappear at once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Retirement similarly removes workplace social contact, contributing to isolation risk (Mr. Ellis, Lecture 2)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28/32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 promotion priorities shift significantly across the lifespan, prenatal through older adulthood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Fall prevention and social isolation are particularly important older adulthood priorities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Settings-based approach embeds promotion into schools, workplaces, healthcare, community organizations, and digital environments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Combining life-stage awareness with multiple reinforcing settings produces the most comprehensive strategy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Transitions between life stages deserve particular attention as vulnerable periods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Tricky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29/32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Which life stage receives the least adequate health promotion attention currently, and why?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Should schools be responsible for addressing health issues rooted in the home environment?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How can settings-based programs reach people disconnected from all formal institutions entirely?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Do digital health settings risk widening health inequity for those without reliable technology access?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30/32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WHO, "Health Promoting Schools" framework document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WHO, "Healthy Ageing" report series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CDC, "Workplace Health Promotion" resource guide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WHO's "Age-Friendly Cities and Communities" global network materials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Extended Tricky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31/32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Should funding shift toward older adult programs as populations age globally, even reducing funding elsewhere?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Could settings-based approaches exclude migrant workers or unhoused individuals who move between settings frequently?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How should programs adapt for multigenerational households with overlapping, different life-stage needs?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Further Reading (Extended)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WHO, "Global Strategy and Action Plan on Ageing and Health"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Lawrence St Leger, "Schools, Health Literacy and Public Health" (2001)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WHO "Healthy Cities" movement, case studies of integrated, multi-setting community programs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Promotion Across the Lifespan and Settings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