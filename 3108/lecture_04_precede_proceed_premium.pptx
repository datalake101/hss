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PRECEDE-PROCEED Model</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4</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"Begin with the end in mind."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What PRECEDE-PROCEED is and where it came from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The PRECEDE phases, working backward from quality of life to root causes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The PROCEED phases, moving forward from design through evaluation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Real-world adaptations and the CDC's PATCH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Critiques, limits, and when the model breaks down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this is the course's first full-cycle planning model, the shift from explaining health behavior to systematically designing interventions around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Outcomes Before Inputs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"The purpose of health education is to influence the voluntary actions of people to improve or maintain their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Lawrence W. Green, Health Education Planning: A Diagnostic Approach, 1980</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Origins: Thinking Backward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Problem with Conventional Program Planning:  </a:t>
            </a:r>
            <a:r>
              <a:rPr sz="1450" b="0">
                <a:solidFill>
                  <a:srgbClr val="373D42"/>
                </a:solidFill>
                <a:latin typeface="Segoe UI"/>
              </a:rPr>
              <a:t>most health promotion programs begin with an intervention someone already has in mind, a workshop, a pamphlet, a screening event, and work forward to justify it. The result is programs designed around what is convenient to deliver rather than what the community actually needs.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Lawrence Green's Reversal:  </a:t>
            </a:r>
            <a:r>
              <a:rPr sz="1450" b="0">
                <a:solidFill>
                  <a:srgbClr val="373D42"/>
                </a:solidFill>
                <a:latin typeface="Segoe UI"/>
              </a:rPr>
              <a:t>starting in the early 1970s at Johns Hopkins University, Green developed a planning model that insists on inverting this logic. Start with the quality-of-life outcome you want to produce. Work backward through every causal layer until you reach the factors that can be changed. Design the intervention only at the end of that process.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First Published:  </a:t>
            </a:r>
            <a:r>
              <a:rPr sz="1450" b="0">
                <a:solidFill>
                  <a:srgbClr val="373D42"/>
                </a:solidFill>
                <a:latin typeface="Segoe UI"/>
              </a:rPr>
              <a:t>Green, Kreuter, Deeds, and Partridge, Health Education Planning: A Diagnostic Approach (1980), Mayfield Publishing. Subsequent editions co-authored with Marshall Kreuter in 1991, 1999, 2005, and 2022 updated the model to incorporate ecological thinking and policy analysis.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Name:  </a:t>
            </a:r>
            <a:r>
              <a:rPr sz="1450" b="0">
                <a:solidFill>
                  <a:srgbClr val="373D42"/>
                </a:solidFill>
                <a:latin typeface="Segoe UI"/>
              </a:rPr>
              <a:t>PRECEDE stands for Predisposing, Reinforcing, and Enabling Constructs in Educational/Ecological Diagnosis and Evaluation. PROCEED stands for Policy, Regulatory, and Organizational Constructs in Educational and Environmental Development.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know the acronym expansions, the author and approximate origin date, and be able to explain the central design principle of working backward from outcomes.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Architecture of the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Two Halves, One Logic:  </a:t>
            </a:r>
            <a:r>
              <a:rPr sz="1500" b="0">
                <a:solidFill>
                  <a:srgbClr val="373D42"/>
                </a:solidFill>
                <a:latin typeface="Segoe UI"/>
              </a:rPr>
              <a:t>PRECEDE is the diagnostic half. PROCEED is the implementation and evaluation half. Together they form a complete planning cycle that begins with quality of life and ends with a measured outcome evaluation.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Mirroring Principle:  </a:t>
            </a:r>
            <a:r>
              <a:rPr sz="1500" b="0">
                <a:solidFill>
                  <a:srgbClr val="373D42"/>
                </a:solidFill>
                <a:latin typeface="Segoe UI"/>
              </a:rPr>
              <a:t>the assessment phases in PRECEDE run right-to-left conceptually, from the desired end state back to the root causes. The PROCEED phases then run left-to-right, from program design through implementation and three levels of evaluation. The model folds back on itself: evaluation data in PROCEED feeds back into reassessment in PRECEDE.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A Diagnostic Model, Not a Prescriptive One:  </a:t>
            </a:r>
            <a:r>
              <a:rPr sz="1500" b="0">
                <a:solidFill>
                  <a:srgbClr val="373D42"/>
                </a:solidFill>
                <a:latin typeface="Segoe UI"/>
              </a:rPr>
              <a:t>PRECEDE-PROCEED does not tell you which intervention to run. It tells you how to figure out what problem you are actually trying to solve, and what factors are driving it, before you decide what to do about it.</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Parable of the Architect:  </a:t>
            </a:r>
            <a:r>
              <a:rPr sz="1500" b="0">
                <a:solidFill>
                  <a:srgbClr val="373D42"/>
                </a:solidFill>
                <a:latin typeface="Segoe UI"/>
              </a:rPr>
              <a:t>no competent architect begins with a building. They begin with what the building must do for the people who will live and work in it. PRECEDE-PROCEED applies that logic to health promotion. The intervention is the building; the phases tell you what the building must accomplish.</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understand the two-phase architecture and the feedback loop between PROCEED evaluation and PRECEDE reassessment.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 Phase 1: Social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Question:  </a:t>
            </a:r>
            <a:r>
              <a:rPr sz="1500" b="0">
                <a:solidFill>
                  <a:srgbClr val="373D42"/>
                </a:solidFill>
                <a:latin typeface="Segoe UI"/>
              </a:rPr>
              <a:t>what does quality of life mean to this specific community? What do people experience as their most pressing problems and aspirations?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Why Start Here:  </a:t>
            </a:r>
            <a:r>
              <a:rPr sz="1500" b="0">
                <a:solidFill>
                  <a:srgbClr val="373D42"/>
                </a:solidFill>
                <a:latin typeface="Segoe UI"/>
              </a:rPr>
              <a:t>if the program designer defines the problem in advance, the intervention will solve the designer's problem, not the community's. Social assessment forces practitioners to begin with the community's own expressed priorities.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Methods:  </a:t>
            </a:r>
            <a:r>
              <a:rPr sz="1500" b="0">
                <a:solidFill>
                  <a:srgbClr val="373D42"/>
                </a:solidFill>
                <a:latin typeface="Segoe UI"/>
              </a:rPr>
              <a:t>participatory community assessment, key informant interviews, focus groups, community surveys, asset mapping, and review of existing social indicators (poverty rates, housing quality, educational attainment, employment data).</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Output:  </a:t>
            </a:r>
            <a:r>
              <a:rPr sz="1500" b="0">
                <a:solidFill>
                  <a:srgbClr val="373D42"/>
                </a:solidFill>
                <a:latin typeface="Segoe UI"/>
              </a:rPr>
              <a:t>a negotiated, community-grounded definition of quality of life and the social conditions that most affect it. This becomes the ultimate outcome the entire program is working toward.</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Critical Point:  </a:t>
            </a:r>
            <a:r>
              <a:rPr sz="1500" b="0">
                <a:solidFill>
                  <a:srgbClr val="373D42"/>
                </a:solidFill>
                <a:latin typeface="Segoe UI"/>
              </a:rPr>
              <a:t>social assessment is where community participation is most important and most often shortchanged. Programs that skip it or tokenize it tend to produce interventions that communities do not use, because the intervention answers the wrong question.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know that Phase 1 identifies quality-of-life priorities and that it requires genuine community engagement, not just practitioner assumption.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 Phase 2: Epidemiological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Question:  </a:t>
            </a:r>
            <a:r>
              <a:rPr sz="1500" b="0">
                <a:solidFill>
                  <a:srgbClr val="373D42"/>
                </a:solidFill>
                <a:latin typeface="Segoe UI"/>
              </a:rPr>
              <a:t>what specific health problems are most strongly linked to the quality-of-life issues the community identified? Which health outcomes, if improved, would produce the greatest gains in quality of life for this population?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Methods:  </a:t>
            </a:r>
            <a:r>
              <a:rPr sz="1500" b="0">
                <a:solidFill>
                  <a:srgbClr val="373D42"/>
                </a:solidFill>
                <a:latin typeface="Segoe UI"/>
              </a:rPr>
              <a:t>analysis of mortality and morbidity data, disease registry records, health service utilization data, vital statistics, and existing surveillance data for the target population.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Output:  </a:t>
            </a:r>
            <a:r>
              <a:rPr sz="1500" b="0">
                <a:solidFill>
                  <a:srgbClr val="373D42"/>
                </a:solidFill>
                <a:latin typeface="Segoe UI"/>
              </a:rPr>
              <a:t>a prioritized list of health problems, ranked by prevalence, severity, and changeability. Not every health problem needs a health promotion intervention. Epidemiological assessment identifies which ones do.</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Genetic and Behavioral Factors:  </a:t>
            </a:r>
            <a:r>
              <a:rPr sz="1500" b="0">
                <a:solidFill>
                  <a:srgbClr val="373D42"/>
                </a:solidFill>
                <a:latin typeface="Segoe UI"/>
              </a:rPr>
              <a:t>the updated model identifies the contributions of genetic endowment (not changeable by health promotion), and behavioral and environmental factors (the primary targets for intervention).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Discipline:  </a:t>
            </a:r>
            <a:r>
              <a:rPr sz="1500" b="0">
                <a:solidFill>
                  <a:srgbClr val="373D42"/>
                </a:solidFill>
                <a:latin typeface="Segoe UI"/>
              </a:rPr>
              <a:t>if a community identifies "feeling unsafe" as their top quality-of-life concern, and epidemiological assessment reveals high rates of anxiety disorders and interpersonal violence, the program must address those outcomes, not substitute a more convenient health topic.</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know that Phase 2 links community-identified quality-of-life priorities to specific health outcomes using epidemiological data.</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 Phase 3: Educational and Ecological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Question:  </a:t>
            </a:r>
            <a:r>
              <a:rPr sz="1400" b="0">
                <a:solidFill>
                  <a:srgbClr val="373D42"/>
                </a:solidFill>
                <a:latin typeface="Segoe UI"/>
              </a:rPr>
              <a:t>what behavioral and environmental factors most directly cause the health problems identified in Phase 2? And what are the educational and ecological determinants of those factors?</a:t>
            </a:r>
          </a:p>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Three Categories of Determinants: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Predisposing Factors:  </a:t>
            </a:r>
            <a:r>
              <a:rPr sz="1400" b="0">
                <a:solidFill>
                  <a:srgbClr val="373D42"/>
                </a:solidFill>
                <a:latin typeface="Segoe UI"/>
              </a:rPr>
              <a:t>the internal cognitive and affective antecedents of behavior. Knowledge, attitudes, beliefs, values, perceived self-efficacy. These are the factors the Health Belief Model and social cognitive theory operate in. They motivate behavior from within.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Enabling Factors:  </a:t>
            </a:r>
            <a:r>
              <a:rPr sz="1400" b="0">
                <a:solidFill>
                  <a:srgbClr val="373D42"/>
                </a:solidFill>
                <a:latin typeface="Segoe UI"/>
              </a:rPr>
              <a:t>the environmental and skill-based conditions that make behavior possible. Access to services, transportation, income, physical environment, the presence of resources, policy frameworks. A person may be motivated but structurally unable to act. Enabling factors determine whether motivation can translate into action.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Reinforcing Factors:  </a:t>
            </a:r>
            <a:r>
              <a:rPr sz="1400" b="0">
                <a:solidFill>
                  <a:srgbClr val="373D42"/>
                </a:solidFill>
                <a:latin typeface="Segoe UI"/>
              </a:rPr>
              <a:t>the rewards, punishments, feedback, and social support that follow behavior and determine whether it is sustained or abandoned. Peer norms, family responses, provider feedback, social incentives.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Output:  </a:t>
            </a:r>
            <a:r>
              <a:rPr sz="1400" b="0">
                <a:solidFill>
                  <a:srgbClr val="373D42"/>
                </a:solidFill>
                <a:latin typeface="Segoe UI"/>
              </a:rPr>
              <a:t>a diagnostic map identifying which factors in each category are most important in causing the health problem in this specific population.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three categories (predisposing, reinforcing, enabling), be able to define each, and give an applied example for a specific health behavior.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 Phase 4: Administrative and Policy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Question:  </a:t>
            </a:r>
            <a:r>
              <a:rPr sz="1500" b="0">
                <a:solidFill>
                  <a:srgbClr val="373D42"/>
                </a:solidFill>
                <a:latin typeface="Segoe UI"/>
              </a:rPr>
              <a:t>what organizational and policy capacities, resources, and constraints will shape what interventions are actually feasible in this setting?</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Resource Assessment:  </a:t>
            </a:r>
            <a:r>
              <a:rPr sz="1500" b="0">
                <a:solidFill>
                  <a:srgbClr val="373D42"/>
                </a:solidFill>
                <a:latin typeface="Segoe UI"/>
              </a:rPr>
              <a:t>what staff, budget, time, infrastructure, and partnerships are realistically available? An evidence-based program that requires resources the organization does not have is not a plan; it is a wish.</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Policy Alignment:  </a:t>
            </a:r>
            <a:r>
              <a:rPr sz="1500" b="0">
                <a:solidFill>
                  <a:srgbClr val="373D42"/>
                </a:solidFill>
                <a:latin typeface="Segoe UI"/>
              </a:rPr>
              <a:t>are there existing regulations, organizational policies, or funding structures that support or constrain the planned intervention? A school-based nutrition program needs the school board's policy framework. A workplace wellness initiative needs management buy-in.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Barriers and Facilitators:  </a:t>
            </a:r>
            <a:r>
              <a:rPr sz="1500" b="0">
                <a:solidFill>
                  <a:srgbClr val="373D42"/>
                </a:solidFill>
                <a:latin typeface="Segoe UI"/>
              </a:rPr>
              <a:t>what organizational cultures, professional tensions, or political dynamics will affect implementation? Phase 4 is where implementation science meets program planning.</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Output:  </a:t>
            </a:r>
            <a:r>
              <a:rPr sz="1500" b="0">
                <a:solidFill>
                  <a:srgbClr val="373D42"/>
                </a:solidFill>
                <a:latin typeface="Segoe UI"/>
              </a:rPr>
              <a:t>a realistic assessment of what can be delivered with what resources in what timeframe, and what enabling policy or organizational conditions must be created before program delivery begins.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Critical Insight:  </a:t>
            </a:r>
            <a:r>
              <a:rPr sz="1500" b="0">
                <a:solidFill>
                  <a:srgbClr val="373D42"/>
                </a:solidFill>
                <a:latin typeface="Segoe UI"/>
              </a:rPr>
              <a:t>many evidence-based programs fail not because the evidence is wrong, but because Phase 4 was skipped and the implementation environment was never assessed or prepared.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Before we move to PROCEED: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PRECEDE-PROCEED insists you diagnose the social and epidemiological problem rigorously before touching an intervention. In an actual disease outbreak, when people are sick and dying now, is that diagnostic discipline a genuine strength, or a luxury that the urgency of the situation makes unaffordable?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Phase 1 says quality-of-life goals should be defined by the community. But what happens when the community's expressed quality-of-life priority is something the health practitioner does not recognize as a health issue, or disagrees with? Who wins that negotiation, and should they?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Can an eight-phase model built for multi-year program cycles survive contact with a health department running on a twelve-month grant cycle and a reporting requirement that asks for outcomes before the intervention is fully implemented?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PROCEED Phase 5: Implementation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Turn:  </a:t>
            </a:r>
            <a:r>
              <a:rPr sz="1500" b="0">
                <a:solidFill>
                  <a:srgbClr val="373D42"/>
                </a:solidFill>
                <a:latin typeface="Segoe UI"/>
              </a:rPr>
              <a:t>after four phases of diagnosis, Phase 5 is where the intervention actually begins. But PROCEED frames implementation not as a free-standing event but as the execution of a plan whose design was entirely determined by the preceding diagnosis.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What Changes at This Phase:  </a:t>
            </a:r>
            <a:r>
              <a:rPr sz="1500" b="0">
                <a:solidFill>
                  <a:srgbClr val="373D42"/>
                </a:solidFill>
                <a:latin typeface="Segoe UI"/>
              </a:rPr>
              <a:t>a fully developed PRECEDE assessment means the implementation team knows exactly which predisposing, reinforcing, and enabling factors they are targeting, which populations they are targeting, what evidence base supports each component, and what evaluation framework will measure success.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Implementation Fidelity:  </a:t>
            </a:r>
            <a:r>
              <a:rPr sz="1500" b="0">
                <a:solidFill>
                  <a:srgbClr val="373D42"/>
                </a:solidFill>
                <a:latin typeface="Segoe UI"/>
              </a:rPr>
              <a:t>one of the most consistent findings in health promotion research is the gap between what a program looks like in its design and what it looks like after six months of real-world delivery. Phase 5 requires active monitoring of fidelity alongside delivery.</a:t>
            </a:r>
          </a:p>
          <a:p>
            <a:pPr marL="347472" indent="-347472">
              <a:lnSpc>
                <a:spcPct val="114000"/>
              </a:lnSpc>
              <a:spcAft>
                <a:spcPts val="869"/>
              </a:spcAft>
              <a:buNone/>
            </a:pPr>
            <a:r>
              <a:rPr sz="1500" b="0">
                <a:solidFill>
                  <a:srgbClr val="373D42"/>
                </a:solidFill>
                <a:latin typeface="Segoe UI"/>
              </a:rPr>
              <a:t>🌱  </a:t>
            </a:r>
            <a:r>
              <a:rPr sz="1500" b="0">
                <a:solidFill>
                  <a:srgbClr val="373D42"/>
                </a:solidFill>
                <a:latin typeface="Segoe UI"/>
              </a:rPr>
              <a:t>Adaptation vs. Drift: some adaptation to local context is both inevitable and appropriate. Unplanned drift away from evidence-based components, on the other hand, typically reduces effectiveness. The distinction matters.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know that Phase 5 is implementation and that the quality of implementation is inseparable from the quality of the diagnostic phases that preceded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PROCEED Phases 6-8: A Three-Level Evaluation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6, Process Evaluation:  </a:t>
            </a:r>
            <a:r>
              <a:rPr sz="1450" b="0">
                <a:solidFill>
                  <a:srgbClr val="373D42"/>
                </a:solidFill>
                <a:latin typeface="Segoe UI"/>
              </a:rPr>
              <a:t>was the program delivered as planned? Did participants show up, engage, and receive the intended dose? Process evaluation documents implementation fidelity, reach, and participant engagement. It tells you whether you ran the program you designed.</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7, Impact Evaluation:  </a:t>
            </a:r>
            <a:r>
              <a:rPr sz="1450" b="0">
                <a:solidFill>
                  <a:srgbClr val="373D42"/>
                </a:solidFill>
                <a:latin typeface="Segoe UI"/>
              </a:rPr>
              <a:t>did the program change the intermediate targets identified in PRECEDE? Specifically: did predisposing factors (knowledge, attitudes, beliefs) change? Did enabling factors (access, skills) improve? Did reinforcing factors (social norms, peer support) shift? Impact evaluation measures the causal pathways between the intervention and the health outcome.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8, Outcome Evaluation:  </a:t>
            </a:r>
            <a:r>
              <a:rPr sz="1450" b="0">
                <a:solidFill>
                  <a:srgbClr val="373D42"/>
                </a:solidFill>
                <a:latin typeface="Segoe UI"/>
              </a:rPr>
              <a:t>did the program change the health outcomes and quality-of-life indicators identified in Phases 1 and 2? This is the ultimate test. Outcome evaluation requires the longest follow-up period and the most rigorous design (ideally a control or comparison condition).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Critical Insight:  </a:t>
            </a:r>
            <a:r>
              <a:rPr sz="1450" b="0">
                <a:solidFill>
                  <a:srgbClr val="373D42"/>
                </a:solidFill>
                <a:latin typeface="Segoe UI"/>
              </a:rPr>
              <a:t>most health promotion programs that claim to show "outcomes" are actually showing "impacts," changes in knowledge, attitudes, or short-term behavior rather than demonstrated changes in health status or quality of life. The three-level framework makes this distinction explicit.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be able to distinguish process, impact, and outcome evaluation, and explain why conflating them produces misleading conclusions about program effectiveness.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Feedback Loop: How PROCEED Informs PRECEDE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The Model Is Circular, Not Linear:  </a:t>
            </a:r>
            <a:r>
              <a:rPr sz="1750" b="0">
                <a:solidFill>
                  <a:srgbClr val="373D42"/>
                </a:solidFill>
                <a:latin typeface="Segoe UI"/>
              </a:rPr>
              <a:t>evaluation data generated in PROCEED feeds back into reassessment in PRECEDE. If outcome evaluation shows the health problem has not changed, the data re-enters the diagnostic cycle to ask why.</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If Process Evaluation Reveals Poor Fidelity:  </a:t>
            </a:r>
            <a:r>
              <a:rPr sz="1750" b="0">
                <a:solidFill>
                  <a:srgbClr val="373D42"/>
                </a:solidFill>
                <a:latin typeface="Segoe UI"/>
              </a:rPr>
              <a:t>the question returns to Phase 4, was the administrative and policy environment adequately prepared to support implementation?</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If Impact Evaluation Shows No Change in Predisposing Factors:  </a:t>
            </a:r>
            <a:r>
              <a:rPr sz="1750" b="0">
                <a:solidFill>
                  <a:srgbClr val="373D42"/>
                </a:solidFill>
                <a:latin typeface="Segoe UI"/>
              </a:rPr>
              <a:t>the question returns to Phase 3, was the educational diagnosis correct? Were the right predisposing factors targeted?</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If Outcome Evaluation Shows No Health Change Despite Behavioral Change: the question returns to Phase 2, was the behavioral factor that changed actually causally linked to the health outcome?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This Iterative Logic is What Separates PRECEDE-PROCEED from Simple Program Planning: it is designed to learn from failure systematically rather than treating evaluation as a compliance activity.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Real-World Application: CDC PATCH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PATCH:  </a:t>
            </a:r>
            <a:r>
              <a:rPr sz="1550" b="0">
                <a:solidFill>
                  <a:srgbClr val="373D42"/>
                </a:solidFill>
                <a:latin typeface="Segoe UI"/>
              </a:rPr>
              <a:t>the Planned Approach to Community Health, developed by the US Centers for Disease Control and Prevention in the mid-1980s as a simplified, community-applicable adaptation of Green's PRECEDE-PROCEED framework for state and local health departments.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Core Adaptation:  </a:t>
            </a:r>
            <a:r>
              <a:rPr sz="1550" b="0">
                <a:solidFill>
                  <a:srgbClr val="373D42"/>
                </a:solidFill>
                <a:latin typeface="Segoe UI"/>
              </a:rPr>
              <a:t>PATCH maintained the central principle of community-grounded diagnosis and multi-level planning while translating the academic model into a practical guide accessible to health department staff without graduate training in health promotion theory.</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Structure:  </a:t>
            </a:r>
            <a:r>
              <a:rPr sz="1550" b="0">
                <a:solidFill>
                  <a:srgbClr val="373D42"/>
                </a:solidFill>
                <a:latin typeface="Segoe UI"/>
              </a:rPr>
              <a:t>PATCH organized community mobilization, data collection, priority-setting, intervention design, and evaluation into a manageable process for communities with limited technical capacity and short planning timelines.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Lesson:  </a:t>
            </a:r>
            <a:r>
              <a:rPr sz="1550" b="0">
                <a:solidFill>
                  <a:srgbClr val="373D42"/>
                </a:solidFill>
                <a:latin typeface="Segoe UI"/>
              </a:rPr>
              <a:t>even a sophisticated multi-phase diagnostic model can be productively adapted for real-world contexts without abandoning its core logic. The adaptation trade-off is speed and simplicity versus diagnostic depth.</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Critical Observation:  </a:t>
            </a:r>
            <a:r>
              <a:rPr sz="1550" b="0">
                <a:solidFill>
                  <a:srgbClr val="373D42"/>
                </a:solidFill>
                <a:latin typeface="Segoe UI"/>
              </a:rPr>
              <a:t>PATCH and similar simplified adaptations tend to produce faster program delivery at the cost of the thorough Phase 1-4 assessment that makes PRECEDE-PROCEED's downstream evaluation meaningful.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PRECEDE-PROCEED in Practice: A Tobacco Control Example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Phase 1, Social Assessment:  </a:t>
            </a:r>
            <a:r>
              <a:rPr sz="1350" b="0">
                <a:solidFill>
                  <a:srgbClr val="373D42"/>
                </a:solidFill>
                <a:latin typeface="Segoe UI"/>
              </a:rPr>
              <a:t>a rural county identifies early death, chronic illness, and lost economic productivity as its top quality-of-life concerns. Community interviews emphasize fear of dying young like their parents.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Phase 2, Epidemiological Assessment:  </a:t>
            </a:r>
            <a:r>
              <a:rPr sz="1350" b="0">
                <a:solidFill>
                  <a:srgbClr val="373D42"/>
                </a:solidFill>
                <a:latin typeface="Segoe UI"/>
              </a:rPr>
              <a:t>analysis of county health records shows lung cancer mortality is 1.4 times the national average; smoking prevalence among adults 25-54 is 34% vs. a national rate of 14%.</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Phase 3, Educational and Ecological Assessment:  </a:t>
            </a:r>
            <a:r>
              <a:rPr sz="1350" b="0">
                <a:solidFill>
                  <a:srgbClr val="373D42"/>
                </a:solidFill>
                <a:latin typeface="Segoe UI"/>
              </a:rPr>
              <a:t>predisposing factors include low perceived susceptibility among young adult smokers, weak belief in cessation medication efficacy, and fatalistic attitudes about addiction. Enabling factors: no cessation clinics within 45 km, no covered pharmacotherapy. Reinforcing factors: high smoking prevalence in workplaces and social circles; no social norm of cessation.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Phase 4, Administrative Assessment:  </a:t>
            </a:r>
            <a:r>
              <a:rPr sz="1350" b="0">
                <a:solidFill>
                  <a:srgbClr val="373D42"/>
                </a:solidFill>
                <a:latin typeface="Segoe UI"/>
              </a:rPr>
              <a:t>county health department has two staff, a twelve-month grant, and a relationship with two local employers and the school board. No pharmacotherapy budget.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PROCEED Design:  </a:t>
            </a:r>
            <a:r>
              <a:rPr sz="1350" b="0">
                <a:solidFill>
                  <a:srgbClr val="373D42"/>
                </a:solidFill>
                <a:latin typeface="Segoe UI"/>
              </a:rPr>
              <a:t>a multi-component intervention targeting all three factor types (educational workshops for predisposing factors, pharmacotherapy vouchers and telehealth cessation coaching for enabling factors, employer policy change for reinforcing factors) with a twelve-month process, impact, and eighteen-month outcome evaluation plan built in from the start.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walk through a realistic health problem across all four PRECEDE phases and name what factor type each identified variable belongs to.</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PRECEDE-PROCEED Flow Diagram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Chart type:  </a:t>
            </a:r>
            <a:r>
              <a:rPr sz="1250" b="0">
                <a:solidFill>
                  <a:srgbClr val="373D42"/>
                </a:solidFill>
                <a:latin typeface="Segoe UI"/>
              </a:rPr>
              <a:t>mirrored horizontal flow diagram</a:t>
            </a:r>
          </a:p>
          <a:p>
            <a:pPr marL="347472" indent="-347472">
              <a:lnSpc>
                <a:spcPct val="114000"/>
              </a:lnSpc>
              <a:spcAft>
                <a:spcPts val="437"/>
              </a:spcAft>
              <a:buNone/>
            </a:pPr>
            <a:r>
              <a:rPr sz="1250" b="0">
                <a:solidFill>
                  <a:srgbClr val="373D42"/>
                </a:solidFill>
                <a:latin typeface="Segoe UI"/>
              </a:rPr>
              <a:t>🌱  </a:t>
            </a:r>
            <a:r>
              <a:rPr sz="1250" b="0">
                <a:solidFill>
                  <a:srgbClr val="373D42"/>
                </a:solidFill>
                <a:latin typeface="Segoe UI"/>
              </a:rPr>
              <a:t>Left-to-right progression of boxes:</a:t>
            </a:r>
          </a:p>
          <a:p>
            <a:pPr marL="347472" indent="-347472">
              <a:lnSpc>
                <a:spcPct val="114000"/>
              </a:lnSpc>
              <a:spcAft>
                <a:spcPts val="437"/>
              </a:spcAft>
              <a:buNone/>
            </a:pPr>
            <a:r>
              <a:rPr sz="1250" b="0">
                <a:solidFill>
                  <a:srgbClr val="373D42"/>
                </a:solidFill>
                <a:latin typeface="Segoe UI"/>
              </a:rPr>
              <a:t>🌱  </a:t>
            </a:r>
            <a:r>
              <a:rPr sz="1250" b="0">
                <a:solidFill>
                  <a:srgbClr val="373D42"/>
                </a:solidFill>
                <a:latin typeface="Segoe UI"/>
              </a:rPr>
              <a:t>PRECEDE (diagnostic, read right-to-left conceptually):</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A:  </a:t>
            </a:r>
            <a:r>
              <a:rPr sz="1250" b="0">
                <a:solidFill>
                  <a:srgbClr val="373D42"/>
                </a:solidFill>
                <a:latin typeface="Segoe UI"/>
              </a:rPr>
              <a:t>Quality of Life (Phase 1, Social Assessment)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B:  </a:t>
            </a:r>
            <a:r>
              <a:rPr sz="1250" b="0">
                <a:solidFill>
                  <a:srgbClr val="373D42"/>
                </a:solidFill>
                <a:latin typeface="Segoe UI"/>
              </a:rPr>
              <a:t>Health Status and Health Problems (Phase 2, Epidemiological Assessment)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C:  </a:t>
            </a:r>
            <a:r>
              <a:rPr sz="1250" b="0">
                <a:solidFill>
                  <a:srgbClr val="373D42"/>
                </a:solidFill>
                <a:latin typeface="Segoe UI"/>
              </a:rPr>
              <a:t>Behavioral and Environmental Factors (Phase 3, Educational/Ecological Assessment): subdivided into Predisposing Factors (top), Enabling Factors (middle), Reinforcing Factors (bottom)</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D:  </a:t>
            </a:r>
            <a:r>
              <a:rPr sz="1250" b="0">
                <a:solidFill>
                  <a:srgbClr val="373D42"/>
                </a:solidFill>
                <a:latin typeface="Segoe UI"/>
              </a:rPr>
              <a:t>Administrative and Policy Factors (Phase 4)</a:t>
            </a:r>
          </a:p>
          <a:p>
            <a:pPr marL="347472" indent="-347472">
              <a:lnSpc>
                <a:spcPct val="114000"/>
              </a:lnSpc>
              <a:spcAft>
                <a:spcPts val="437"/>
              </a:spcAft>
              <a:buNone/>
            </a:pPr>
            <a:r>
              <a:rPr sz="1250" b="0">
                <a:solidFill>
                  <a:srgbClr val="373D42"/>
                </a:solidFill>
                <a:latin typeface="Segoe UI"/>
              </a:rPr>
              <a:t>🌱  </a:t>
            </a:r>
            <a:r>
              <a:rPr sz="1250" b="0">
                <a:solidFill>
                  <a:srgbClr val="373D42"/>
                </a:solidFill>
                <a:latin typeface="Segoe UI"/>
              </a:rPr>
              <a:t>Arrow pointing left from B to A; left from C to B; left from D to C</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Label above the PRECEDE arrows:  </a:t>
            </a:r>
            <a:r>
              <a:rPr sz="1250" b="0">
                <a:solidFill>
                  <a:srgbClr val="373D42"/>
                </a:solidFill>
                <a:latin typeface="Segoe UI"/>
              </a:rPr>
              <a:t>"Diagnosis: working backward from outcomes"</a:t>
            </a:r>
          </a:p>
          <a:p>
            <a:pPr marL="347472" indent="-347472">
              <a:lnSpc>
                <a:spcPct val="114000"/>
              </a:lnSpc>
              <a:spcAft>
                <a:spcPts val="437"/>
              </a:spcAft>
              <a:buNone/>
            </a:pPr>
            <a:r>
              <a:rPr sz="1250" b="0">
                <a:solidFill>
                  <a:srgbClr val="373D42"/>
                </a:solidFill>
                <a:latin typeface="Segoe UI"/>
              </a:rPr>
              <a:t>🌱  </a:t>
            </a:r>
            <a:r>
              <a:rPr sz="1250" b="0">
                <a:solidFill>
                  <a:srgbClr val="373D42"/>
                </a:solidFill>
                <a:latin typeface="Segoe UI"/>
              </a:rPr>
              <a:t>PROCEED (implementation and evaluation, read left-to-right):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E:  </a:t>
            </a:r>
            <a:r>
              <a:rPr sz="1250" b="0">
                <a:solidFill>
                  <a:srgbClr val="373D42"/>
                </a:solidFill>
                <a:latin typeface="Segoe UI"/>
              </a:rPr>
              <a:t>Program Implementation (Phase 5)</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F:  </a:t>
            </a:r>
            <a:r>
              <a:rPr sz="1250" b="0">
                <a:solidFill>
                  <a:srgbClr val="373D42"/>
                </a:solidFill>
                <a:latin typeface="Segoe UI"/>
              </a:rPr>
              <a:t>Process Evaluation (Phase 6)</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G:  </a:t>
            </a:r>
            <a:r>
              <a:rPr sz="1250" b="0">
                <a:solidFill>
                  <a:srgbClr val="373D42"/>
                </a:solidFill>
                <a:latin typeface="Segoe UI"/>
              </a:rPr>
              <a:t>Impact Evaluation (Phase 7)</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Box H:  </a:t>
            </a:r>
            <a:r>
              <a:rPr sz="1250" b="0">
                <a:solidFill>
                  <a:srgbClr val="373D42"/>
                </a:solidFill>
                <a:latin typeface="Segoe UI"/>
              </a:rPr>
              <a:t>Outcome Evaluation (Phase 8)</a:t>
            </a:r>
          </a:p>
          <a:p>
            <a:pPr marL="347472" indent="-347472">
              <a:lnSpc>
                <a:spcPct val="114000"/>
              </a:lnSpc>
              <a:spcAft>
                <a:spcPts val="437"/>
              </a:spcAft>
              <a:buNone/>
            </a:pPr>
            <a:r>
              <a:rPr sz="1250" b="0">
                <a:solidFill>
                  <a:srgbClr val="373D42"/>
                </a:solidFill>
                <a:latin typeface="Segoe UI"/>
              </a:rPr>
              <a:t>🌱  </a:t>
            </a:r>
            <a:r>
              <a:rPr sz="1250" b="0">
                <a:solidFill>
                  <a:srgbClr val="373D42"/>
                </a:solidFill>
                <a:latin typeface="Segoe UI"/>
              </a:rPr>
              <a:t>Arrows pointing right from E through F through G to H</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Label above the PROCEED arrows:  </a:t>
            </a:r>
            <a:r>
              <a:rPr sz="1250" b="0">
                <a:solidFill>
                  <a:srgbClr val="373D42"/>
                </a:solidFill>
                <a:latin typeface="Segoe UI"/>
              </a:rPr>
              <a:t>"Implementation and Evaluation: working forward"</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Feedback arrow:  </a:t>
            </a:r>
            <a:r>
              <a:rPr sz="1250" b="0">
                <a:solidFill>
                  <a:srgbClr val="373D42"/>
                </a:solidFill>
                <a:latin typeface="Segoe UI"/>
              </a:rPr>
              <a:t>a curved arrow from Box H (Outcome Evaluation) looping back left to Box A (Quality of Life), labeled "Feedback informs reassessment"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Source:  </a:t>
            </a:r>
            <a:r>
              <a:rPr sz="1250" b="0">
                <a:solidFill>
                  <a:srgbClr val="373D42"/>
                </a:solidFill>
                <a:latin typeface="Segoe UI"/>
              </a:rPr>
              <a:t>Green and Kreuter, Health Program Planning (various editions). Illustrative.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Kim et al. (2022): PRECEDE-PROCEED Systematic Review</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Citation:  </a:t>
            </a:r>
            <a:r>
              <a:rPr sz="1600" b="0">
                <a:solidFill>
                  <a:srgbClr val="373D42"/>
                </a:solidFill>
                <a:latin typeface="Segoe UI"/>
              </a:rPr>
              <a:t>Kim, J., Jang, J., Kim, B., and Lee, K.H. (2022). Effect of the PRECEDE-PROCEED model on health programs: a systematic review and meta-analysis. Systematic Reviews, 11, 213.</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Finding:  </a:t>
            </a:r>
            <a:r>
              <a:rPr sz="1600" b="0">
                <a:solidFill>
                  <a:srgbClr val="373D42"/>
                </a:solidFill>
                <a:latin typeface="Segoe UI"/>
              </a:rPr>
              <a:t>Kim and colleagues conducted a systematic review of 26 intervention studies that applied the PRECEDE-PROCEED model across diverse health domains, including chronic disease management, cancer prevention, and behavioral health. The meta-analysis, which focused on knowledge as the primary measurable outcome, found that interventions using the model consistently improved health knowledge compared to control conditions, though the authors noted significant variability in how rigorously the full diagnostic framework had been applied across studies. Programs that engaged more completely with the multi-phase assessment tended to show stronger and more sustained effects.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Relevance:  </a:t>
            </a:r>
            <a:r>
              <a:rPr sz="1600" b="0">
                <a:solidFill>
                  <a:srgbClr val="373D42"/>
                </a:solidFill>
                <a:latin typeface="Segoe UI"/>
              </a:rPr>
              <a:t>This review provides the first systematic quantitative synthesis of PRECEDE-PROCEED's effectiveness across programs, and its finding that partial application of the model produces weaker results directly validates the model's insistence on completing the full diagnostic cycle rather than cherry-picking its components.</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Critical Flaw: When the Model Runs Into Reality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Resource Intensity:  </a:t>
            </a:r>
            <a:r>
              <a:rPr sz="1400" b="0">
                <a:solidFill>
                  <a:srgbClr val="373D42"/>
                </a:solidFill>
                <a:latin typeface="Segoe UI"/>
              </a:rPr>
              <a:t>completing all four PRECEDE phases properly requires substantial time (typically 12-24 months before implementation begins), significant community engagement infrastructure, and epidemiological data that many under-resourced health departments do not have.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Grant Cycle Problem:  </a:t>
            </a:r>
            <a:r>
              <a:rPr sz="1400" b="0">
                <a:solidFill>
                  <a:srgbClr val="373D42"/>
                </a:solidFill>
                <a:latin typeface="Segoe UI"/>
              </a:rPr>
              <a:t>most health promotion funding arrives on 12-month grant cycles with reporting requirements that ask for measurable outcomes before a rigorous PRECEDE-PROCEED process could possibly have reached implementation. The model was designed for the kind of program planning that the funding environment rarely permits.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Crisis Incompatibility:  </a:t>
            </a:r>
            <a:r>
              <a:rPr sz="1400" b="0">
                <a:solidFill>
                  <a:srgbClr val="373D42"/>
                </a:solidFill>
                <a:latin typeface="Segoe UI"/>
              </a:rPr>
              <a:t>in a disease outbreak, a natural disaster, or an acute community health emergency, the discipline of beginning with social assessment is not a strength. It is a design feature that is actively counterproductive when speed of response is the primary variable.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Partial Application:  </a:t>
            </a:r>
            <a:r>
              <a:rPr sz="1400" b="0">
                <a:solidFill>
                  <a:srgbClr val="373D42"/>
                </a:solidFill>
                <a:latin typeface="Segoe UI"/>
              </a:rPr>
              <a:t>because the full model is demanding, many practitioners apply only the educational/ecological assessment phase (Phase 3) and skip the social and epidemiological diagnosis. This produces programs that target predisposing, reinforcing, and enabling factors without having rigorously established which health outcome they are targeting or whether those factors actually drive it.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Critical Flaw Exam Line:  </a:t>
            </a:r>
            <a:r>
              <a:rPr sz="1400" b="0">
                <a:solidFill>
                  <a:srgbClr val="373D42"/>
                </a:solidFill>
                <a:latin typeface="Segoe UI"/>
              </a:rPr>
              <a:t>PRECEDE-PROCEED's greatest strength, its insistence on comprehensive diagnosis before intervention design, is also its primary limitation in fast-moving, resource-constrained real-world settings.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Harder questions:</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If the same eight-phase model can plan a smoking cessation campaign, a maternal health program, and a vaccination initiative with equal methodological rigor, does "rigor" mean the model is genuinely versatile, or does it mean the model is too generic to give meaningful guidance in any specific case?</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Who gets a seat at the table during Phase 1's social assessment? Community leaders are not the same as community members. Organized community groups are not the same as the most marginalized people in the community. Whose quality-of-life goals quietly get left out of the negotiation, and what structural forces determine that?</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PROCEED's three-level evaluation framework distinguishes process, impact, and outcome. But most funders only ask for outcomes, and most timelines are too short to measure them. Does that mean most health promotion programs are structurally unable to know whether they worked?</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If a PRECEDE-PROCEED assessment honestly concludes that the most powerful lever for the identified health problem is a policy change the health department has no authority to make, what is the practitioner's obligation?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Comparing the Three Frameworks So Far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Health Belief Model (Lecture 3):  </a:t>
            </a:r>
            <a:r>
              <a:rPr sz="1500" b="0">
                <a:solidFill>
                  <a:srgbClr val="373D42"/>
                </a:solidFill>
                <a:latin typeface="Segoe UI"/>
              </a:rPr>
              <a:t>explains why an individual does or does not perceive sufficient reason to take a health action. Unit of analysis: the individual's belief system. Best use: diagnosing which cognitive barrier to target in a communication campaign.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Social Ecological Model (Lecture 3):  </a:t>
            </a:r>
            <a:r>
              <a:rPr sz="1500" b="0">
                <a:solidFill>
                  <a:srgbClr val="373D42"/>
                </a:solidFill>
                <a:latin typeface="Segoe UI"/>
              </a:rPr>
              <a:t>maps the nested levels of influence (intrapersonal through policy) that shape health behavior. Unit of analysis: the individual embedded in a system. Best use: designing multi-level interventions and identifying leverage points across levels.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PRECEDE-PROCEED (this lecture):  </a:t>
            </a:r>
            <a:r>
              <a:rPr sz="1500" b="0">
                <a:solidFill>
                  <a:srgbClr val="373D42"/>
                </a:solidFill>
                <a:latin typeface="Segoe UI"/>
              </a:rPr>
              <a:t>a systematic planning process that moves from quality-of-life diagnosis through epidemiological and behavioral assessment to program design and evaluation. Unit of analysis: the full program planning cycle. Best use: designing, implementing, and evaluating a complete health promotion program with a built-in evaluation framework.</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Relationship:  </a:t>
            </a:r>
            <a:r>
              <a:rPr sz="1500" b="0">
                <a:solidFill>
                  <a:srgbClr val="373D42"/>
                </a:solidFill>
                <a:latin typeface="Segoe UI"/>
              </a:rPr>
              <a:t>HBM informs what Phase 3 looks for in predisposing factors. SEM provides the ecological framework that Phase 3 uses to categorize enabling and environmental factors. PRECEDE-PROCEED is the planning architecture that decides when, where, and how to apply both.</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be able to explain how these three frameworks relate to and complement each other, not just define each one independently.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Why This Model Matters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Core Contribution:  </a:t>
            </a:r>
            <a:r>
              <a:rPr sz="1600" b="0">
                <a:solidFill>
                  <a:srgbClr val="373D42"/>
                </a:solidFill>
                <a:latin typeface="Segoe UI"/>
              </a:rPr>
              <a:t>PRECEDE-PROCEED changed health promotion program planning from an intuitive art practiced by well-meaning individuals into a disciplined, evidence-anchored, community-grounded diagnostic process.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Accountability It Creates:  </a:t>
            </a:r>
            <a:r>
              <a:rPr sz="1600" b="0">
                <a:solidFill>
                  <a:srgbClr val="373D42"/>
                </a:solidFill>
                <a:latin typeface="Segoe UI"/>
              </a:rPr>
              <a:t>by insisting on a quality-of-life outcome defined by the community and measured in outcome evaluation, the model makes program designers accountable to something other than their own intentions. The question is not "did we run a good program?" but "did quality of life improve for the people we were trying to reach?"</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Tension It Names:  </a:t>
            </a:r>
            <a:r>
              <a:rPr sz="1600" b="0">
                <a:solidFill>
                  <a:srgbClr val="373D42"/>
                </a:solidFill>
                <a:latin typeface="Segoe UI"/>
              </a:rPr>
              <a:t>the model acknowledges, through the administrative and policy assessment phase, that what is evidence-based and what is organizationally feasible are not the same thing. That tension is not a failure of the model; it is a feature. Health promotion practitioners live in that tension.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Humility It Requires:  </a:t>
            </a:r>
            <a:r>
              <a:rPr sz="1600" b="0">
                <a:solidFill>
                  <a:srgbClr val="373D42"/>
                </a:solidFill>
                <a:latin typeface="Segoe UI"/>
              </a:rPr>
              <a:t>a practitioner who completes all four PRECEDE phases may conclude that the most important determinant of the health problem is a factor they cannot change: poverty, housing insecurity, structural racism. The model does not resolve that; it exposes it, and that is its most important function.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PRECEDE:  </a:t>
            </a:r>
            <a:r>
              <a:rPr sz="1400" b="0">
                <a:solidFill>
                  <a:srgbClr val="373D42"/>
                </a:solidFill>
                <a:latin typeface="Segoe UI"/>
              </a:rPr>
              <a:t>Predisposing, Reinforcing, and Enabling Constructs in Educational/Ecological Diagnosis and Evaluation. The diagnostic half of the model.</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PROCEED:  </a:t>
            </a:r>
            <a:r>
              <a:rPr sz="1400" b="0">
                <a:solidFill>
                  <a:srgbClr val="373D42"/>
                </a:solidFill>
                <a:latin typeface="Segoe UI"/>
              </a:rPr>
              <a:t>Policy, Regulatory, and Organizational Constructs in Educational and Environmental Development. The implementation and evaluation half.</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Predisposing Factors:  </a:t>
            </a:r>
            <a:r>
              <a:rPr sz="1400" b="0">
                <a:solidFill>
                  <a:srgbClr val="373D42"/>
                </a:solidFill>
                <a:latin typeface="Segoe UI"/>
              </a:rPr>
              <a:t>internal cognitive and affective antecedents of behavior: knowledge, attitudes, beliefs, values, self-efficacy.</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Enabling Factors:  </a:t>
            </a:r>
            <a:r>
              <a:rPr sz="1400" b="0">
                <a:solidFill>
                  <a:srgbClr val="373D42"/>
                </a:solidFill>
                <a:latin typeface="Segoe UI"/>
              </a:rPr>
              <a:t>environmental and skill-based conditions that make behavior possible: access, resources, policies, physical environment, income.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Reinforcing Factors:  </a:t>
            </a:r>
            <a:r>
              <a:rPr sz="1400" b="0">
                <a:solidFill>
                  <a:srgbClr val="373D42"/>
                </a:solidFill>
                <a:latin typeface="Segoe UI"/>
              </a:rPr>
              <a:t>rewards, social support, feedback, and normative influences that follow behavior and sustain or extinguish it.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Process Evaluation:  </a:t>
            </a:r>
            <a:r>
              <a:rPr sz="1400" b="0">
                <a:solidFill>
                  <a:srgbClr val="373D42"/>
                </a:solidFill>
                <a:latin typeface="Segoe UI"/>
              </a:rPr>
              <a:t>assessment of whether the program was delivered as planned (fidelity, reach, dose).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Impact Evaluation:  </a:t>
            </a:r>
            <a:r>
              <a:rPr sz="1400" b="0">
                <a:solidFill>
                  <a:srgbClr val="373D42"/>
                </a:solidFill>
                <a:latin typeface="Segoe UI"/>
              </a:rPr>
              <a:t>assessment of whether the program changed the intermediate determinants (predisposing, enabling, reinforcing factors) it was designed to address.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Outcome Evaluation:  </a:t>
            </a:r>
            <a:r>
              <a:rPr sz="1400" b="0">
                <a:solidFill>
                  <a:srgbClr val="373D42"/>
                </a:solidFill>
                <a:latin typeface="Segoe UI"/>
              </a:rPr>
              <a:t>assessment of whether the program changed the health outcomes and quality-of-life indicators identified in the diagnostic phases.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PATCH:  </a:t>
            </a:r>
            <a:r>
              <a:rPr sz="1400" b="0">
                <a:solidFill>
                  <a:srgbClr val="373D42"/>
                </a:solidFill>
                <a:latin typeface="Segoe UI"/>
              </a:rPr>
              <a:t>Planned Approach to Community Health, a CDC-developed simplified adaptation of PRECEDE-PROCEED for state and local health departments.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Before You Design Any Program:  </a:t>
            </a:r>
            <a:r>
              <a:rPr sz="1650" b="0">
                <a:solidFill>
                  <a:srgbClr val="373D42"/>
                </a:solidFill>
                <a:latin typeface="Segoe UI"/>
              </a:rPr>
              <a:t>complete the social and epidemiological assessment first. If you cannot get community-defined quality-of-life priorities, you are probably designing a program for yourself, not for the community.</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Phase 3 Is Not the Whole Model:  </a:t>
            </a:r>
            <a:r>
              <a:rPr sz="1650" b="0">
                <a:solidFill>
                  <a:srgbClr val="373D42"/>
                </a:solidFill>
                <a:latin typeface="Segoe UI"/>
              </a:rPr>
              <a:t>many practitioners who claim to "use PRECEDE-PROCEED" are only applying Phase 3. That is like using only the framing and skipping the foundation, walls, and roof of the architect's building.</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Build Evaluation In at the Start:  </a:t>
            </a:r>
            <a:r>
              <a:rPr sz="1650" b="0">
                <a:solidFill>
                  <a:srgbClr val="373D42"/>
                </a:solidFill>
                <a:latin typeface="Segoe UI"/>
              </a:rPr>
              <a:t>the three-level evaluation framework should be designed before the intervention is delivered, not added as a reporting requirement after. The factors you plan to change in Phase 3 should be the variables you measure in Phase 7's impact evaluation.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Know Your Limits:  </a:t>
            </a:r>
            <a:r>
              <a:rPr sz="1650" b="0">
                <a:solidFill>
                  <a:srgbClr val="373D42"/>
                </a:solidFill>
                <a:latin typeface="Segoe UI"/>
              </a:rPr>
              <a:t>if the diagnostic process reveals that the primary driver of the health problem is a structural factor the health department cannot address (income inequality, housing, racism), the practitioner has two choices: advocate for systemic change (which PRECEDE-PROCEED supports) or be honest about the ceiling on what a program-level intervention can accomplish.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to Carry Into the Break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5 is reading week. Use the time productively: begin your Needs Assessment for the Part 1 report.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Apply at least Phase 1 and Phase 2 of PRECEDE-PROCEED to your chosen community and health problem. What does quality of life mean to that community? What health data do you need to gather?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we return in Lecture 6, we shift from program planning frameworks to a temporal lens: the Life Course Approach asks not just what the determinants of a health problem are, but when in the human lifespan those determinants first exert their influence, and when intervention produces the greatest return.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cardiovascular disease risk at age 55 is partly determined by birth weight and early childhood nutrition, what are the implications for where health promotion resources should be directed?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Green, L.W., and Kreuter, M.W. (2005):  </a:t>
            </a:r>
            <a:r>
              <a:rPr sz="1600" b="0">
                <a:solidFill>
                  <a:srgbClr val="373D42"/>
                </a:solidFill>
                <a:latin typeface="Segoe UI"/>
              </a:rPr>
              <a:t>Health Program Planning: An Educational and Ecological Approach (4th ed.). McGraw-Hill. The definitive textbook statement of the model. Note: this is a book, not a journal article, and is the primary source for exam purposes.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Kim, J., Jang, J., Kim, B., and Lee, K.H. (2022):  </a:t>
            </a:r>
            <a:r>
              <a:rPr sz="1600" b="0">
                <a:solidFill>
                  <a:srgbClr val="373D42"/>
                </a:solidFill>
                <a:latin typeface="Segoe UI"/>
              </a:rPr>
              <a:t>Effect of the PRECEDE-PROCEED model on health programs: a systematic review and meta-analysis. Systematic Reviews, 11, 213. The most recent systematic synthesis of the model's effectiveness across diverse program contexts.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Crosby, R., and Noar, S.M. (2011):  </a:t>
            </a:r>
            <a:r>
              <a:rPr sz="1600" b="0">
                <a:solidFill>
                  <a:srgbClr val="373D42"/>
                </a:solidFill>
                <a:latin typeface="Segoe UI"/>
              </a:rPr>
              <a:t>What is a planning model? An introduction to PRECEDE-PROCEED. Journal of Public Health Dentistry, 71(Suppl 1), S7-S15. An accessible conceptual introduction to the model's planning logic, useful as a secondary reading before the textbook.</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Green, L.W. (1974):  </a:t>
            </a:r>
            <a:r>
              <a:rPr sz="1600" b="0">
                <a:solidFill>
                  <a:srgbClr val="373D42"/>
                </a:solidFill>
                <a:latin typeface="Segoe UI"/>
              </a:rPr>
              <a:t>Toward cost-benefit evaluations of health education: some concepts, methods, and examples. Health Education Monographs, 2(Suppl 2), 34-64. An early Green paper that foreshadows the diagnostic and evaluative logic of PRECEDE-PROCEED, historically important for understanding the model's intellectual development.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Saulle, R., Sinopoli, A., De Paula Baer, A.D.P., Mannocci, A., Marino, M., and De Belvis, A.G. (2020): The PRECEDE-PROCEED model as a tool in public health screening: a systematic review. Clinica Terapeutica, 171, e167-e177. Reviews the model's application specifically in screening and early detection contexts, usefully distinct from its more common application to behavioral health programs.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Bartholomew, L.K., Parcel, G.S., and Kok, G. (1998):  </a:t>
            </a:r>
            <a:r>
              <a:rPr sz="1450" b="0">
                <a:solidFill>
                  <a:srgbClr val="373D42"/>
                </a:solidFill>
                <a:latin typeface="Segoe UI"/>
              </a:rPr>
              <a:t>Intervention mapping: a process for developing theory- and evidence-based health education programs. Health Education and Behavior, 25(5), 545-563. Intervention mapping builds directly on PRECEDE-PROCEED and extends its planning logic into a more operationalized step-by-step process. Essential companion reading.</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Gielen, A.C., McDonald, E.M., Gary, T.L., and Bone, L.R. (2008): Using the PRECEDE-PROCEED model to apply health behavior theories. In Glanz, K., Rimer, B.K., and Viswanath, K. (Eds.), Health Behavior and Health Education (4th ed.), pp. 407-433. Jossey-Bass. The most practical account of how to integrate HBM and SEM constructs into a PRECEDE-PROCEED assessment. Note: book chapter.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Kreuter, M.W. (1992):  </a:t>
            </a:r>
            <a:r>
              <a:rPr sz="1450" b="0">
                <a:solidFill>
                  <a:srgbClr val="373D42"/>
                </a:solidFill>
                <a:latin typeface="Segoe UI"/>
              </a:rPr>
              <a:t>PATCH: its origin, basic concepts, and links to contemporary public health policy. Journal of Health Education, 23(3), 135-139. The primary description of how PRECEDE-PROCEED was adapted into the CDC PATCH model for real-world community health department use.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Teen Vaping: A PRECEDE-PROCEED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Scenario:  </a:t>
            </a:r>
            <a:r>
              <a:rPr sz="1450" b="0">
                <a:solidFill>
                  <a:srgbClr val="373D42"/>
                </a:solidFill>
                <a:latin typeface="Segoe UI"/>
              </a:rPr>
              <a:t>A rural county health department has received a two-year grant to address rising teen vaping rates. Current data show that 28% of Grade 9-11 students report vaping at least once in the past 30 days, compared to a provincial rate of 16%. The health department has two program staff, a relationship with the local school board, and no existing youth health program infrastructure.</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Your Task, Draft Phases 1-3 of a PRECEDE Assessment: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1, Social Assessment:  </a:t>
            </a:r>
            <a:r>
              <a:rPr sz="1450" b="0">
                <a:solidFill>
                  <a:srgbClr val="373D42"/>
                </a:solidFill>
                <a:latin typeface="Segoe UI"/>
              </a:rPr>
              <a:t>what quality-of-life goals would you expect the community (youth, parents, teachers, school administrators) to articulate? How would you find out? What assumptions are you at risk of making?</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2, Epidemiological Assessment:  </a:t>
            </a:r>
            <a:r>
              <a:rPr sz="1450" b="0">
                <a:solidFill>
                  <a:srgbClr val="373D42"/>
                </a:solidFill>
                <a:latin typeface="Segoe UI"/>
              </a:rPr>
              <a:t>what specific health outcomes would you want to link to teen vaping in this county? What data would you need, and where would you get it?</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Phase 3, Educational and Ecological Assessment:  </a:t>
            </a:r>
            <a:r>
              <a:rPr sz="1450" b="0">
                <a:solidFill>
                  <a:srgbClr val="373D42"/>
                </a:solidFill>
                <a:latin typeface="Segoe UI"/>
              </a:rPr>
              <a:t>identify at least two predisposing factors, two enabling factors, and two reinforcing factors likely to be driving vaping behavior in this population. For each factor, name whether it is a behavioral determinant or an environmental one.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Bonus:  </a:t>
            </a:r>
            <a:r>
              <a:rPr sz="1450" b="0">
                <a:solidFill>
                  <a:srgbClr val="373D42"/>
                </a:solidFill>
                <a:latin typeface="Segoe UI"/>
              </a:rPr>
              <a:t>given what the Phase 4 administrative assessment reveals (two staff, twelve-month first year), which factor type (predisposing, enabling, or reinforcing) is the most realistic first target, and what does that choice sacrifice?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After the Break: Health Across a Lifetime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5 is reading week. No class. Use it to begin your Needs Assessment.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we return, Lecture 6 introduces the Life Course Approach to health promotion: the argument that the most important influences on adult health were often set in motion decades before any adult health promotion program could reach them.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critical periods model, the accumulation of risk model, and David Barker's developmental origins hypothesis will all ask a challenging question: if adult cardiovascular disease risk is partly set in utero, what are the implications for where health promotion resources should go?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a:t>
            </a:r>
            <a:r>
              <a:rPr sz="1800" b="0">
                <a:solidFill>
                  <a:srgbClr val="373D42"/>
                </a:solidFill>
                <a:latin typeface="Segoe UI"/>
              </a:rPr>
              <a:t>the most cost-effective moment to intervene may have already passed by the time the patient is sitting in front of you. What do you do with that?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Design for the Outcome, Not for the Intervention</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most common mistake in health program planning is beginning with an answer and working backward to justify it. PRECEDE-PROCEED demands the opposite."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During reading week:  </a:t>
            </a:r>
            <a:r>
              <a:rPr sz="1800" b="0">
                <a:solidFill>
                  <a:srgbClr val="373D42"/>
                </a:solidFill>
                <a:latin typeface="Segoe UI"/>
              </a:rPr>
              <a:t>begin Phase 1 of your Needs Assessment. Draft your community's quality-of-life statement. Come to Lecture 6 with at least one piece of local epidemiological data about your chosen health problem.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PRECEDE-PROCEED Model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